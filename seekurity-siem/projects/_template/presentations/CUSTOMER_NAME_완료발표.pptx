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Segoe UI"/>
              </a:rPr>
              <a:t>SIEM Implementation</a:t>
            </a:r>
          </a:p>
          <a:p>
            <a:pPr algn="ctr">
              <a:spcBef>
                <a:spcPts val="1200"/>
              </a:spcBef>
            </a:pPr>
            <a:r>
              <a:rPr sz="2800">
                <a:solidFill>
                  <a:srgbClr val="FFFFFF"/>
                </a:solidFill>
                <a:latin typeface="Segoe UI"/>
              </a:rPr>
              <a:t>Project Completion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[CUSTOMER_NAME]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Segoe UI"/>
              </a:rPr>
              <a:t>Prepared by Seekurity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FFFFFF"/>
                </a:solidFill>
                <a:latin typeface="Segoe UI"/>
              </a:rP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Topic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Executive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Project Achievements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15 min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Technical Delivery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20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Metrics &amp; Performance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10 min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Lessons Learned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Support &amp; Maintenance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10 min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Recommendations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Sign-off &amp; Closure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5 min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F62FE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161616"/>
                </a:solidFill>
                <a:latin typeface="Segoe UI"/>
              </a:rP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Key Outcomes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525252"/>
                </a:solidFill>
                <a:latin typeface="Segoe UI"/>
              </a:rPr>
              <a:t>Project Status: COMPLETED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7d2o27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187036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4114800"/>
          <a:ext cx="10789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Achieved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Log Sources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Use Cases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 sessions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 sessions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On-Time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[DATE]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[DATE]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On Schedule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Value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vtqox4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5029200" cy="3017520"/>
          </a:xfrm>
          <a:prstGeom prst="rect">
            <a:avLst/>
          </a:prstGeom>
        </p:spPr>
      </p:pic>
      <p:pic>
        <p:nvPicPr>
          <p:cNvPr id="5" name="Picture 4" descr="tmp6lw_y8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029200" cy="312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62FE"/>
                </a:solidFill>
                <a:latin typeface="Segoe UI"/>
              </a:rPr>
              <a:t>Executive Dashboard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525252"/>
                </a:solidFill>
                <a:latin typeface="Segoe UI"/>
              </a:rPr>
              <a:t>Project completion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" cy="3200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743200" cy="1097280"/>
          </a:xfrm>
          <a:prstGeom prst="roundRect">
            <a:avLst/>
          </a:prstGeom>
          <a:solidFill>
            <a:srgbClr val="19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Segoe UI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Scope Delivered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743200" cy="1097280"/>
          </a:xfrm>
          <a:prstGeom prst="round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258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Segoe UI"/>
              </a:rPr>
              <a:t>24/24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Log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2743200" cy="1097280"/>
          </a:xfrm>
          <a:prstGeom prst="roundRect">
            <a:avLst/>
          </a:prstGeom>
          <a:solidFill>
            <a:srgbClr val="035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Segoe UI"/>
              </a:rPr>
              <a:t>156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Detection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188720"/>
            <a:ext cx="2560320" cy="1097280"/>
          </a:xfrm>
          <a:prstGeom prst="roundRect">
            <a:avLst/>
          </a:prstGeom>
          <a:solidFill>
            <a:srgbClr val="19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325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Open Issues</a:t>
            </a:r>
          </a:p>
        </p:txBody>
      </p:sp>
      <p:pic>
        <p:nvPicPr>
          <p:cNvPr id="16" name="Picture 15" descr="tmpc1vrzs8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1828800" cy="1828800"/>
          </a:xfrm>
          <a:prstGeom prst="rect">
            <a:avLst/>
          </a:prstGeom>
        </p:spPr>
      </p:pic>
      <p:pic>
        <p:nvPicPr>
          <p:cNvPr id="17" name="Picture 16" descr="tmpvza6i3y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560320"/>
            <a:ext cx="1828800" cy="1828800"/>
          </a:xfrm>
          <a:prstGeom prst="rect">
            <a:avLst/>
          </a:prstGeom>
        </p:spPr>
      </p:pic>
      <p:pic>
        <p:nvPicPr>
          <p:cNvPr id="18" name="Picture 17" descr="tmpu8j6v4_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560320"/>
            <a:ext cx="1828800" cy="1828800"/>
          </a:xfrm>
          <a:prstGeom prst="rect">
            <a:avLst/>
          </a:prstGeom>
        </p:spPr>
      </p:pic>
      <p:pic>
        <p:nvPicPr>
          <p:cNvPr id="19" name="Picture 18" descr="tmpdvuqv8h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468880"/>
            <a:ext cx="4754880" cy="2218944"/>
          </a:xfrm>
          <a:prstGeom prst="rect">
            <a:avLst/>
          </a:prstGeom>
        </p:spPr>
      </p:pic>
      <p:pic>
        <p:nvPicPr>
          <p:cNvPr id="20" name="Picture 19" descr="tmpkzzvohn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754880"/>
            <a:ext cx="11247120" cy="10224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F62FE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161616"/>
                </a:solidFill>
                <a:latin typeface="Segoe UI"/>
              </a:rPr>
              <a:t>Project Achievements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62FE"/>
                </a:solidFill>
                <a:latin typeface="Segoe UI"/>
              </a:rPr>
              <a:t>Implementation Phases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525252"/>
                </a:solidFill>
                <a:latin typeface="Segoe UI"/>
              </a:rPr>
              <a:t>What we delivered in each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" cy="3200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11880" cy="5394960"/>
          </a:xfrm>
          <a:prstGeom prst="rect">
            <a:avLst/>
          </a:prstGeom>
          <a:solidFill>
            <a:srgbClr val="F8F8F8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06240" y="1188720"/>
            <a:ext cx="3611880" cy="5394960"/>
          </a:xfrm>
          <a:prstGeom prst="rect">
            <a:avLst/>
          </a:prstGeom>
          <a:solidFill>
            <a:srgbClr val="F8F8F8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1188720"/>
            <a:ext cx="3611880" cy="5394960"/>
          </a:xfrm>
          <a:prstGeom prst="rect">
            <a:avLst/>
          </a:prstGeom>
          <a:solidFill>
            <a:srgbClr val="F8F8F8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97379" y="1508760"/>
            <a:ext cx="640080" cy="640080"/>
          </a:xfrm>
          <a:prstGeom prst="ellipse">
            <a:avLst/>
          </a:prstGeom>
          <a:solidFill>
            <a:srgbClr val="19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7379" y="162763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61616"/>
                </a:solidFill>
                <a:latin typeface="Segoe UI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98038"/>
                </a:solidFill>
                <a:latin typeface="Segoe UI"/>
              </a:rPr>
              <a:t>Completed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80360"/>
            <a:ext cx="288036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Infrastructure deployed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Platform installed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Network configured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Security hardened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Backup configured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46420" y="1508760"/>
            <a:ext cx="640080" cy="640080"/>
          </a:xfrm>
          <a:prstGeom prst="ellipse">
            <a:avLst/>
          </a:prstGeom>
          <a:solidFill>
            <a:srgbClr val="19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6420" y="162763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24028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61616"/>
                </a:solidFill>
                <a:latin typeface="Segoe UI"/>
              </a:rPr>
              <a:t>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56032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98038"/>
                </a:solidFill>
                <a:latin typeface="Segoe UI"/>
              </a:rPr>
              <a:t>Completed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2880360"/>
            <a:ext cx="288036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97180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24 log sources connected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Parsers configured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Data normalization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Quality validation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Performance tuning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1371600"/>
            <a:ext cx="3429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95460" y="1508760"/>
            <a:ext cx="640080" cy="640080"/>
          </a:xfrm>
          <a:prstGeom prst="ellipse">
            <a:avLst/>
          </a:prstGeom>
          <a:solidFill>
            <a:srgbClr val="19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5460" y="162763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24028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61616"/>
                </a:solidFill>
                <a:latin typeface="Segoe UI"/>
              </a:rPr>
              <a:t>Operationalize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560320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98038"/>
                </a:solidFill>
                <a:latin typeface="Segoe UI"/>
              </a:rPr>
              <a:t>Completed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2880360"/>
            <a:ext cx="288036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97180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156 detection rules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12 dashboards built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SOC playbooks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Team training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525252"/>
                </a:solidFill>
                <a:latin typeface="Segoe UI"/>
              </a:rPr>
              <a:t>•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Milestone Completion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z9yuk3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2286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3840480"/>
          <a:ext cx="107899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Actual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Infrastructure 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[DATE]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[DATE]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Platform Deployed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[DATE]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[DATE]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Sources Integrated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[DATE]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[DATE]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Use Cases Deployed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[DATE]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[DATE]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M5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Go-Live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[DATE]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[DATE]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F62FE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161616"/>
                </a:solidFill>
                <a:latin typeface="Segoe UI"/>
              </a:rPr>
              <a:t>Technical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Architecture Deployed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525252"/>
                </a:solidFill>
                <a:latin typeface="Segoe UI"/>
              </a:rPr>
              <a:t>Editable diagram - click text to customize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0easa42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9876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3578" y="1423554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25252"/>
                </a:solidFill>
                <a:latin typeface="Segoe UI"/>
              </a:rPr>
              <a:t>PRESENTATION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3578" y="2670463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25252"/>
                </a:solidFill>
                <a:latin typeface="Segoe UI"/>
              </a:rPr>
              <a:t>PROCESSING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578" y="391737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25252"/>
                </a:solidFill>
                <a:latin typeface="Segoe UI"/>
              </a:rPr>
              <a:t>COLLECTION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578" y="5164281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25252"/>
                </a:solidFill>
                <a:latin typeface="Segoe UI"/>
              </a:rP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032" y="1839190"/>
            <a:ext cx="166254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Dashboards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0E0E0"/>
                </a:solidFill>
                <a:latin typeface="Segoe UI"/>
              </a:rPr>
              <a:t>Real-time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1305" y="1839190"/>
            <a:ext cx="166254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Alerts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0E0E0"/>
                </a:solidFill>
                <a:latin typeface="Segoe UI"/>
              </a:rPr>
              <a:t>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5578" y="1839190"/>
            <a:ext cx="166254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Reports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0E0E0"/>
                </a:solidFill>
                <a:latin typeface="Segoe UI"/>
              </a:rPr>
              <a:t>Scheduled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9850" y="1839190"/>
            <a:ext cx="166254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Investigation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0E0E0"/>
                </a:solidFill>
                <a:latin typeface="Segoe UI"/>
              </a:rPr>
              <a:t>Ad-hoc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4850" y="3086100"/>
            <a:ext cx="2078181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Indexer Cluster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0E0E0"/>
                </a:solidFill>
                <a:latin typeface="Segoe UI"/>
              </a:rPr>
              <a:t>Index &amp; Store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2578" y="3086100"/>
            <a:ext cx="2078181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Correlation Engine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0E0E0"/>
                </a:solidFill>
                <a:latin typeface="Segoe UI"/>
              </a:rPr>
              <a:t>Rules &amp;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305" y="3086100"/>
            <a:ext cx="2078181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Search Cluster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0E0E0"/>
                </a:solidFill>
                <a:latin typeface="Segoe UI"/>
              </a:rPr>
              <a:t>Distributed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0487" y="4333009"/>
            <a:ext cx="1870363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Log Collectors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0E0E0"/>
                </a:solidFill>
                <a:latin typeface="Segoe UI"/>
              </a:rPr>
              <a:t>Syslog / Agent /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6487" y="4333009"/>
            <a:ext cx="1870363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Heavy Forwarders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0E0E0"/>
                </a:solidFill>
                <a:latin typeface="Segoe UI"/>
              </a:rPr>
              <a:t>Parse &amp; 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2487" y="4333009"/>
            <a:ext cx="1870363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  <a:latin typeface="Segoe UI"/>
              </a:rPr>
              <a:t>Load Balancer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E0E0E0"/>
                </a:solidFill>
                <a:latin typeface="Segoe UI"/>
              </a:rPr>
              <a:t>HA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305" y="5631872"/>
            <a:ext cx="1039090" cy="51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Firewall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E0E0E0"/>
                </a:solidFill>
                <a:latin typeface="Segoe UI"/>
              </a:rPr>
              <a:t>Palo Alto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2214" y="5631872"/>
            <a:ext cx="1039090" cy="51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EDR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E0E0E0"/>
                </a:solidFill>
                <a:latin typeface="Segoe UI"/>
              </a:rPr>
              <a:t>CrowdStrike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9123" y="5631872"/>
            <a:ext cx="1039090" cy="51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Identity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E0E0E0"/>
                </a:solidFill>
                <a:latin typeface="Segoe UI"/>
              </a:rPr>
              <a:t>Azure 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032" y="5631872"/>
            <a:ext cx="1039090" cy="51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Cloud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E0E0E0"/>
                </a:solidFill>
                <a:latin typeface="Segoe UI"/>
              </a:rPr>
              <a:t>AWS/Azure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2941" y="5631872"/>
            <a:ext cx="1039090" cy="51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Email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E0E0E0"/>
                </a:solidFill>
                <a:latin typeface="Segoe UI"/>
              </a:rPr>
              <a:t>O365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9850" y="5631872"/>
            <a:ext cx="1039090" cy="51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Apps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E0E0E0"/>
                </a:solidFill>
                <a:latin typeface="Segoe UI"/>
              </a:rPr>
              <a:t>Custom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631872"/>
            <a:ext cx="831272" cy="51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sz="1100" b="1">
                <a:solidFill>
                  <a:srgbClr val="525252"/>
                </a:solidFill>
                <a:latin typeface="Segoe UI"/>
              </a:rPr>
              <a:t>+ More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7123" y="3241963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25252"/>
                </a:solidFill>
                <a:latin typeface="Segoe UI"/>
              </a:rPr>
              <a:t>Data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7123" y="4281054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25252"/>
                </a:solidFill>
                <a:latin typeface="Segoe UI"/>
              </a:rPr>
              <a:t>[X] EPS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Data Pipeline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5nlno4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35329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Log Source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d8ew2h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200400" cy="47472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0" y="1463040"/>
          <a:ext cx="7589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Planned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Integrated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EPS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Network 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Endpoint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Identity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Applications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F62FE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161616"/>
                </a:solidFill>
                <a:latin typeface="Segoe UI"/>
              </a:rPr>
              <a:t>Metrics &amp;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Platform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dnpsqw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18703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Detection Effectiveness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edm_wa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2286000" cy="2743200"/>
          </a:xfrm>
          <a:prstGeom prst="rect">
            <a:avLst/>
          </a:prstGeom>
        </p:spPr>
      </p:pic>
      <p:pic>
        <p:nvPicPr>
          <p:cNvPr id="5" name="Picture 4" descr="tmpda3oaa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2286000" cy="2743200"/>
          </a:xfrm>
          <a:prstGeom prst="rect">
            <a:avLst/>
          </a:prstGeom>
        </p:spPr>
      </p:pic>
      <p:pic>
        <p:nvPicPr>
          <p:cNvPr id="6" name="Picture 5" descr="tmp2zdnhyf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828800"/>
            <a:ext cx="2286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hyrutw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F62FE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161616"/>
                </a:solidFill>
                <a:latin typeface="Segoe UI"/>
              </a:rPr>
              <a:t>Lessons Learned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F0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28600"/>
            <a:ext cx="114300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61616"/>
                </a:solidFill>
                <a:latin typeface="Segoe UI"/>
              </a:rPr>
              <a:t>⌂ 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61616"/>
                </a:solidFill>
                <a:latin typeface="Segoe UI"/>
              </a:rPr>
              <a:t>PROJECT RETROSPECTIVE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62FE"/>
                </a:solidFill>
                <a:latin typeface="Segoe UI"/>
              </a:rPr>
              <a:t>A SUCCESSFUL SIEM IMPLEMENTATION REQUIRES STRONG COLLABORATION BETWEEN SECURITY, IT, AND BUSINESS TEAMS. CLEAR COMMUNICATION AND EARLY STAKEHOLDER ENGAGEMENT ARE CRITICAL SUCCESS FACTORS.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61616"/>
                </a:solidFill>
                <a:latin typeface="Segoe UI"/>
              </a:rPr>
              <a:t>Key Takeaways for
Future 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1148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61616"/>
                </a:solidFill>
                <a:latin typeface="Segoe UI"/>
              </a:rPr>
              <a:t>• Start credential provisioning early in the project lifecycle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61616"/>
                </a:solidFill>
                <a:latin typeface="Segoe UI"/>
              </a:rPr>
              <a:t>• Regular status meetings maintain alignment across teams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61616"/>
                </a:solidFill>
                <a:latin typeface="Segoe UI"/>
              </a:rPr>
              <a:t>• Pre-validation checklists reduce integration issues by 60%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61616"/>
                </a:solidFill>
                <a:latin typeface="Segoe UI"/>
              </a:rPr>
              <a:t>• Buffer time in UAT schedule prevents last-minute pressure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61616"/>
                </a:solidFill>
                <a:latin typeface="Segoe UI"/>
              </a:rPr>
              <a:t>• Recording training sessions enables on-demand learning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61616"/>
                </a:solidFill>
                <a:latin typeface="Segoe UI"/>
              </a:rPr>
              <a:t>• Detailed change requests accelerate approval processes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What Went Well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Observation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Planning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Thorough scoping minimized scope creep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Communication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Regular status meetings kept all parties aligned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Technical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Pre-validation checklist reduced integration issues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Collaboration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Strong customer engagement accelerated decisions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Iterative testing caught issues early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Areas for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Observation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Recommendation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Credential provisioning delays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Earlier IAM engagement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Testing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UAT window was tight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Allocate buffer for UAT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Some missed sessions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Record for on-demand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Change Control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Some requests lacked detail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Improve CR template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F62FE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161616"/>
                </a:solidFill>
                <a:latin typeface="Segoe UI"/>
              </a:rPr>
              <a:t>Support &amp; Maintenance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Support Escalation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mujrg2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502920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Support SLAs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Severity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Response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Resolution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P1 -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Platform 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 hour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4 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P2 - High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Major feature impacted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4 hours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8 hours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P3 - 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Minor feature impacted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8 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24 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P4 - Low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General questions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24 hours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72 hours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F62FE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161616"/>
                </a:solidFill>
                <a:latin typeface="Segoe UI"/>
              </a:rPr>
              <a:t>Recommendations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Roadmap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ei2_pd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187036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3840480"/>
          <a:ext cx="107899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Recommendation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Timeframe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Complete use case tuning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30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Implement SOAR automation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Q1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Expand log source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Deploy behavior analytics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Establish threat hunting program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Q4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F62FE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161616"/>
                </a:solidFill>
                <a:latin typeface="Segoe UI"/>
              </a:rPr>
              <a:t>Sign-off &amp; Closure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62FE"/>
                </a:solidFill>
                <a:latin typeface="Segoe UI"/>
              </a:rPr>
              <a:t>Acceptance Criteria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Criteria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Actual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6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Log sources integrated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Parse success rate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&gt;95%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[X]%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Use cases deployed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False positive rate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&lt;20%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[X]%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Platform uptime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&gt;99.5%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Training completed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 staff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 staff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Documentation delivered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 docs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[X] docs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1616"/>
                          </a:solidFill>
                          <a:latin typeface="Segoe U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pPr algn="ctr">
              <a:spcBef>
                <a:spcPts val="2400"/>
              </a:spcBef>
            </a:pPr>
            <a:r>
              <a:rPr sz="2800" b="1">
                <a:solidFill>
                  <a:srgbClr val="FFFFFF"/>
                </a:solidFill>
                <a:latin typeface="Segoe UI"/>
              </a:rPr>
              <a:t>Seekurity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  <a:latin typeface="Segoe UI"/>
              </a:rPr>
              <a:t>Enterprise Security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Segoe UI"/>
              </a:rPr>
              <a:t>contact@seekurity.com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Segoe UI"/>
              </a:rPr>
              <a:t>+1 (555) 123-4567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Segoe UI"/>
              </a:rPr>
              <a:t>www.seekurity.com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