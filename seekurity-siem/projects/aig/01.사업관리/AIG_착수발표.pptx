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011680"/>
            <a:ext cx="10789920" cy="914400"/>
          </a:xfrm>
          <a:prstGeom prst="rect">
            <a:avLst/>
          </a:prstGeom>
          <a:noFill/>
        </p:spPr>
        <p:txBody>
          <a:bodyPr wrap="none">
            <a:spAutoFit/>
          </a:bodyPr>
          <a:lstStyle/>
          <a:p>
            <a:pPr algn="ctr"/>
            <a:r>
              <a:rPr sz="4800" b="1">
                <a:solidFill>
                  <a:srgbClr val="FFFFFF"/>
                </a:solidFill>
                <a:latin typeface="Segoe UI"/>
              </a:rPr>
              <a:t>SIEM Implementation</a:t>
            </a:r>
          </a:p>
          <a:p>
            <a:pPr algn="ctr">
              <a:spcBef>
                <a:spcPts val="1200"/>
              </a:spcBef>
            </a:pPr>
            <a:r>
              <a:rPr sz="2800">
                <a:solidFill>
                  <a:srgbClr val="FFFFFF"/>
                </a:solidFill>
                <a:latin typeface="Segoe UI"/>
              </a:rPr>
              <a:t>Project Kickoff</a:t>
            </a:r>
          </a:p>
        </p:txBody>
      </p:sp>
      <p:sp>
        <p:nvSpPr>
          <p:cNvPr id="4" name="TextBox 3"/>
          <p:cNvSpPr txBox="1"/>
          <p:nvPr/>
        </p:nvSpPr>
        <p:spPr>
          <a:xfrm>
            <a:off x="685800" y="3840480"/>
            <a:ext cx="10789920" cy="548640"/>
          </a:xfrm>
          <a:prstGeom prst="rect">
            <a:avLst/>
          </a:prstGeom>
          <a:noFill/>
        </p:spPr>
        <p:txBody>
          <a:bodyPr wrap="none">
            <a:spAutoFit/>
          </a:bodyPr>
          <a:lstStyle/>
          <a:p>
            <a:pPr algn="ctr"/>
            <a:r>
              <a:rPr sz="2400" b="1">
                <a:solidFill>
                  <a:srgbClr val="FFFFFF"/>
                </a:solidFill>
                <a:latin typeface="Segoe UI"/>
              </a:rPr>
              <a:t>[CUSTOMER_NAME]</a:t>
            </a:r>
          </a:p>
        </p:txBody>
      </p:sp>
      <p:sp>
        <p:nvSpPr>
          <p:cNvPr id="5" name="TextBox 4"/>
          <p:cNvSpPr txBox="1"/>
          <p:nvPr/>
        </p:nvSpPr>
        <p:spPr>
          <a:xfrm>
            <a:off x="685800" y="5029200"/>
            <a:ext cx="10789920" cy="731520"/>
          </a:xfrm>
          <a:prstGeom prst="rect">
            <a:avLst/>
          </a:prstGeom>
          <a:noFill/>
        </p:spPr>
        <p:txBody>
          <a:bodyPr wrap="none">
            <a:spAutoFit/>
          </a:bodyPr>
          <a:lstStyle/>
          <a:p>
            <a:pPr algn="ctr"/>
            <a:r>
              <a:rPr sz="1600">
                <a:solidFill>
                  <a:srgbClr val="FFFFFF"/>
                </a:solidFill>
                <a:latin typeface="Segoe UI"/>
              </a:rPr>
              <a:t>Prepared by Seekurity</a:t>
            </a:r>
          </a:p>
          <a:p>
            <a:pPr algn="ctr">
              <a:spcBef>
                <a:spcPts val="600"/>
              </a:spcBef>
            </a:pPr>
            <a:r>
              <a:rPr sz="1400">
                <a:solidFill>
                  <a:srgbClr val="FFFFFF"/>
                </a:solidFill>
                <a:latin typeface="Segoe UI"/>
              </a:rPr>
              <a:t>[DATE]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Agenda</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85800" y="1463040"/>
          <a:ext cx="10789920" cy="3703320"/>
        </p:xfrm>
        <a:graphic>
          <a:graphicData uri="http://schemas.openxmlformats.org/drawingml/2006/table">
            <a:tbl>
              <a:tblPr firstRow="1" bandRow="1">
                <a:tableStyleId>{5C22544A-7EE6-4342-B048-85BDC9FD1C3A}</a:tableStyleId>
              </a:tblPr>
              <a:tblGrid>
                <a:gridCol w="3596640"/>
                <a:gridCol w="3596640"/>
                <a:gridCol w="3596640"/>
              </a:tblGrid>
              <a:tr h="411480">
                <a:tc>
                  <a:txBody>
                    <a:bodyPr/>
                    <a:lstStyle/>
                    <a:p>
                      <a:pPr>
                        <a:defRPr sz="1200" b="1">
                          <a:solidFill>
                            <a:srgbClr val="FFFFFF"/>
                          </a:solidFill>
                          <a:latin typeface="Segoe UI"/>
                        </a:defRPr>
                      </a:pPr>
                      <a:r>
                        <a:t>#</a:t>
                      </a:r>
                    </a:p>
                  </a:txBody>
                  <a:tcPr anchor="ctr">
                    <a:solidFill>
                      <a:srgbClr val="0F62FE"/>
                    </a:solidFill>
                  </a:tcPr>
                </a:tc>
                <a:tc>
                  <a:txBody>
                    <a:bodyPr/>
                    <a:lstStyle/>
                    <a:p>
                      <a:pPr>
                        <a:defRPr sz="1200" b="1">
                          <a:solidFill>
                            <a:srgbClr val="FFFFFF"/>
                          </a:solidFill>
                          <a:latin typeface="Segoe UI"/>
                        </a:defRPr>
                      </a:pPr>
                      <a:r>
                        <a:t>Topic</a:t>
                      </a:r>
                    </a:p>
                  </a:txBody>
                  <a:tcPr anchor="ctr">
                    <a:solidFill>
                      <a:srgbClr val="0F62FE"/>
                    </a:solidFill>
                  </a:tcPr>
                </a:tc>
                <a:tc>
                  <a:txBody>
                    <a:bodyPr/>
                    <a:lstStyle/>
                    <a:p>
                      <a:pPr>
                        <a:defRPr sz="1200" b="1">
                          <a:solidFill>
                            <a:srgbClr val="FFFFFF"/>
                          </a:solidFill>
                          <a:latin typeface="Segoe UI"/>
                        </a:defRPr>
                      </a:pPr>
                      <a:r>
                        <a:t>Duration</a:t>
                      </a:r>
                    </a:p>
                  </a:txBody>
                  <a:tcPr anchor="ctr">
                    <a:solidFill>
                      <a:srgbClr val="0F62FE"/>
                    </a:solidFill>
                  </a:tcPr>
                </a:tc>
              </a:tr>
              <a:tr h="411480">
                <a:tc>
                  <a:txBody>
                    <a:bodyPr/>
                    <a:lstStyle/>
                    <a:p>
                      <a:pPr>
                        <a:defRPr sz="1200">
                          <a:solidFill>
                            <a:srgbClr val="161616"/>
                          </a:solidFill>
                          <a:latin typeface="Segoe UI"/>
                        </a:defRPr>
                      </a:pPr>
                      <a:r>
                        <a:t>1</a:t>
                      </a:r>
                    </a:p>
                  </a:txBody>
                  <a:tcPr anchor="ctr">
                    <a:solidFill>
                      <a:srgbClr val="FFFFFF"/>
                    </a:solidFill>
                  </a:tcPr>
                </a:tc>
                <a:tc>
                  <a:txBody>
                    <a:bodyPr/>
                    <a:lstStyle/>
                    <a:p>
                      <a:pPr>
                        <a:defRPr sz="1200">
                          <a:solidFill>
                            <a:srgbClr val="161616"/>
                          </a:solidFill>
                          <a:latin typeface="Segoe UI"/>
                        </a:defRPr>
                      </a:pPr>
                      <a:r>
                        <a:t>Introduction &amp; Objectives</a:t>
                      </a:r>
                    </a:p>
                  </a:txBody>
                  <a:tcPr anchor="ctr">
                    <a:solidFill>
                      <a:srgbClr val="FFFFFF"/>
                    </a:solidFill>
                  </a:tcPr>
                </a:tc>
                <a:tc>
                  <a:txBody>
                    <a:bodyPr/>
                    <a:lstStyle/>
                    <a:p>
                      <a:pPr>
                        <a:defRPr sz="1200">
                          <a:solidFill>
                            <a:srgbClr val="161616"/>
                          </a:solidFill>
                          <a:latin typeface="Segoe UI"/>
                        </a:defRPr>
                      </a:pPr>
                      <a:r>
                        <a:t>10 min</a:t>
                      </a:r>
                    </a:p>
                  </a:txBody>
                  <a:tcPr anchor="ctr">
                    <a:solidFill>
                      <a:srgbClr val="FFFFFF"/>
                    </a:solidFill>
                  </a:tcPr>
                </a:tc>
              </a:tr>
              <a:tr h="411480">
                <a:tc>
                  <a:txBody>
                    <a:bodyPr/>
                    <a:lstStyle/>
                    <a:p>
                      <a:pPr>
                        <a:defRPr sz="1200">
                          <a:solidFill>
                            <a:srgbClr val="161616"/>
                          </a:solidFill>
                          <a:latin typeface="Segoe UI"/>
                        </a:defRPr>
                      </a:pPr>
                      <a:r>
                        <a:t>2</a:t>
                      </a:r>
                    </a:p>
                  </a:txBody>
                  <a:tcPr anchor="ctr">
                    <a:solidFill>
                      <a:srgbClr val="E8E8E8"/>
                    </a:solidFill>
                  </a:tcPr>
                </a:tc>
                <a:tc>
                  <a:txBody>
                    <a:bodyPr/>
                    <a:lstStyle/>
                    <a:p>
                      <a:pPr>
                        <a:defRPr sz="1200">
                          <a:solidFill>
                            <a:srgbClr val="161616"/>
                          </a:solidFill>
                          <a:latin typeface="Segoe UI"/>
                        </a:defRPr>
                      </a:pPr>
                      <a:r>
                        <a:t>Project Scope &amp; Deliverables</a:t>
                      </a:r>
                    </a:p>
                  </a:txBody>
                  <a:tcPr anchor="ctr">
                    <a:solidFill>
                      <a:srgbClr val="E8E8E8"/>
                    </a:solidFill>
                  </a:tcPr>
                </a:tc>
                <a:tc>
                  <a:txBody>
                    <a:bodyPr/>
                    <a:lstStyle/>
                    <a:p>
                      <a:pPr>
                        <a:defRPr sz="1200">
                          <a:solidFill>
                            <a:srgbClr val="161616"/>
                          </a:solidFill>
                          <a:latin typeface="Segoe UI"/>
                        </a:defRPr>
                      </a:pPr>
                      <a:r>
                        <a:t>15 min</a:t>
                      </a:r>
                    </a:p>
                  </a:txBody>
                  <a:tcPr anchor="ctr">
                    <a:solidFill>
                      <a:srgbClr val="E8E8E8"/>
                    </a:solidFill>
                  </a:tcPr>
                </a:tc>
              </a:tr>
              <a:tr h="411480">
                <a:tc>
                  <a:txBody>
                    <a:bodyPr/>
                    <a:lstStyle/>
                    <a:p>
                      <a:pPr>
                        <a:defRPr sz="1200">
                          <a:solidFill>
                            <a:srgbClr val="161616"/>
                          </a:solidFill>
                          <a:latin typeface="Segoe UI"/>
                        </a:defRPr>
                      </a:pPr>
                      <a:r>
                        <a:t>3</a:t>
                      </a:r>
                    </a:p>
                  </a:txBody>
                  <a:tcPr anchor="ctr">
                    <a:solidFill>
                      <a:srgbClr val="FFFFFF"/>
                    </a:solidFill>
                  </a:tcPr>
                </a:tc>
                <a:tc>
                  <a:txBody>
                    <a:bodyPr/>
                    <a:lstStyle/>
                    <a:p>
                      <a:pPr>
                        <a:defRPr sz="1200">
                          <a:solidFill>
                            <a:srgbClr val="161616"/>
                          </a:solidFill>
                          <a:latin typeface="Segoe UI"/>
                        </a:defRPr>
                      </a:pPr>
                      <a:r>
                        <a:t>Technical Architecture</a:t>
                      </a:r>
                    </a:p>
                  </a:txBody>
                  <a:tcPr anchor="ctr">
                    <a:solidFill>
                      <a:srgbClr val="FFFFFF"/>
                    </a:solidFill>
                  </a:tcPr>
                </a:tc>
                <a:tc>
                  <a:txBody>
                    <a:bodyPr/>
                    <a:lstStyle/>
                    <a:p>
                      <a:pPr>
                        <a:defRPr sz="1200">
                          <a:solidFill>
                            <a:srgbClr val="161616"/>
                          </a:solidFill>
                          <a:latin typeface="Segoe UI"/>
                        </a:defRPr>
                      </a:pPr>
                      <a:r>
                        <a:t>20 min</a:t>
                      </a:r>
                    </a:p>
                  </a:txBody>
                  <a:tcPr anchor="ctr">
                    <a:solidFill>
                      <a:srgbClr val="FFFFFF"/>
                    </a:solidFill>
                  </a:tcPr>
                </a:tc>
              </a:tr>
              <a:tr h="411480">
                <a:tc>
                  <a:txBody>
                    <a:bodyPr/>
                    <a:lstStyle/>
                    <a:p>
                      <a:pPr>
                        <a:defRPr sz="1200">
                          <a:solidFill>
                            <a:srgbClr val="161616"/>
                          </a:solidFill>
                          <a:latin typeface="Segoe UI"/>
                        </a:defRPr>
                      </a:pPr>
                      <a:r>
                        <a:t>4</a:t>
                      </a:r>
                    </a:p>
                  </a:txBody>
                  <a:tcPr anchor="ctr">
                    <a:solidFill>
                      <a:srgbClr val="E8E8E8"/>
                    </a:solidFill>
                  </a:tcPr>
                </a:tc>
                <a:tc>
                  <a:txBody>
                    <a:bodyPr/>
                    <a:lstStyle/>
                    <a:p>
                      <a:pPr>
                        <a:defRPr sz="1200">
                          <a:solidFill>
                            <a:srgbClr val="161616"/>
                          </a:solidFill>
                          <a:latin typeface="Segoe UI"/>
                        </a:defRPr>
                      </a:pPr>
                      <a:r>
                        <a:t>Implementation Approach</a:t>
                      </a:r>
                    </a:p>
                  </a:txBody>
                  <a:tcPr anchor="ctr">
                    <a:solidFill>
                      <a:srgbClr val="E8E8E8"/>
                    </a:solidFill>
                  </a:tcPr>
                </a:tc>
                <a:tc>
                  <a:txBody>
                    <a:bodyPr/>
                    <a:lstStyle/>
                    <a:p>
                      <a:pPr>
                        <a:defRPr sz="1200">
                          <a:solidFill>
                            <a:srgbClr val="161616"/>
                          </a:solidFill>
                          <a:latin typeface="Segoe UI"/>
                        </a:defRPr>
                      </a:pPr>
                      <a:r>
                        <a:t>15 min</a:t>
                      </a:r>
                    </a:p>
                  </a:txBody>
                  <a:tcPr anchor="ctr">
                    <a:solidFill>
                      <a:srgbClr val="E8E8E8"/>
                    </a:solidFill>
                  </a:tcPr>
                </a:tc>
              </a:tr>
              <a:tr h="411480">
                <a:tc>
                  <a:txBody>
                    <a:bodyPr/>
                    <a:lstStyle/>
                    <a:p>
                      <a:pPr>
                        <a:defRPr sz="1200">
                          <a:solidFill>
                            <a:srgbClr val="161616"/>
                          </a:solidFill>
                          <a:latin typeface="Segoe UI"/>
                        </a:defRPr>
                      </a:pPr>
                      <a:r>
                        <a:t>5</a:t>
                      </a:r>
                    </a:p>
                  </a:txBody>
                  <a:tcPr anchor="ctr">
                    <a:solidFill>
                      <a:srgbClr val="FFFFFF"/>
                    </a:solidFill>
                  </a:tcPr>
                </a:tc>
                <a:tc>
                  <a:txBody>
                    <a:bodyPr/>
                    <a:lstStyle/>
                    <a:p>
                      <a:pPr>
                        <a:defRPr sz="1200">
                          <a:solidFill>
                            <a:srgbClr val="161616"/>
                          </a:solidFill>
                          <a:latin typeface="Segoe UI"/>
                        </a:defRPr>
                      </a:pPr>
                      <a:r>
                        <a:t>Timeline &amp; Milestones</a:t>
                      </a:r>
                    </a:p>
                  </a:txBody>
                  <a:tcPr anchor="ctr">
                    <a:solidFill>
                      <a:srgbClr val="FFFFFF"/>
                    </a:solidFill>
                  </a:tcPr>
                </a:tc>
                <a:tc>
                  <a:txBody>
                    <a:bodyPr/>
                    <a:lstStyle/>
                    <a:p>
                      <a:pPr>
                        <a:defRPr sz="1200">
                          <a:solidFill>
                            <a:srgbClr val="161616"/>
                          </a:solidFill>
                          <a:latin typeface="Segoe UI"/>
                        </a:defRPr>
                      </a:pPr>
                      <a:r>
                        <a:t>10 min</a:t>
                      </a:r>
                    </a:p>
                  </a:txBody>
                  <a:tcPr anchor="ctr">
                    <a:solidFill>
                      <a:srgbClr val="FFFFFF"/>
                    </a:solidFill>
                  </a:tcPr>
                </a:tc>
              </a:tr>
              <a:tr h="411480">
                <a:tc>
                  <a:txBody>
                    <a:bodyPr/>
                    <a:lstStyle/>
                    <a:p>
                      <a:pPr>
                        <a:defRPr sz="1200">
                          <a:solidFill>
                            <a:srgbClr val="161616"/>
                          </a:solidFill>
                          <a:latin typeface="Segoe UI"/>
                        </a:defRPr>
                      </a:pPr>
                      <a:r>
                        <a:t>6</a:t>
                      </a:r>
                    </a:p>
                  </a:txBody>
                  <a:tcPr anchor="ctr">
                    <a:solidFill>
                      <a:srgbClr val="E8E8E8"/>
                    </a:solidFill>
                  </a:tcPr>
                </a:tc>
                <a:tc>
                  <a:txBody>
                    <a:bodyPr/>
                    <a:lstStyle/>
                    <a:p>
                      <a:pPr>
                        <a:defRPr sz="1200">
                          <a:solidFill>
                            <a:srgbClr val="161616"/>
                          </a:solidFill>
                          <a:latin typeface="Segoe UI"/>
                        </a:defRPr>
                      </a:pPr>
                      <a:r>
                        <a:t>Governance &amp; Communication</a:t>
                      </a:r>
                    </a:p>
                  </a:txBody>
                  <a:tcPr anchor="ctr">
                    <a:solidFill>
                      <a:srgbClr val="E8E8E8"/>
                    </a:solidFill>
                  </a:tcPr>
                </a:tc>
                <a:tc>
                  <a:txBody>
                    <a:bodyPr/>
                    <a:lstStyle/>
                    <a:p>
                      <a:pPr>
                        <a:defRPr sz="1200">
                          <a:solidFill>
                            <a:srgbClr val="161616"/>
                          </a:solidFill>
                          <a:latin typeface="Segoe UI"/>
                        </a:defRPr>
                      </a:pPr>
                      <a:r>
                        <a:t>10 min</a:t>
                      </a:r>
                    </a:p>
                  </a:txBody>
                  <a:tcPr anchor="ctr">
                    <a:solidFill>
                      <a:srgbClr val="E8E8E8"/>
                    </a:solidFill>
                  </a:tcPr>
                </a:tc>
              </a:tr>
              <a:tr h="411480">
                <a:tc>
                  <a:txBody>
                    <a:bodyPr/>
                    <a:lstStyle/>
                    <a:p>
                      <a:pPr>
                        <a:defRPr sz="1200">
                          <a:solidFill>
                            <a:srgbClr val="161616"/>
                          </a:solidFill>
                          <a:latin typeface="Segoe UI"/>
                        </a:defRPr>
                      </a:pPr>
                      <a:r>
                        <a:t>7</a:t>
                      </a:r>
                    </a:p>
                  </a:txBody>
                  <a:tcPr anchor="ctr">
                    <a:solidFill>
                      <a:srgbClr val="FFFFFF"/>
                    </a:solidFill>
                  </a:tcPr>
                </a:tc>
                <a:tc>
                  <a:txBody>
                    <a:bodyPr/>
                    <a:lstStyle/>
                    <a:p>
                      <a:pPr>
                        <a:defRPr sz="1200">
                          <a:solidFill>
                            <a:srgbClr val="161616"/>
                          </a:solidFill>
                          <a:latin typeface="Segoe UI"/>
                        </a:defRPr>
                      </a:pPr>
                      <a:r>
                        <a:t>Risks &amp; Mitigation</a:t>
                      </a:r>
                    </a:p>
                  </a:txBody>
                  <a:tcPr anchor="ctr">
                    <a:solidFill>
                      <a:srgbClr val="FFFFFF"/>
                    </a:solidFill>
                  </a:tcPr>
                </a:tc>
                <a:tc>
                  <a:txBody>
                    <a:bodyPr/>
                    <a:lstStyle/>
                    <a:p>
                      <a:pPr>
                        <a:defRPr sz="1200">
                          <a:solidFill>
                            <a:srgbClr val="161616"/>
                          </a:solidFill>
                          <a:latin typeface="Segoe UI"/>
                        </a:defRPr>
                      </a:pPr>
                      <a:r>
                        <a:t>10 min</a:t>
                      </a:r>
                    </a:p>
                  </a:txBody>
                  <a:tcPr anchor="ctr">
                    <a:solidFill>
                      <a:srgbClr val="FFFFFF"/>
                    </a:solidFill>
                  </a:tcPr>
                </a:tc>
              </a:tr>
              <a:tr h="411480">
                <a:tc>
                  <a:txBody>
                    <a:bodyPr/>
                    <a:lstStyle/>
                    <a:p>
                      <a:pPr>
                        <a:defRPr sz="1200">
                          <a:solidFill>
                            <a:srgbClr val="161616"/>
                          </a:solidFill>
                          <a:latin typeface="Segoe UI"/>
                        </a:defRPr>
                      </a:pPr>
                      <a:r>
                        <a:t>8</a:t>
                      </a:r>
                    </a:p>
                  </a:txBody>
                  <a:tcPr anchor="ctr">
                    <a:solidFill>
                      <a:srgbClr val="E8E8E8"/>
                    </a:solidFill>
                  </a:tcPr>
                </a:tc>
                <a:tc>
                  <a:txBody>
                    <a:bodyPr/>
                    <a:lstStyle/>
                    <a:p>
                      <a:pPr>
                        <a:defRPr sz="1200">
                          <a:solidFill>
                            <a:srgbClr val="161616"/>
                          </a:solidFill>
                          <a:latin typeface="Segoe UI"/>
                        </a:defRPr>
                      </a:pPr>
                      <a:r>
                        <a:t>Next Steps &amp; Q&amp;A</a:t>
                      </a:r>
                    </a:p>
                  </a:txBody>
                  <a:tcPr anchor="ctr">
                    <a:solidFill>
                      <a:srgbClr val="E8E8E8"/>
                    </a:solidFill>
                  </a:tcPr>
                </a:tc>
                <a:tc>
                  <a:txBody>
                    <a:bodyPr/>
                    <a:lstStyle/>
                    <a:p>
                      <a:pPr>
                        <a:defRPr sz="1200">
                          <a:solidFill>
                            <a:srgbClr val="161616"/>
                          </a:solidFill>
                          <a:latin typeface="Segoe UI"/>
                        </a:defRPr>
                      </a:pPr>
                      <a:r>
                        <a:t>10 min</a:t>
                      </a:r>
                    </a:p>
                  </a:txBody>
                  <a:tcPr anchor="ctr">
                    <a:solidFill>
                      <a:srgbClr val="E8E8E8"/>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0"/>
            <a:ext cx="10789920" cy="914400"/>
          </a:xfrm>
          <a:prstGeom prst="rect">
            <a:avLst/>
          </a:prstGeom>
          <a:noFill/>
        </p:spPr>
        <p:txBody>
          <a:bodyPr wrap="none">
            <a:spAutoFit/>
          </a:bodyPr>
          <a:lstStyle/>
          <a:p>
            <a:pPr algn="ctr"/>
            <a:r>
              <a:rPr sz="7200" b="1">
                <a:solidFill>
                  <a:srgbClr val="0F62FE"/>
                </a:solidFill>
                <a:latin typeface="Segoe UI"/>
              </a:rPr>
              <a:t>01</a:t>
            </a:r>
          </a:p>
        </p:txBody>
      </p:sp>
      <p:sp>
        <p:nvSpPr>
          <p:cNvPr id="4" name="TextBox 3"/>
          <p:cNvSpPr txBox="1"/>
          <p:nvPr/>
        </p:nvSpPr>
        <p:spPr>
          <a:xfrm>
            <a:off x="685800" y="3474720"/>
            <a:ext cx="10789920" cy="731520"/>
          </a:xfrm>
          <a:prstGeom prst="rect">
            <a:avLst/>
          </a:prstGeom>
          <a:noFill/>
        </p:spPr>
        <p:txBody>
          <a:bodyPr wrap="none">
            <a:spAutoFit/>
          </a:bodyPr>
          <a:lstStyle/>
          <a:p>
            <a:pPr algn="ctr"/>
            <a:r>
              <a:rPr sz="3600">
                <a:solidFill>
                  <a:srgbClr val="161616"/>
                </a:solidFill>
                <a:latin typeface="Segoe UI"/>
              </a:rPr>
              <a:t>Introduction &amp; Objectives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arallelogram 1"/>
          <p:cNvSpPr/>
          <p:nvPr/>
        </p:nvSpPr>
        <p:spPr>
          <a:xfrm rot="21300000">
            <a:off x="5486400" y="3657600"/>
            <a:ext cx="7315200" cy="3657600"/>
          </a:xfrm>
          <a:prstGeom prst="parallelogram">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228600"/>
            <a:ext cx="11430000" cy="502920"/>
          </a:xfrm>
          <a:prstGeom prst="roundRect">
            <a:avLst/>
          </a:prstGeom>
          <a:solidFill>
            <a:srgbClr val="FFFFFF"/>
          </a:solidFill>
          <a:ln w="254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5486400" cy="365760"/>
          </a:xfrm>
          <a:prstGeom prst="rect">
            <a:avLst/>
          </a:prstGeom>
          <a:noFill/>
        </p:spPr>
        <p:txBody>
          <a:bodyPr wrap="none">
            <a:spAutoFit/>
          </a:bodyPr>
          <a:lstStyle/>
          <a:p>
            <a:r>
              <a:rPr sz="1100">
                <a:solidFill>
                  <a:srgbClr val="161616"/>
                </a:solidFill>
                <a:latin typeface="Segoe UI"/>
              </a:rPr>
              <a:t>⌂  SIEM IMPLEMENTATION PROJECT</a:t>
            </a:r>
          </a:p>
        </p:txBody>
      </p:sp>
      <p:sp>
        <p:nvSpPr>
          <p:cNvPr id="5" name="TextBox 4"/>
          <p:cNvSpPr txBox="1"/>
          <p:nvPr/>
        </p:nvSpPr>
        <p:spPr>
          <a:xfrm>
            <a:off x="8229600" y="320040"/>
            <a:ext cx="3200400" cy="365760"/>
          </a:xfrm>
          <a:prstGeom prst="rect">
            <a:avLst/>
          </a:prstGeom>
          <a:noFill/>
        </p:spPr>
        <p:txBody>
          <a:bodyPr wrap="none">
            <a:spAutoFit/>
          </a:bodyPr>
          <a:lstStyle/>
          <a:p>
            <a:pPr algn="r"/>
            <a:r>
              <a:rPr sz="1100" b="1">
                <a:solidFill>
                  <a:srgbClr val="161616"/>
                </a:solidFill>
                <a:latin typeface="Segoe UI"/>
              </a:rPr>
              <a:t>PROJECT KICKOFF</a:t>
            </a:r>
          </a:p>
        </p:txBody>
      </p:sp>
      <p:sp>
        <p:nvSpPr>
          <p:cNvPr id="6" name="TextBox 5"/>
          <p:cNvSpPr txBox="1"/>
          <p:nvPr/>
        </p:nvSpPr>
        <p:spPr>
          <a:xfrm>
            <a:off x="457200" y="1005840"/>
            <a:ext cx="6400800" cy="1097280"/>
          </a:xfrm>
          <a:prstGeom prst="rect">
            <a:avLst/>
          </a:prstGeom>
          <a:noFill/>
        </p:spPr>
        <p:txBody>
          <a:bodyPr wrap="none">
            <a:spAutoFit/>
          </a:bodyPr>
          <a:lstStyle/>
          <a:p>
            <a:r>
              <a:rPr sz="4800" b="1">
                <a:solidFill>
                  <a:srgbClr val="0F62FE"/>
                </a:solidFill>
                <a:latin typeface="Segoe UI"/>
              </a:rPr>
              <a:t>Project
Introduction</a:t>
            </a:r>
          </a:p>
        </p:txBody>
      </p:sp>
      <p:sp>
        <p:nvSpPr>
          <p:cNvPr id="7" name="Rounded Rectangle 6"/>
          <p:cNvSpPr/>
          <p:nvPr/>
        </p:nvSpPr>
        <p:spPr>
          <a:xfrm>
            <a:off x="7315200" y="1005840"/>
            <a:ext cx="4389120" cy="2194560"/>
          </a:xfrm>
          <a:prstGeom prst="roundRect">
            <a:avLst/>
          </a:prstGeom>
          <a:solidFill>
            <a:srgbClr val="E0E8F0"/>
          </a:solidFill>
          <a:ln w="12700">
            <a:solidFill>
              <a:srgbClr val="C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4389120" cy="457200"/>
          </a:xfrm>
          <a:prstGeom prst="rect">
            <a:avLst/>
          </a:prstGeom>
          <a:noFill/>
        </p:spPr>
        <p:txBody>
          <a:bodyPr wrap="none">
            <a:spAutoFit/>
          </a:bodyPr>
          <a:lstStyle/>
          <a:p>
            <a:pPr algn="ctr"/>
            <a:r>
              <a:rPr sz="1200">
                <a:solidFill>
                  <a:srgbClr val="525252"/>
                </a:solidFill>
                <a:latin typeface="Segoe UI"/>
              </a:rPr>
              <a:t>[Image Placeholder]</a:t>
            </a:r>
          </a:p>
        </p:txBody>
      </p:sp>
      <p:sp>
        <p:nvSpPr>
          <p:cNvPr id="9" name="TextBox 8"/>
          <p:cNvSpPr txBox="1"/>
          <p:nvPr/>
        </p:nvSpPr>
        <p:spPr>
          <a:xfrm>
            <a:off x="457200" y="2286000"/>
            <a:ext cx="5943600" cy="365760"/>
          </a:xfrm>
          <a:prstGeom prst="rect">
            <a:avLst/>
          </a:prstGeom>
          <a:noFill/>
        </p:spPr>
        <p:txBody>
          <a:bodyPr wrap="none">
            <a:spAutoFit/>
          </a:bodyPr>
          <a:lstStyle/>
          <a:p>
            <a:r>
              <a:rPr sz="1800" b="1">
                <a:solidFill>
                  <a:srgbClr val="0F62FE"/>
                </a:solidFill>
                <a:latin typeface="Segoe UI"/>
              </a:rPr>
              <a:t>Background &amp; Context</a:t>
            </a:r>
          </a:p>
        </p:txBody>
      </p:sp>
      <p:sp>
        <p:nvSpPr>
          <p:cNvPr id="10" name="TextBox 9"/>
          <p:cNvSpPr txBox="1"/>
          <p:nvPr/>
        </p:nvSpPr>
        <p:spPr>
          <a:xfrm>
            <a:off x="457200" y="2743200"/>
            <a:ext cx="5943600" cy="1371600"/>
          </a:xfrm>
          <a:prstGeom prst="rect">
            <a:avLst/>
          </a:prstGeom>
          <a:noFill/>
        </p:spPr>
        <p:txBody>
          <a:bodyPr wrap="square">
            <a:spAutoFit/>
          </a:bodyPr>
          <a:lstStyle/>
          <a:p>
            <a:r>
              <a:rPr sz="1200">
                <a:solidFill>
                  <a:srgbClr val="161616"/>
                </a:solidFill>
                <a:latin typeface="Segoe UI"/>
              </a:rPr>
              <a:t>This SIEM implementation project aims to establish a comprehensive security monitoring capability. The solution will integrate log sources across your enterprise infrastructure, enabling real-time threat detection and rapid incident response.</a:t>
            </a:r>
          </a:p>
        </p:txBody>
      </p:sp>
      <p:sp>
        <p:nvSpPr>
          <p:cNvPr id="11" name="Rounded Rectangle 10"/>
          <p:cNvSpPr/>
          <p:nvPr/>
        </p:nvSpPr>
        <p:spPr>
          <a:xfrm>
            <a:off x="457200" y="4114800"/>
            <a:ext cx="5029200" cy="2286000"/>
          </a:xfrm>
          <a:prstGeom prst="roundRect">
            <a:avLst/>
          </a:prstGeom>
          <a:solidFill>
            <a:srgbClr val="E0E8F0"/>
          </a:solidFill>
          <a:ln w="12700">
            <a:solidFill>
              <a:srgbClr val="C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389120"/>
            <a:ext cx="5029200" cy="365760"/>
          </a:xfrm>
          <a:prstGeom prst="rect">
            <a:avLst/>
          </a:prstGeom>
          <a:noFill/>
        </p:spPr>
        <p:txBody>
          <a:bodyPr wrap="none">
            <a:spAutoFit/>
          </a:bodyPr>
          <a:lstStyle/>
          <a:p>
            <a:r>
              <a:rPr sz="1600" b="1">
                <a:solidFill>
                  <a:srgbClr val="161616"/>
                </a:solidFill>
                <a:latin typeface="Segoe UI"/>
              </a:rPr>
              <a:t>Our Approach</a:t>
            </a:r>
          </a:p>
        </p:txBody>
      </p:sp>
      <p:sp>
        <p:nvSpPr>
          <p:cNvPr id="13" name="TextBox 12"/>
          <p:cNvSpPr txBox="1"/>
          <p:nvPr/>
        </p:nvSpPr>
        <p:spPr>
          <a:xfrm>
            <a:off x="6400800" y="4846320"/>
            <a:ext cx="5029200" cy="1645920"/>
          </a:xfrm>
          <a:prstGeom prst="rect">
            <a:avLst/>
          </a:prstGeom>
          <a:noFill/>
        </p:spPr>
        <p:txBody>
          <a:bodyPr wrap="square">
            <a:spAutoFit/>
          </a:bodyPr>
          <a:lstStyle/>
          <a:p>
            <a:r>
              <a:rPr sz="1100">
                <a:solidFill>
                  <a:srgbClr val="525252"/>
                </a:solidFill>
                <a:latin typeface="Segoe UI"/>
              </a:rPr>
              <a:t>We follow a proven methodology combining industry best practices with tailored solutions. Our team will work closely with your security and IT teams to ensure seamless integration and knowledge transfer throughout the project lifecycle.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Meeting Objectives</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85800" y="1463040"/>
          <a:ext cx="10789920" cy="2880360"/>
        </p:xfrm>
        <a:graphic>
          <a:graphicData uri="http://schemas.openxmlformats.org/drawingml/2006/table">
            <a:tbl>
              <a:tblPr firstRow="1" bandRow="1">
                <a:tableStyleId>{5C22544A-7EE6-4342-B048-85BDC9FD1C3A}</a:tableStyleId>
              </a:tblPr>
              <a:tblGrid>
                <a:gridCol w="5394960"/>
                <a:gridCol w="5394960"/>
              </a:tblGrid>
              <a:tr h="411480">
                <a:tc>
                  <a:txBody>
                    <a:bodyPr/>
                    <a:lstStyle/>
                    <a:p>
                      <a:pPr>
                        <a:defRPr sz="1200" b="1">
                          <a:solidFill>
                            <a:srgbClr val="FFFFFF"/>
                          </a:solidFill>
                          <a:latin typeface="Segoe UI"/>
                        </a:defRPr>
                      </a:pPr>
                      <a:r>
                        <a:t>Objective</a:t>
                      </a:r>
                    </a:p>
                  </a:txBody>
                  <a:tcPr anchor="ctr">
                    <a:solidFill>
                      <a:srgbClr val="0F62FE"/>
                    </a:solidFill>
                  </a:tcPr>
                </a:tc>
                <a:tc>
                  <a:txBody>
                    <a:bodyPr/>
                    <a:lstStyle/>
                    <a:p>
                      <a:pPr>
                        <a:defRPr sz="1200" b="1">
                          <a:solidFill>
                            <a:srgbClr val="FFFFFF"/>
                          </a:solidFill>
                          <a:latin typeface="Segoe UI"/>
                        </a:defRPr>
                      </a:pPr>
                      <a:r>
                        <a:t>Outcome</a:t>
                      </a:r>
                    </a:p>
                  </a:txBody>
                  <a:tcPr anchor="ctr">
                    <a:solidFill>
                      <a:srgbClr val="0F62FE"/>
                    </a:solidFill>
                  </a:tcPr>
                </a:tc>
              </a:tr>
              <a:tr h="411480">
                <a:tc>
                  <a:txBody>
                    <a:bodyPr/>
                    <a:lstStyle/>
                    <a:p>
                      <a:pPr>
                        <a:defRPr sz="1200">
                          <a:solidFill>
                            <a:srgbClr val="161616"/>
                          </a:solidFill>
                          <a:latin typeface="Segoe UI"/>
                        </a:defRPr>
                      </a:pPr>
                      <a:r>
                        <a:t>Alignment</a:t>
                      </a:r>
                    </a:p>
                  </a:txBody>
                  <a:tcPr anchor="ctr">
                    <a:solidFill>
                      <a:srgbClr val="FFFFFF"/>
                    </a:solidFill>
                  </a:tcPr>
                </a:tc>
                <a:tc>
                  <a:txBody>
                    <a:bodyPr/>
                    <a:lstStyle/>
                    <a:p>
                      <a:pPr>
                        <a:defRPr sz="1200">
                          <a:solidFill>
                            <a:srgbClr val="161616"/>
                          </a:solidFill>
                          <a:latin typeface="Segoe UI"/>
                        </a:defRPr>
                      </a:pPr>
                      <a:r>
                        <a:t>Confirm project goals and success criteria</a:t>
                      </a:r>
                    </a:p>
                  </a:txBody>
                  <a:tcPr anchor="ctr">
                    <a:solidFill>
                      <a:srgbClr val="FFFFFF"/>
                    </a:solidFill>
                  </a:tcPr>
                </a:tc>
              </a:tr>
              <a:tr h="411480">
                <a:tc>
                  <a:txBody>
                    <a:bodyPr/>
                    <a:lstStyle/>
                    <a:p>
                      <a:pPr>
                        <a:defRPr sz="1200">
                          <a:solidFill>
                            <a:srgbClr val="161616"/>
                          </a:solidFill>
                          <a:latin typeface="Segoe UI"/>
                        </a:defRPr>
                      </a:pPr>
                      <a:r>
                        <a:t>Scope</a:t>
                      </a:r>
                    </a:p>
                  </a:txBody>
                  <a:tcPr anchor="ctr">
                    <a:solidFill>
                      <a:srgbClr val="E8E8E8"/>
                    </a:solidFill>
                  </a:tcPr>
                </a:tc>
                <a:tc>
                  <a:txBody>
                    <a:bodyPr/>
                    <a:lstStyle/>
                    <a:p>
                      <a:pPr>
                        <a:defRPr sz="1200">
                          <a:solidFill>
                            <a:srgbClr val="161616"/>
                          </a:solidFill>
                          <a:latin typeface="Segoe UI"/>
                        </a:defRPr>
                      </a:pPr>
                      <a:r>
                        <a:t>Review deliverables and exclusions</a:t>
                      </a:r>
                    </a:p>
                  </a:txBody>
                  <a:tcPr anchor="ctr">
                    <a:solidFill>
                      <a:srgbClr val="E8E8E8"/>
                    </a:solidFill>
                  </a:tcPr>
                </a:tc>
              </a:tr>
              <a:tr h="411480">
                <a:tc>
                  <a:txBody>
                    <a:bodyPr/>
                    <a:lstStyle/>
                    <a:p>
                      <a:pPr>
                        <a:defRPr sz="1200">
                          <a:solidFill>
                            <a:srgbClr val="161616"/>
                          </a:solidFill>
                          <a:latin typeface="Segoe UI"/>
                        </a:defRPr>
                      </a:pPr>
                      <a:r>
                        <a:t>Architecture</a:t>
                      </a:r>
                    </a:p>
                  </a:txBody>
                  <a:tcPr anchor="ctr">
                    <a:solidFill>
                      <a:srgbClr val="FFFFFF"/>
                    </a:solidFill>
                  </a:tcPr>
                </a:tc>
                <a:tc>
                  <a:txBody>
                    <a:bodyPr/>
                    <a:lstStyle/>
                    <a:p>
                      <a:pPr>
                        <a:defRPr sz="1200">
                          <a:solidFill>
                            <a:srgbClr val="161616"/>
                          </a:solidFill>
                          <a:latin typeface="Segoe UI"/>
                        </a:defRPr>
                      </a:pPr>
                      <a:r>
                        <a:t>Understand technical design and integrations</a:t>
                      </a:r>
                    </a:p>
                  </a:txBody>
                  <a:tcPr anchor="ctr">
                    <a:solidFill>
                      <a:srgbClr val="FFFFFF"/>
                    </a:solidFill>
                  </a:tcPr>
                </a:tc>
              </a:tr>
              <a:tr h="411480">
                <a:tc>
                  <a:txBody>
                    <a:bodyPr/>
                    <a:lstStyle/>
                    <a:p>
                      <a:pPr>
                        <a:defRPr sz="1200">
                          <a:solidFill>
                            <a:srgbClr val="161616"/>
                          </a:solidFill>
                          <a:latin typeface="Segoe UI"/>
                        </a:defRPr>
                      </a:pPr>
                      <a:r>
                        <a:t>Timeline</a:t>
                      </a:r>
                    </a:p>
                  </a:txBody>
                  <a:tcPr anchor="ctr">
                    <a:solidFill>
                      <a:srgbClr val="E8E8E8"/>
                    </a:solidFill>
                  </a:tcPr>
                </a:tc>
                <a:tc>
                  <a:txBody>
                    <a:bodyPr/>
                    <a:lstStyle/>
                    <a:p>
                      <a:pPr>
                        <a:defRPr sz="1200">
                          <a:solidFill>
                            <a:srgbClr val="161616"/>
                          </a:solidFill>
                          <a:latin typeface="Segoe UI"/>
                        </a:defRPr>
                      </a:pPr>
                      <a:r>
                        <a:t>Agree on milestones and dependencies</a:t>
                      </a:r>
                    </a:p>
                  </a:txBody>
                  <a:tcPr anchor="ctr">
                    <a:solidFill>
                      <a:srgbClr val="E8E8E8"/>
                    </a:solidFill>
                  </a:tcPr>
                </a:tc>
              </a:tr>
              <a:tr h="411480">
                <a:tc>
                  <a:txBody>
                    <a:bodyPr/>
                    <a:lstStyle/>
                    <a:p>
                      <a:pPr>
                        <a:defRPr sz="1200">
                          <a:solidFill>
                            <a:srgbClr val="161616"/>
                          </a:solidFill>
                          <a:latin typeface="Segoe UI"/>
                        </a:defRPr>
                      </a:pPr>
                      <a:r>
                        <a:t>Governance</a:t>
                      </a:r>
                    </a:p>
                  </a:txBody>
                  <a:tcPr anchor="ctr">
                    <a:solidFill>
                      <a:srgbClr val="FFFFFF"/>
                    </a:solidFill>
                  </a:tcPr>
                </a:tc>
                <a:tc>
                  <a:txBody>
                    <a:bodyPr/>
                    <a:lstStyle/>
                    <a:p>
                      <a:pPr>
                        <a:defRPr sz="1200">
                          <a:solidFill>
                            <a:srgbClr val="161616"/>
                          </a:solidFill>
                          <a:latin typeface="Segoe UI"/>
                        </a:defRPr>
                      </a:pPr>
                      <a:r>
                        <a:t>Establish communication and escalation paths</a:t>
                      </a:r>
                    </a:p>
                  </a:txBody>
                  <a:tcPr anchor="ctr">
                    <a:solidFill>
                      <a:srgbClr val="FFFFFF"/>
                    </a:solidFill>
                  </a:tcPr>
                </a:tc>
              </a:tr>
              <a:tr h="411480">
                <a:tc>
                  <a:txBody>
                    <a:bodyPr/>
                    <a:lstStyle/>
                    <a:p>
                      <a:pPr>
                        <a:defRPr sz="1200">
                          <a:solidFill>
                            <a:srgbClr val="161616"/>
                          </a:solidFill>
                          <a:latin typeface="Segoe UI"/>
                        </a:defRPr>
                      </a:pPr>
                      <a:r>
                        <a:t>Risks</a:t>
                      </a:r>
                    </a:p>
                  </a:txBody>
                  <a:tcPr anchor="ctr">
                    <a:solidFill>
                      <a:srgbClr val="E8E8E8"/>
                    </a:solidFill>
                  </a:tcPr>
                </a:tc>
                <a:tc>
                  <a:txBody>
                    <a:bodyPr/>
                    <a:lstStyle/>
                    <a:p>
                      <a:pPr>
                        <a:defRPr sz="1200">
                          <a:solidFill>
                            <a:srgbClr val="161616"/>
                          </a:solidFill>
                          <a:latin typeface="Segoe UI"/>
                        </a:defRPr>
                      </a:pPr>
                      <a:r>
                        <a:t>Identify and plan mitigations</a:t>
                      </a:r>
                    </a:p>
                  </a:txBody>
                  <a:tcPr anchor="ctr">
                    <a:solidFill>
                      <a:srgbClr val="E8E8E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0"/>
            <a:ext cx="10789920" cy="914400"/>
          </a:xfrm>
          <a:prstGeom prst="rect">
            <a:avLst/>
          </a:prstGeom>
          <a:noFill/>
        </p:spPr>
        <p:txBody>
          <a:bodyPr wrap="none">
            <a:spAutoFit/>
          </a:bodyPr>
          <a:lstStyle/>
          <a:p>
            <a:pPr algn="ctr"/>
            <a:r>
              <a:rPr sz="7200" b="1">
                <a:solidFill>
                  <a:srgbClr val="0F62FE"/>
                </a:solidFill>
                <a:latin typeface="Segoe UI"/>
              </a:rPr>
              <a:t>02</a:t>
            </a:r>
          </a:p>
        </p:txBody>
      </p:sp>
      <p:sp>
        <p:nvSpPr>
          <p:cNvPr id="4" name="TextBox 3"/>
          <p:cNvSpPr txBox="1"/>
          <p:nvPr/>
        </p:nvSpPr>
        <p:spPr>
          <a:xfrm>
            <a:off x="685800" y="3474720"/>
            <a:ext cx="10789920" cy="731520"/>
          </a:xfrm>
          <a:prstGeom prst="rect">
            <a:avLst/>
          </a:prstGeom>
          <a:noFill/>
        </p:spPr>
        <p:txBody>
          <a:bodyPr wrap="none">
            <a:spAutoFit/>
          </a:bodyPr>
          <a:lstStyle/>
          <a:p>
            <a:pPr algn="ctr"/>
            <a:r>
              <a:rPr sz="3600">
                <a:solidFill>
                  <a:srgbClr val="161616"/>
                </a:solidFill>
                <a:latin typeface="Segoe UI"/>
              </a:rPr>
              <a:t>Project Scope &amp; Deliverables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Scope Overview</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85800" y="1463040"/>
          <a:ext cx="10789920" cy="2880360"/>
        </p:xfrm>
        <a:graphic>
          <a:graphicData uri="http://schemas.openxmlformats.org/drawingml/2006/table">
            <a:tbl>
              <a:tblPr firstRow="1" bandRow="1">
                <a:tableStyleId>{5C22544A-7EE6-4342-B048-85BDC9FD1C3A}</a:tableStyleId>
              </a:tblPr>
              <a:tblGrid>
                <a:gridCol w="3596640"/>
                <a:gridCol w="3596640"/>
                <a:gridCol w="3596640"/>
              </a:tblGrid>
              <a:tr h="411480">
                <a:tc>
                  <a:txBody>
                    <a:bodyPr/>
                    <a:lstStyle/>
                    <a:p>
                      <a:pPr>
                        <a:defRPr sz="1200" b="1">
                          <a:solidFill>
                            <a:srgbClr val="FFFFFF"/>
                          </a:solidFill>
                          <a:latin typeface="Segoe UI"/>
                        </a:defRPr>
                      </a:pPr>
                      <a:r>
                        <a:t>Category</a:t>
                      </a:r>
                    </a:p>
                  </a:txBody>
                  <a:tcPr anchor="ctr">
                    <a:solidFill>
                      <a:srgbClr val="0F62FE"/>
                    </a:solidFill>
                  </a:tcPr>
                </a:tc>
                <a:tc>
                  <a:txBody>
                    <a:bodyPr/>
                    <a:lstStyle/>
                    <a:p>
                      <a:pPr>
                        <a:defRPr sz="1200" b="1">
                          <a:solidFill>
                            <a:srgbClr val="FFFFFF"/>
                          </a:solidFill>
                          <a:latin typeface="Segoe UI"/>
                        </a:defRPr>
                      </a:pPr>
                      <a:r>
                        <a:t>In Scope</a:t>
                      </a:r>
                    </a:p>
                  </a:txBody>
                  <a:tcPr anchor="ctr">
                    <a:solidFill>
                      <a:srgbClr val="0F62FE"/>
                    </a:solidFill>
                  </a:tcPr>
                </a:tc>
                <a:tc>
                  <a:txBody>
                    <a:bodyPr/>
                    <a:lstStyle/>
                    <a:p>
                      <a:pPr>
                        <a:defRPr sz="1200" b="1">
                          <a:solidFill>
                            <a:srgbClr val="FFFFFF"/>
                          </a:solidFill>
                          <a:latin typeface="Segoe UI"/>
                        </a:defRPr>
                      </a:pPr>
                      <a:r>
                        <a:t>Details</a:t>
                      </a:r>
                    </a:p>
                  </a:txBody>
                  <a:tcPr anchor="ctr">
                    <a:solidFill>
                      <a:srgbClr val="0F62FE"/>
                    </a:solidFill>
                  </a:tcPr>
                </a:tc>
              </a:tr>
              <a:tr h="411480">
                <a:tc>
                  <a:txBody>
                    <a:bodyPr/>
                    <a:lstStyle/>
                    <a:p>
                      <a:pPr>
                        <a:defRPr sz="1200">
                          <a:solidFill>
                            <a:srgbClr val="161616"/>
                          </a:solidFill>
                          <a:latin typeface="Segoe UI"/>
                        </a:defRPr>
                      </a:pPr>
                      <a:r>
                        <a:t>Platform</a:t>
                      </a:r>
                    </a:p>
                  </a:txBody>
                  <a:tcPr anchor="ctr">
                    <a:solidFill>
                      <a:srgbClr val="FFFFFF"/>
                    </a:solidFill>
                  </a:tcPr>
                </a:tc>
                <a:tc>
                  <a:txBody>
                    <a:bodyPr/>
                    <a:lstStyle/>
                    <a:p>
                      <a:pPr>
                        <a:defRPr sz="1200">
                          <a:solidFill>
                            <a:srgbClr val="161616"/>
                          </a:solidFill>
                          <a:latin typeface="Segoe UI"/>
                        </a:defRPr>
                      </a:pPr>
                      <a:r>
                        <a:t>Yes</a:t>
                      </a:r>
                    </a:p>
                  </a:txBody>
                  <a:tcPr anchor="ctr">
                    <a:solidFill>
                      <a:srgbClr val="FFFFFF"/>
                    </a:solidFill>
                  </a:tcPr>
                </a:tc>
                <a:tc>
                  <a:txBody>
                    <a:bodyPr/>
                    <a:lstStyle/>
                    <a:p>
                      <a:pPr>
                        <a:defRPr sz="1200">
                          <a:solidFill>
                            <a:srgbClr val="161616"/>
                          </a:solidFill>
                          <a:latin typeface="Segoe UI"/>
                        </a:defRPr>
                      </a:pPr>
                      <a:r>
                        <a:t>SIEM deployment and configuration</a:t>
                      </a:r>
                    </a:p>
                  </a:txBody>
                  <a:tcPr anchor="ctr">
                    <a:solidFill>
                      <a:srgbClr val="FFFFFF"/>
                    </a:solidFill>
                  </a:tcPr>
                </a:tc>
              </a:tr>
              <a:tr h="411480">
                <a:tc>
                  <a:txBody>
                    <a:bodyPr/>
                    <a:lstStyle/>
                    <a:p>
                      <a:pPr>
                        <a:defRPr sz="1200">
                          <a:solidFill>
                            <a:srgbClr val="161616"/>
                          </a:solidFill>
                          <a:latin typeface="Segoe UI"/>
                        </a:defRPr>
                      </a:pPr>
                      <a:r>
                        <a:t>Log Sources</a:t>
                      </a:r>
                    </a:p>
                  </a:txBody>
                  <a:tcPr anchor="ctr">
                    <a:solidFill>
                      <a:srgbClr val="E8E8E8"/>
                    </a:solidFill>
                  </a:tcPr>
                </a:tc>
                <a:tc>
                  <a:txBody>
                    <a:bodyPr/>
                    <a:lstStyle/>
                    <a:p>
                      <a:pPr>
                        <a:defRPr sz="1200">
                          <a:solidFill>
                            <a:srgbClr val="161616"/>
                          </a:solidFill>
                          <a:latin typeface="Segoe UI"/>
                        </a:defRPr>
                      </a:pPr>
                      <a:r>
                        <a:t>Yes</a:t>
                      </a:r>
                    </a:p>
                  </a:txBody>
                  <a:tcPr anchor="ctr">
                    <a:solidFill>
                      <a:srgbClr val="E8E8E8"/>
                    </a:solidFill>
                  </a:tcPr>
                </a:tc>
                <a:tc>
                  <a:txBody>
                    <a:bodyPr/>
                    <a:lstStyle/>
                    <a:p>
                      <a:pPr>
                        <a:defRPr sz="1200">
                          <a:solidFill>
                            <a:srgbClr val="161616"/>
                          </a:solidFill>
                          <a:latin typeface="Segoe UI"/>
                        </a:defRPr>
                      </a:pPr>
                      <a:r>
                        <a:t>[X] sources across [Y] categories</a:t>
                      </a:r>
                    </a:p>
                  </a:txBody>
                  <a:tcPr anchor="ctr">
                    <a:solidFill>
                      <a:srgbClr val="E8E8E8"/>
                    </a:solidFill>
                  </a:tcPr>
                </a:tc>
              </a:tr>
              <a:tr h="411480">
                <a:tc>
                  <a:txBody>
                    <a:bodyPr/>
                    <a:lstStyle/>
                    <a:p>
                      <a:pPr>
                        <a:defRPr sz="1200">
                          <a:solidFill>
                            <a:srgbClr val="161616"/>
                          </a:solidFill>
                          <a:latin typeface="Segoe UI"/>
                        </a:defRPr>
                      </a:pPr>
                      <a:r>
                        <a:t>Use Cases</a:t>
                      </a:r>
                    </a:p>
                  </a:txBody>
                  <a:tcPr anchor="ctr">
                    <a:solidFill>
                      <a:srgbClr val="FFFFFF"/>
                    </a:solidFill>
                  </a:tcPr>
                </a:tc>
                <a:tc>
                  <a:txBody>
                    <a:bodyPr/>
                    <a:lstStyle/>
                    <a:p>
                      <a:pPr>
                        <a:defRPr sz="1200">
                          <a:solidFill>
                            <a:srgbClr val="161616"/>
                          </a:solidFill>
                          <a:latin typeface="Segoe UI"/>
                        </a:defRPr>
                      </a:pPr>
                      <a:r>
                        <a:t>Yes</a:t>
                      </a:r>
                    </a:p>
                  </a:txBody>
                  <a:tcPr anchor="ctr">
                    <a:solidFill>
                      <a:srgbClr val="FFFFFF"/>
                    </a:solidFill>
                  </a:tcPr>
                </a:tc>
                <a:tc>
                  <a:txBody>
                    <a:bodyPr/>
                    <a:lstStyle/>
                    <a:p>
                      <a:pPr>
                        <a:defRPr sz="1200">
                          <a:solidFill>
                            <a:srgbClr val="161616"/>
                          </a:solidFill>
                          <a:latin typeface="Segoe UI"/>
                        </a:defRPr>
                      </a:pPr>
                      <a:r>
                        <a:t>[Z] detection rules and alerts</a:t>
                      </a:r>
                    </a:p>
                  </a:txBody>
                  <a:tcPr anchor="ctr">
                    <a:solidFill>
                      <a:srgbClr val="FFFFFF"/>
                    </a:solidFill>
                  </a:tcPr>
                </a:tc>
              </a:tr>
              <a:tr h="411480">
                <a:tc>
                  <a:txBody>
                    <a:bodyPr/>
                    <a:lstStyle/>
                    <a:p>
                      <a:pPr>
                        <a:defRPr sz="1200">
                          <a:solidFill>
                            <a:srgbClr val="161616"/>
                          </a:solidFill>
                          <a:latin typeface="Segoe UI"/>
                        </a:defRPr>
                      </a:pPr>
                      <a:r>
                        <a:t>Integrations</a:t>
                      </a:r>
                    </a:p>
                  </a:txBody>
                  <a:tcPr anchor="ctr">
                    <a:solidFill>
                      <a:srgbClr val="E8E8E8"/>
                    </a:solidFill>
                  </a:tcPr>
                </a:tc>
                <a:tc>
                  <a:txBody>
                    <a:bodyPr/>
                    <a:lstStyle/>
                    <a:p>
                      <a:pPr>
                        <a:defRPr sz="1200">
                          <a:solidFill>
                            <a:srgbClr val="161616"/>
                          </a:solidFill>
                          <a:latin typeface="Segoe UI"/>
                        </a:defRPr>
                      </a:pPr>
                      <a:r>
                        <a:t>Yes</a:t>
                      </a:r>
                    </a:p>
                  </a:txBody>
                  <a:tcPr anchor="ctr">
                    <a:solidFill>
                      <a:srgbClr val="E8E8E8"/>
                    </a:solidFill>
                  </a:tcPr>
                </a:tc>
                <a:tc>
                  <a:txBody>
                    <a:bodyPr/>
                    <a:lstStyle/>
                    <a:p>
                      <a:pPr>
                        <a:defRPr sz="1200">
                          <a:solidFill>
                            <a:srgbClr val="161616"/>
                          </a:solidFill>
                          <a:latin typeface="Segoe UI"/>
                        </a:defRPr>
                      </a:pPr>
                      <a:r>
                        <a:t>Ticketing, SOAR, threat intelligence</a:t>
                      </a:r>
                    </a:p>
                  </a:txBody>
                  <a:tcPr anchor="ctr">
                    <a:solidFill>
                      <a:srgbClr val="E8E8E8"/>
                    </a:solidFill>
                  </a:tcPr>
                </a:tc>
              </a:tr>
              <a:tr h="411480">
                <a:tc>
                  <a:txBody>
                    <a:bodyPr/>
                    <a:lstStyle/>
                    <a:p>
                      <a:pPr>
                        <a:defRPr sz="1200">
                          <a:solidFill>
                            <a:srgbClr val="161616"/>
                          </a:solidFill>
                          <a:latin typeface="Segoe UI"/>
                        </a:defRPr>
                      </a:pPr>
                      <a:r>
                        <a:t>Training</a:t>
                      </a:r>
                    </a:p>
                  </a:txBody>
                  <a:tcPr anchor="ctr">
                    <a:solidFill>
                      <a:srgbClr val="FFFFFF"/>
                    </a:solidFill>
                  </a:tcPr>
                </a:tc>
                <a:tc>
                  <a:txBody>
                    <a:bodyPr/>
                    <a:lstStyle/>
                    <a:p>
                      <a:pPr>
                        <a:defRPr sz="1200">
                          <a:solidFill>
                            <a:srgbClr val="161616"/>
                          </a:solidFill>
                          <a:latin typeface="Segoe UI"/>
                        </a:defRPr>
                      </a:pPr>
                      <a:r>
                        <a:t>Yes</a:t>
                      </a:r>
                    </a:p>
                  </a:txBody>
                  <a:tcPr anchor="ctr">
                    <a:solidFill>
                      <a:srgbClr val="FFFFFF"/>
                    </a:solidFill>
                  </a:tcPr>
                </a:tc>
                <a:tc>
                  <a:txBody>
                    <a:bodyPr/>
                    <a:lstStyle/>
                    <a:p>
                      <a:pPr>
                        <a:defRPr sz="1200">
                          <a:solidFill>
                            <a:srgbClr val="161616"/>
                          </a:solidFill>
                          <a:latin typeface="Segoe UI"/>
                        </a:defRPr>
                      </a:pPr>
                      <a:r>
                        <a:t>Administrator and analyst sessions</a:t>
                      </a:r>
                    </a:p>
                  </a:txBody>
                  <a:tcPr anchor="ctr">
                    <a:solidFill>
                      <a:srgbClr val="FFFFFF"/>
                    </a:solidFill>
                  </a:tcPr>
                </a:tc>
              </a:tr>
              <a:tr h="411480">
                <a:tc>
                  <a:txBody>
                    <a:bodyPr/>
                    <a:lstStyle/>
                    <a:p>
                      <a:pPr>
                        <a:defRPr sz="1200">
                          <a:solidFill>
                            <a:srgbClr val="161616"/>
                          </a:solidFill>
                          <a:latin typeface="Segoe UI"/>
                        </a:defRPr>
                      </a:pPr>
                      <a:r>
                        <a:t>Managed Services</a:t>
                      </a:r>
                    </a:p>
                  </a:txBody>
                  <a:tcPr anchor="ctr">
                    <a:solidFill>
                      <a:srgbClr val="E8E8E8"/>
                    </a:solidFill>
                  </a:tcPr>
                </a:tc>
                <a:tc>
                  <a:txBody>
                    <a:bodyPr/>
                    <a:lstStyle/>
                    <a:p>
                      <a:pPr>
                        <a:defRPr sz="1200">
                          <a:solidFill>
                            <a:srgbClr val="161616"/>
                          </a:solidFill>
                          <a:latin typeface="Segoe UI"/>
                        </a:defRPr>
                      </a:pPr>
                      <a:r>
                        <a:t>No</a:t>
                      </a:r>
                    </a:p>
                  </a:txBody>
                  <a:tcPr anchor="ctr">
                    <a:solidFill>
                      <a:srgbClr val="E8E8E8"/>
                    </a:solidFill>
                  </a:tcPr>
                </a:tc>
                <a:tc>
                  <a:txBody>
                    <a:bodyPr/>
                    <a:lstStyle/>
                    <a:p>
                      <a:pPr>
                        <a:defRPr sz="1200">
                          <a:solidFill>
                            <a:srgbClr val="161616"/>
                          </a:solidFill>
                          <a:latin typeface="Segoe UI"/>
                        </a:defRPr>
                      </a:pPr>
                      <a:r>
                        <a:t>Post-warranty support</a:t>
                      </a:r>
                    </a:p>
                  </a:txBody>
                  <a:tcPr anchor="ctr">
                    <a:solidFill>
                      <a:srgbClr val="E8E8E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548640"/>
          </a:xfrm>
          <a:prstGeom prst="rect">
            <a:avLst/>
          </a:prstGeom>
          <a:noFill/>
        </p:spPr>
        <p:txBody>
          <a:bodyPr wrap="none">
            <a:spAutoFit/>
          </a:bodyPr>
          <a:lstStyle/>
          <a:p>
            <a:r>
              <a:rPr sz="2800" b="1">
                <a:solidFill>
                  <a:srgbClr val="0F62FE"/>
                </a:solidFill>
                <a:latin typeface="Segoe UI"/>
              </a:rPr>
              <a:t>Project Overview</a:t>
            </a:r>
          </a:p>
          <a:p>
            <a:pPr>
              <a:spcBef>
                <a:spcPts val="400"/>
              </a:spcBef>
            </a:pPr>
            <a:r>
              <a:rPr sz="1600">
                <a:solidFill>
                  <a:srgbClr val="525252"/>
                </a:solidFill>
                <a:latin typeface="Segoe UI"/>
              </a:rPr>
              <a:t>Scope and Objectives at a Glance</a:t>
            </a:r>
          </a:p>
        </p:txBody>
      </p:sp>
      <p:sp>
        <p:nvSpPr>
          <p:cNvPr id="3" name="Rectangle 2"/>
          <p:cNvSpPr/>
          <p:nvPr/>
        </p:nvSpPr>
        <p:spPr>
          <a:xfrm>
            <a:off x="457200" y="1005840"/>
            <a:ext cx="1097280" cy="3200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188720"/>
            <a:ext cx="5577840" cy="5394960"/>
          </a:xfrm>
          <a:prstGeom prst="rect">
            <a:avLst/>
          </a:prstGeom>
          <a:solidFill>
            <a:srgbClr val="F8F8F8"/>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217920" y="1188720"/>
            <a:ext cx="5577840" cy="5394960"/>
          </a:xfrm>
          <a:prstGeom prst="rect">
            <a:avLst/>
          </a:prstGeom>
          <a:solidFill>
            <a:srgbClr val="F8F8F8"/>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371600"/>
            <a:ext cx="5303520" cy="25603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5303520" cy="41148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44752"/>
            <a:ext cx="5029200" cy="320040"/>
          </a:xfrm>
          <a:prstGeom prst="rect">
            <a:avLst/>
          </a:prstGeom>
          <a:noFill/>
        </p:spPr>
        <p:txBody>
          <a:bodyPr wrap="none">
            <a:spAutoFit/>
          </a:bodyPr>
          <a:lstStyle/>
          <a:p>
            <a:r>
              <a:rPr sz="1400" b="1">
                <a:solidFill>
                  <a:srgbClr val="FFFFFF"/>
                </a:solidFill>
                <a:latin typeface="Segoe UI"/>
              </a:rPr>
              <a:t>Project Details</a:t>
            </a:r>
          </a:p>
        </p:txBody>
      </p:sp>
      <p:sp>
        <p:nvSpPr>
          <p:cNvPr id="9" name="TextBox 8"/>
          <p:cNvSpPr txBox="1"/>
          <p:nvPr/>
        </p:nvSpPr>
        <p:spPr>
          <a:xfrm>
            <a:off x="640080" y="1828800"/>
            <a:ext cx="5029200" cy="2057400"/>
          </a:xfrm>
          <a:prstGeom prst="rect">
            <a:avLst/>
          </a:prstGeom>
          <a:noFill/>
        </p:spPr>
        <p:txBody>
          <a:bodyPr wrap="square">
            <a:spAutoFit/>
          </a:bodyPr>
          <a:lstStyle/>
          <a:p>
            <a:pPr>
              <a:spcBef>
                <a:spcPts val="300"/>
              </a:spcBef>
              <a:spcAft>
                <a:spcPts val="300"/>
              </a:spcAft>
            </a:pPr>
            <a:r>
              <a:rPr sz="1100">
                <a:solidFill>
                  <a:srgbClr val="161616"/>
                </a:solidFill>
                <a:latin typeface="Segoe UI"/>
              </a:rPr>
              <a:t>• Customer: [CUSTOMER_NAME]</a:t>
            </a:r>
          </a:p>
          <a:p>
            <a:pPr>
              <a:spcBef>
                <a:spcPts val="300"/>
              </a:spcBef>
              <a:spcAft>
                <a:spcPts val="300"/>
              </a:spcAft>
            </a:pPr>
            <a:r>
              <a:rPr sz="1100">
                <a:solidFill>
                  <a:srgbClr val="161616"/>
                </a:solidFill>
                <a:latin typeface="Segoe UI"/>
              </a:rPr>
              <a:t>• Project Type: SIEM Implementation</a:t>
            </a:r>
          </a:p>
          <a:p>
            <a:pPr>
              <a:spcBef>
                <a:spcPts val="300"/>
              </a:spcBef>
              <a:spcAft>
                <a:spcPts val="300"/>
              </a:spcAft>
            </a:pPr>
            <a:r>
              <a:rPr sz="1100">
                <a:solidFill>
                  <a:srgbClr val="161616"/>
                </a:solidFill>
                <a:latin typeface="Segoe UI"/>
              </a:rPr>
              <a:t>• Duration: 12 weeks</a:t>
            </a:r>
          </a:p>
          <a:p>
            <a:pPr>
              <a:spcBef>
                <a:spcPts val="300"/>
              </a:spcBef>
              <a:spcAft>
                <a:spcPts val="300"/>
              </a:spcAft>
            </a:pPr>
            <a:r>
              <a:rPr sz="1100">
                <a:solidFill>
                  <a:srgbClr val="161616"/>
                </a:solidFill>
                <a:latin typeface="Segoe UI"/>
              </a:rPr>
              <a:t>• Team Size: 8 resources</a:t>
            </a:r>
          </a:p>
          <a:p>
            <a:pPr>
              <a:spcBef>
                <a:spcPts val="300"/>
              </a:spcBef>
              <a:spcAft>
                <a:spcPts val="300"/>
              </a:spcAft>
            </a:pPr>
            <a:r>
              <a:rPr sz="1100">
                <a:solidFill>
                  <a:srgbClr val="161616"/>
                </a:solidFill>
                <a:latin typeface="Segoe UI"/>
              </a:rPr>
              <a:t>• Methodology: Agile/Iterative</a:t>
            </a:r>
          </a:p>
        </p:txBody>
      </p:sp>
      <p:sp>
        <p:nvSpPr>
          <p:cNvPr id="10" name="Rounded Rectangle 9"/>
          <p:cNvSpPr/>
          <p:nvPr/>
        </p:nvSpPr>
        <p:spPr>
          <a:xfrm>
            <a:off x="502920" y="3657600"/>
            <a:ext cx="5303520" cy="25603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657600"/>
            <a:ext cx="5303520" cy="411480"/>
          </a:xfrm>
          <a:prstGeom prst="rect">
            <a:avLst/>
          </a:prstGeom>
          <a:solidFill>
            <a:srgbClr val="198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730752"/>
            <a:ext cx="5029200" cy="320040"/>
          </a:xfrm>
          <a:prstGeom prst="rect">
            <a:avLst/>
          </a:prstGeom>
          <a:noFill/>
        </p:spPr>
        <p:txBody>
          <a:bodyPr wrap="none">
            <a:spAutoFit/>
          </a:bodyPr>
          <a:lstStyle/>
          <a:p>
            <a:r>
              <a:rPr sz="1400" b="1">
                <a:solidFill>
                  <a:srgbClr val="FFFFFF"/>
                </a:solidFill>
                <a:latin typeface="Segoe UI"/>
              </a:rPr>
              <a:t>Success Criteria</a:t>
            </a:r>
          </a:p>
        </p:txBody>
      </p:sp>
      <p:sp>
        <p:nvSpPr>
          <p:cNvPr id="13" name="TextBox 12"/>
          <p:cNvSpPr txBox="1"/>
          <p:nvPr/>
        </p:nvSpPr>
        <p:spPr>
          <a:xfrm>
            <a:off x="640080" y="4114800"/>
            <a:ext cx="5029200" cy="2057400"/>
          </a:xfrm>
          <a:prstGeom prst="rect">
            <a:avLst/>
          </a:prstGeom>
          <a:noFill/>
        </p:spPr>
        <p:txBody>
          <a:bodyPr wrap="square">
            <a:spAutoFit/>
          </a:bodyPr>
          <a:lstStyle/>
          <a:p>
            <a:pPr>
              <a:spcBef>
                <a:spcPts val="300"/>
              </a:spcBef>
              <a:spcAft>
                <a:spcPts val="300"/>
              </a:spcAft>
            </a:pPr>
            <a:r>
              <a:rPr sz="1100">
                <a:solidFill>
                  <a:srgbClr val="161616"/>
                </a:solidFill>
                <a:latin typeface="Segoe UI"/>
              </a:rPr>
              <a:t>• 24/7 log collection from all sources</a:t>
            </a:r>
          </a:p>
          <a:p>
            <a:pPr>
              <a:spcBef>
                <a:spcPts val="300"/>
              </a:spcBef>
              <a:spcAft>
                <a:spcPts val="300"/>
              </a:spcAft>
            </a:pPr>
            <a:r>
              <a:rPr sz="1100">
                <a:solidFill>
                  <a:srgbClr val="161616"/>
                </a:solidFill>
                <a:latin typeface="Segoe UI"/>
              </a:rPr>
              <a:t>• &lt; 5 minute mean time to detect</a:t>
            </a:r>
          </a:p>
          <a:p>
            <a:pPr>
              <a:spcBef>
                <a:spcPts val="300"/>
              </a:spcBef>
              <a:spcAft>
                <a:spcPts val="300"/>
              </a:spcAft>
            </a:pPr>
            <a:r>
              <a:rPr sz="1100">
                <a:solidFill>
                  <a:srgbClr val="161616"/>
                </a:solidFill>
                <a:latin typeface="Segoe UI"/>
              </a:rPr>
              <a:t>• 95%+ parsing accuracy</a:t>
            </a:r>
          </a:p>
          <a:p>
            <a:pPr>
              <a:spcBef>
                <a:spcPts val="300"/>
              </a:spcBef>
              <a:spcAft>
                <a:spcPts val="300"/>
              </a:spcAft>
            </a:pPr>
            <a:r>
              <a:rPr sz="1100">
                <a:solidFill>
                  <a:srgbClr val="161616"/>
                </a:solidFill>
                <a:latin typeface="Segoe UI"/>
              </a:rPr>
              <a:t>• Zero critical vulnerabilities</a:t>
            </a:r>
          </a:p>
          <a:p>
            <a:pPr>
              <a:spcBef>
                <a:spcPts val="300"/>
              </a:spcBef>
              <a:spcAft>
                <a:spcPts val="300"/>
              </a:spcAft>
            </a:pPr>
            <a:r>
              <a:rPr sz="1100">
                <a:solidFill>
                  <a:srgbClr val="161616"/>
                </a:solidFill>
                <a:latin typeface="Segoe UI"/>
              </a:rPr>
              <a:t>• Full team certification</a:t>
            </a:r>
          </a:p>
        </p:txBody>
      </p:sp>
      <p:sp>
        <p:nvSpPr>
          <p:cNvPr id="14" name="Rounded Rectangle 13"/>
          <p:cNvSpPr/>
          <p:nvPr/>
        </p:nvSpPr>
        <p:spPr>
          <a:xfrm>
            <a:off x="6400800" y="1371600"/>
            <a:ext cx="2560320" cy="1097280"/>
          </a:xfrm>
          <a:prstGeom prst="round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08760"/>
            <a:ext cx="2560320" cy="548640"/>
          </a:xfrm>
          <a:prstGeom prst="rect">
            <a:avLst/>
          </a:prstGeom>
          <a:noFill/>
        </p:spPr>
        <p:txBody>
          <a:bodyPr wrap="none">
            <a:spAutoFit/>
          </a:bodyPr>
          <a:lstStyle/>
          <a:p>
            <a:pPr algn="ctr"/>
            <a:r>
              <a:rPr sz="3200" b="1">
                <a:solidFill>
                  <a:srgbClr val="FFFFFF"/>
                </a:solidFill>
                <a:latin typeface="Segoe UI"/>
              </a:rPr>
              <a:t>24</a:t>
            </a:r>
          </a:p>
        </p:txBody>
      </p:sp>
      <p:sp>
        <p:nvSpPr>
          <p:cNvPr id="16" name="TextBox 15"/>
          <p:cNvSpPr txBox="1"/>
          <p:nvPr/>
        </p:nvSpPr>
        <p:spPr>
          <a:xfrm>
            <a:off x="6400800" y="2011680"/>
            <a:ext cx="2560320" cy="365760"/>
          </a:xfrm>
          <a:prstGeom prst="rect">
            <a:avLst/>
          </a:prstGeom>
          <a:noFill/>
        </p:spPr>
        <p:txBody>
          <a:bodyPr wrap="none">
            <a:spAutoFit/>
          </a:bodyPr>
          <a:lstStyle/>
          <a:p>
            <a:pPr algn="ctr"/>
            <a:r>
              <a:rPr sz="1100">
                <a:solidFill>
                  <a:srgbClr val="FFFFFF"/>
                </a:solidFill>
                <a:latin typeface="Segoe UI"/>
              </a:rPr>
              <a:t>Log Sources</a:t>
            </a:r>
          </a:p>
        </p:txBody>
      </p:sp>
      <p:sp>
        <p:nvSpPr>
          <p:cNvPr id="17" name="Rounded Rectangle 16"/>
          <p:cNvSpPr/>
          <p:nvPr/>
        </p:nvSpPr>
        <p:spPr>
          <a:xfrm>
            <a:off x="9144000" y="1371600"/>
            <a:ext cx="2560320" cy="1097280"/>
          </a:xfrm>
          <a:prstGeom prst="roundRect">
            <a:avLst/>
          </a:prstGeom>
          <a:solidFill>
            <a:srgbClr val="035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1508760"/>
            <a:ext cx="2560320" cy="548640"/>
          </a:xfrm>
          <a:prstGeom prst="rect">
            <a:avLst/>
          </a:prstGeom>
          <a:noFill/>
        </p:spPr>
        <p:txBody>
          <a:bodyPr wrap="none">
            <a:spAutoFit/>
          </a:bodyPr>
          <a:lstStyle/>
          <a:p>
            <a:pPr algn="ctr"/>
            <a:r>
              <a:rPr sz="3200" b="1">
                <a:solidFill>
                  <a:srgbClr val="FFFFFF"/>
                </a:solidFill>
                <a:latin typeface="Segoe UI"/>
              </a:rPr>
              <a:t>156</a:t>
            </a:r>
          </a:p>
        </p:txBody>
      </p:sp>
      <p:sp>
        <p:nvSpPr>
          <p:cNvPr id="19" name="TextBox 18"/>
          <p:cNvSpPr txBox="1"/>
          <p:nvPr/>
        </p:nvSpPr>
        <p:spPr>
          <a:xfrm>
            <a:off x="9144000" y="2011680"/>
            <a:ext cx="2560320" cy="365760"/>
          </a:xfrm>
          <a:prstGeom prst="rect">
            <a:avLst/>
          </a:prstGeom>
          <a:noFill/>
        </p:spPr>
        <p:txBody>
          <a:bodyPr wrap="none">
            <a:spAutoFit/>
          </a:bodyPr>
          <a:lstStyle/>
          <a:p>
            <a:pPr algn="ctr"/>
            <a:r>
              <a:rPr sz="1100">
                <a:solidFill>
                  <a:srgbClr val="FFFFFF"/>
                </a:solidFill>
                <a:latin typeface="Segoe UI"/>
              </a:rPr>
              <a:t>Detection Rules</a:t>
            </a:r>
          </a:p>
        </p:txBody>
      </p:sp>
      <p:sp>
        <p:nvSpPr>
          <p:cNvPr id="20" name="Rounded Rectangle 19"/>
          <p:cNvSpPr/>
          <p:nvPr/>
        </p:nvSpPr>
        <p:spPr>
          <a:xfrm>
            <a:off x="6400800" y="2743200"/>
            <a:ext cx="2560320" cy="1097280"/>
          </a:xfrm>
          <a:prstGeom prst="roundRect">
            <a:avLst/>
          </a:prstGeom>
          <a:solidFill>
            <a:srgbClr val="45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880360"/>
            <a:ext cx="2560320" cy="548640"/>
          </a:xfrm>
          <a:prstGeom prst="rect">
            <a:avLst/>
          </a:prstGeom>
          <a:noFill/>
        </p:spPr>
        <p:txBody>
          <a:bodyPr wrap="none">
            <a:spAutoFit/>
          </a:bodyPr>
          <a:lstStyle/>
          <a:p>
            <a:pPr algn="ctr"/>
            <a:r>
              <a:rPr sz="3200" b="1">
                <a:solidFill>
                  <a:srgbClr val="FFFFFF"/>
                </a:solidFill>
                <a:latin typeface="Segoe UI"/>
              </a:rPr>
              <a:t>12</a:t>
            </a:r>
          </a:p>
        </p:txBody>
      </p:sp>
      <p:sp>
        <p:nvSpPr>
          <p:cNvPr id="22" name="TextBox 21"/>
          <p:cNvSpPr txBox="1"/>
          <p:nvPr/>
        </p:nvSpPr>
        <p:spPr>
          <a:xfrm>
            <a:off x="6400800" y="3383280"/>
            <a:ext cx="2560320" cy="365760"/>
          </a:xfrm>
          <a:prstGeom prst="rect">
            <a:avLst/>
          </a:prstGeom>
          <a:noFill/>
        </p:spPr>
        <p:txBody>
          <a:bodyPr wrap="none">
            <a:spAutoFit/>
          </a:bodyPr>
          <a:lstStyle/>
          <a:p>
            <a:pPr algn="ctr"/>
            <a:r>
              <a:rPr sz="1100">
                <a:solidFill>
                  <a:srgbClr val="FFFFFF"/>
                </a:solidFill>
                <a:latin typeface="Segoe UI"/>
              </a:rPr>
              <a:t>Week Timeline</a:t>
            </a:r>
          </a:p>
        </p:txBody>
      </p:sp>
      <p:sp>
        <p:nvSpPr>
          <p:cNvPr id="23" name="Rounded Rectangle 22"/>
          <p:cNvSpPr/>
          <p:nvPr/>
        </p:nvSpPr>
        <p:spPr>
          <a:xfrm>
            <a:off x="9144000" y="2743200"/>
            <a:ext cx="2560320" cy="1097280"/>
          </a:xfrm>
          <a:prstGeom prst="round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0" y="2880360"/>
            <a:ext cx="2560320" cy="548640"/>
          </a:xfrm>
          <a:prstGeom prst="rect">
            <a:avLst/>
          </a:prstGeom>
          <a:noFill/>
        </p:spPr>
        <p:txBody>
          <a:bodyPr wrap="none">
            <a:spAutoFit/>
          </a:bodyPr>
          <a:lstStyle/>
          <a:p>
            <a:pPr algn="ctr"/>
            <a:r>
              <a:rPr sz="3200" b="1">
                <a:solidFill>
                  <a:srgbClr val="FFFFFF"/>
                </a:solidFill>
                <a:latin typeface="Segoe UI"/>
              </a:rPr>
              <a:t>8</a:t>
            </a:r>
          </a:p>
        </p:txBody>
      </p:sp>
      <p:sp>
        <p:nvSpPr>
          <p:cNvPr id="25" name="TextBox 24"/>
          <p:cNvSpPr txBox="1"/>
          <p:nvPr/>
        </p:nvSpPr>
        <p:spPr>
          <a:xfrm>
            <a:off x="9144000" y="3383280"/>
            <a:ext cx="2560320" cy="365760"/>
          </a:xfrm>
          <a:prstGeom prst="rect">
            <a:avLst/>
          </a:prstGeom>
          <a:noFill/>
        </p:spPr>
        <p:txBody>
          <a:bodyPr wrap="none">
            <a:spAutoFit/>
          </a:bodyPr>
          <a:lstStyle/>
          <a:p>
            <a:pPr algn="ctr"/>
            <a:r>
              <a:rPr sz="1100">
                <a:solidFill>
                  <a:srgbClr val="FFFFFF"/>
                </a:solidFill>
                <a:latin typeface="Segoe UI"/>
              </a:rPr>
              <a:t>Team Members</a:t>
            </a:r>
          </a:p>
        </p:txBody>
      </p:sp>
      <p:pic>
        <p:nvPicPr>
          <p:cNvPr id="26" name="Picture 25" descr="tmp0g3vtl2g.png"/>
          <p:cNvPicPr>
            <a:picLocks noChangeAspect="1"/>
          </p:cNvPicPr>
          <p:nvPr/>
        </p:nvPicPr>
        <p:blipFill>
          <a:blip r:embed="rId2"/>
          <a:stretch>
            <a:fillRect/>
          </a:stretch>
        </p:blipFill>
        <p:spPr>
          <a:xfrm>
            <a:off x="6355080" y="4389120"/>
            <a:ext cx="5394960" cy="109897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548640"/>
          </a:xfrm>
          <a:prstGeom prst="rect">
            <a:avLst/>
          </a:prstGeom>
          <a:noFill/>
        </p:spPr>
        <p:txBody>
          <a:bodyPr wrap="none">
            <a:spAutoFit/>
          </a:bodyPr>
          <a:lstStyle/>
          <a:p>
            <a:r>
              <a:rPr sz="2800" b="1">
                <a:solidFill>
                  <a:srgbClr val="0F62FE"/>
                </a:solidFill>
                <a:latin typeface="Segoe UI"/>
              </a:rPr>
              <a:t>Deliverables Breakdown</a:t>
            </a:r>
          </a:p>
          <a:p>
            <a:pPr>
              <a:spcBef>
                <a:spcPts val="400"/>
              </a:spcBef>
            </a:pPr>
            <a:r>
              <a:rPr sz="1600">
                <a:solidFill>
                  <a:srgbClr val="525252"/>
                </a:solidFill>
                <a:latin typeface="Segoe UI"/>
              </a:rPr>
              <a:t>Detailed scope components</a:t>
            </a:r>
          </a:p>
        </p:txBody>
      </p:sp>
      <p:sp>
        <p:nvSpPr>
          <p:cNvPr id="3" name="Rectangle 2"/>
          <p:cNvSpPr/>
          <p:nvPr/>
        </p:nvSpPr>
        <p:spPr>
          <a:xfrm>
            <a:off x="457200" y="1005840"/>
            <a:ext cx="1097280" cy="3200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188720"/>
            <a:ext cx="6766560" cy="5394960"/>
          </a:xfrm>
          <a:prstGeom prst="rect">
            <a:avLst/>
          </a:prstGeom>
          <a:solidFill>
            <a:srgbClr val="F8F8F8"/>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0" y="1188720"/>
            <a:ext cx="4480560" cy="5394960"/>
          </a:xfrm>
          <a:prstGeom prst="rect">
            <a:avLst/>
          </a:prstGeom>
          <a:solidFill>
            <a:srgbClr val="F8F8F8"/>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371600"/>
          <a:ext cx="6492240" cy="2560320"/>
        </p:xfrm>
        <a:graphic>
          <a:graphicData uri="http://schemas.openxmlformats.org/drawingml/2006/table">
            <a:tbl>
              <a:tblPr firstRow="1" bandRow="1">
                <a:tableStyleId>{5C22544A-7EE6-4342-B048-85BDC9FD1C3A}</a:tableStyleId>
              </a:tblPr>
              <a:tblGrid>
                <a:gridCol w="2164080"/>
                <a:gridCol w="2164080"/>
                <a:gridCol w="2164080"/>
              </a:tblGrid>
              <a:tr h="320040">
                <a:tc>
                  <a:txBody>
                    <a:bodyPr/>
                    <a:lstStyle/>
                    <a:p>
                      <a:pPr>
                        <a:defRPr sz="1000" b="1">
                          <a:solidFill>
                            <a:srgbClr val="FFFFFF"/>
                          </a:solidFill>
                          <a:latin typeface="Segoe UI"/>
                        </a:defRPr>
                      </a:pPr>
                      <a:r>
                        <a:t>Deliverable</a:t>
                      </a:r>
                    </a:p>
                  </a:txBody>
                  <a:tcPr anchor="ctr">
                    <a:solidFill>
                      <a:srgbClr val="0F62FE"/>
                    </a:solidFill>
                  </a:tcPr>
                </a:tc>
                <a:tc>
                  <a:txBody>
                    <a:bodyPr/>
                    <a:lstStyle/>
                    <a:p>
                      <a:pPr>
                        <a:defRPr sz="1000" b="1">
                          <a:solidFill>
                            <a:srgbClr val="FFFFFF"/>
                          </a:solidFill>
                          <a:latin typeface="Segoe UI"/>
                        </a:defRPr>
                      </a:pPr>
                      <a:r>
                        <a:t>Description</a:t>
                      </a:r>
                    </a:p>
                  </a:txBody>
                  <a:tcPr anchor="ctr">
                    <a:solidFill>
                      <a:srgbClr val="0F62FE"/>
                    </a:solidFill>
                  </a:tcPr>
                </a:tc>
                <a:tc>
                  <a:txBody>
                    <a:bodyPr/>
                    <a:lstStyle/>
                    <a:p>
                      <a:pPr>
                        <a:defRPr sz="1000" b="1">
                          <a:solidFill>
                            <a:srgbClr val="FFFFFF"/>
                          </a:solidFill>
                          <a:latin typeface="Segoe UI"/>
                        </a:defRPr>
                      </a:pPr>
                      <a:r>
                        <a:t>Priority</a:t>
                      </a:r>
                    </a:p>
                  </a:txBody>
                  <a:tcPr anchor="ctr">
                    <a:solidFill>
                      <a:srgbClr val="0F62FE"/>
                    </a:solidFill>
                  </a:tcPr>
                </a:tc>
              </a:tr>
              <a:tr h="320040">
                <a:tc>
                  <a:txBody>
                    <a:bodyPr/>
                    <a:lstStyle/>
                    <a:p>
                      <a:pPr>
                        <a:defRPr sz="1000">
                          <a:solidFill>
                            <a:srgbClr val="161616"/>
                          </a:solidFill>
                          <a:latin typeface="Segoe UI"/>
                        </a:defRPr>
                      </a:pPr>
                      <a:r>
                        <a:t>Platform Setup</a:t>
                      </a:r>
                    </a:p>
                  </a:txBody>
                  <a:tcPr anchor="ctr">
                    <a:solidFill>
                      <a:srgbClr val="FFFFFF"/>
                    </a:solidFill>
                  </a:tcPr>
                </a:tc>
                <a:tc>
                  <a:txBody>
                    <a:bodyPr/>
                    <a:lstStyle/>
                    <a:p>
                      <a:pPr>
                        <a:defRPr sz="1000">
                          <a:solidFill>
                            <a:srgbClr val="161616"/>
                          </a:solidFill>
                          <a:latin typeface="Segoe UI"/>
                        </a:defRPr>
                      </a:pPr>
                      <a:r>
                        <a:t>Core SIEM installation and configuration</a:t>
                      </a:r>
                    </a:p>
                  </a:txBody>
                  <a:tcPr anchor="ctr">
                    <a:solidFill>
                      <a:srgbClr val="FFFFFF"/>
                    </a:solidFill>
                  </a:tcPr>
                </a:tc>
                <a:tc>
                  <a:txBody>
                    <a:bodyPr/>
                    <a:lstStyle/>
                    <a:p>
                      <a:pPr>
                        <a:defRPr sz="1000">
                          <a:solidFill>
                            <a:srgbClr val="161616"/>
                          </a:solidFill>
                          <a:latin typeface="Segoe UI"/>
                        </a:defRPr>
                      </a:pPr>
                      <a:r>
                        <a:t>P1</a:t>
                      </a:r>
                    </a:p>
                  </a:txBody>
                  <a:tcPr anchor="ctr">
                    <a:solidFill>
                      <a:srgbClr val="FFFFFF"/>
                    </a:solidFill>
                  </a:tcPr>
                </a:tc>
              </a:tr>
              <a:tr h="320040">
                <a:tc>
                  <a:txBody>
                    <a:bodyPr/>
                    <a:lstStyle/>
                    <a:p>
                      <a:pPr>
                        <a:defRPr sz="1000">
                          <a:solidFill>
                            <a:srgbClr val="161616"/>
                          </a:solidFill>
                          <a:latin typeface="Segoe UI"/>
                        </a:defRPr>
                      </a:pPr>
                      <a:r>
                        <a:t>Log Integration</a:t>
                      </a:r>
                    </a:p>
                  </a:txBody>
                  <a:tcPr anchor="ctr">
                    <a:solidFill>
                      <a:srgbClr val="E8E8E8"/>
                    </a:solidFill>
                  </a:tcPr>
                </a:tc>
                <a:tc>
                  <a:txBody>
                    <a:bodyPr/>
                    <a:lstStyle/>
                    <a:p>
                      <a:pPr>
                        <a:defRPr sz="1000">
                          <a:solidFill>
                            <a:srgbClr val="161616"/>
                          </a:solidFill>
                          <a:latin typeface="Segoe UI"/>
                        </a:defRPr>
                      </a:pPr>
                      <a:r>
                        <a:t>Connect 24 log sources across 5 categories</a:t>
                      </a:r>
                    </a:p>
                  </a:txBody>
                  <a:tcPr anchor="ctr">
                    <a:solidFill>
                      <a:srgbClr val="E8E8E8"/>
                    </a:solidFill>
                  </a:tcPr>
                </a:tc>
                <a:tc>
                  <a:txBody>
                    <a:bodyPr/>
                    <a:lstStyle/>
                    <a:p>
                      <a:pPr>
                        <a:defRPr sz="1000">
                          <a:solidFill>
                            <a:srgbClr val="161616"/>
                          </a:solidFill>
                          <a:latin typeface="Segoe UI"/>
                        </a:defRPr>
                      </a:pPr>
                      <a:r>
                        <a:t>P1</a:t>
                      </a:r>
                    </a:p>
                  </a:txBody>
                  <a:tcPr anchor="ctr">
                    <a:solidFill>
                      <a:srgbClr val="E8E8E8"/>
                    </a:solidFill>
                  </a:tcPr>
                </a:tc>
              </a:tr>
              <a:tr h="320040">
                <a:tc>
                  <a:txBody>
                    <a:bodyPr/>
                    <a:lstStyle/>
                    <a:p>
                      <a:pPr>
                        <a:defRPr sz="1000">
                          <a:solidFill>
                            <a:srgbClr val="161616"/>
                          </a:solidFill>
                          <a:latin typeface="Segoe UI"/>
                        </a:defRPr>
                      </a:pPr>
                      <a:r>
                        <a:t>Detection Rules</a:t>
                      </a:r>
                    </a:p>
                  </a:txBody>
                  <a:tcPr anchor="ctr">
                    <a:solidFill>
                      <a:srgbClr val="FFFFFF"/>
                    </a:solidFill>
                  </a:tcPr>
                </a:tc>
                <a:tc>
                  <a:txBody>
                    <a:bodyPr/>
                    <a:lstStyle/>
                    <a:p>
                      <a:pPr>
                        <a:defRPr sz="1000">
                          <a:solidFill>
                            <a:srgbClr val="161616"/>
                          </a:solidFill>
                          <a:latin typeface="Segoe UI"/>
                        </a:defRPr>
                      </a:pPr>
                      <a:r>
                        <a:t>156 custom rules + threat intelligence</a:t>
                      </a:r>
                    </a:p>
                  </a:txBody>
                  <a:tcPr anchor="ctr">
                    <a:solidFill>
                      <a:srgbClr val="FFFFFF"/>
                    </a:solidFill>
                  </a:tcPr>
                </a:tc>
                <a:tc>
                  <a:txBody>
                    <a:bodyPr/>
                    <a:lstStyle/>
                    <a:p>
                      <a:pPr>
                        <a:defRPr sz="1000">
                          <a:solidFill>
                            <a:srgbClr val="161616"/>
                          </a:solidFill>
                          <a:latin typeface="Segoe UI"/>
                        </a:defRPr>
                      </a:pPr>
                      <a:r>
                        <a:t>P1</a:t>
                      </a:r>
                    </a:p>
                  </a:txBody>
                  <a:tcPr anchor="ctr">
                    <a:solidFill>
                      <a:srgbClr val="FFFFFF"/>
                    </a:solidFill>
                  </a:tcPr>
                </a:tc>
              </a:tr>
              <a:tr h="320040">
                <a:tc>
                  <a:txBody>
                    <a:bodyPr/>
                    <a:lstStyle/>
                    <a:p>
                      <a:pPr>
                        <a:defRPr sz="1000">
                          <a:solidFill>
                            <a:srgbClr val="161616"/>
                          </a:solidFill>
                          <a:latin typeface="Segoe UI"/>
                        </a:defRPr>
                      </a:pPr>
                      <a:r>
                        <a:t>Dashboards</a:t>
                      </a:r>
                    </a:p>
                  </a:txBody>
                  <a:tcPr anchor="ctr">
                    <a:solidFill>
                      <a:srgbClr val="E8E8E8"/>
                    </a:solidFill>
                  </a:tcPr>
                </a:tc>
                <a:tc>
                  <a:txBody>
                    <a:bodyPr/>
                    <a:lstStyle/>
                    <a:p>
                      <a:pPr>
                        <a:defRPr sz="1000">
                          <a:solidFill>
                            <a:srgbClr val="161616"/>
                          </a:solidFill>
                          <a:latin typeface="Segoe UI"/>
                        </a:defRPr>
                      </a:pPr>
                      <a:r>
                        <a:t>12 operational dashboards + reports</a:t>
                      </a:r>
                    </a:p>
                  </a:txBody>
                  <a:tcPr anchor="ctr">
                    <a:solidFill>
                      <a:srgbClr val="E8E8E8"/>
                    </a:solidFill>
                  </a:tcPr>
                </a:tc>
                <a:tc>
                  <a:txBody>
                    <a:bodyPr/>
                    <a:lstStyle/>
                    <a:p>
                      <a:pPr>
                        <a:defRPr sz="1000">
                          <a:solidFill>
                            <a:srgbClr val="161616"/>
                          </a:solidFill>
                          <a:latin typeface="Segoe UI"/>
                        </a:defRPr>
                      </a:pPr>
                      <a:r>
                        <a:t>P2</a:t>
                      </a:r>
                    </a:p>
                  </a:txBody>
                  <a:tcPr anchor="ctr">
                    <a:solidFill>
                      <a:srgbClr val="E8E8E8"/>
                    </a:solidFill>
                  </a:tcPr>
                </a:tc>
              </a:tr>
              <a:tr h="320040">
                <a:tc>
                  <a:txBody>
                    <a:bodyPr/>
                    <a:lstStyle/>
                    <a:p>
                      <a:pPr>
                        <a:defRPr sz="1000">
                          <a:solidFill>
                            <a:srgbClr val="161616"/>
                          </a:solidFill>
                          <a:latin typeface="Segoe UI"/>
                        </a:defRPr>
                      </a:pPr>
                      <a:r>
                        <a:t>SOAR Integration</a:t>
                      </a:r>
                    </a:p>
                  </a:txBody>
                  <a:tcPr anchor="ctr">
                    <a:solidFill>
                      <a:srgbClr val="FFFFFF"/>
                    </a:solidFill>
                  </a:tcPr>
                </a:tc>
                <a:tc>
                  <a:txBody>
                    <a:bodyPr/>
                    <a:lstStyle/>
                    <a:p>
                      <a:pPr>
                        <a:defRPr sz="1000">
                          <a:solidFill>
                            <a:srgbClr val="161616"/>
                          </a:solidFill>
                          <a:latin typeface="Segoe UI"/>
                        </a:defRPr>
                      </a:pPr>
                      <a:r>
                        <a:t>Automated response playbooks</a:t>
                      </a:r>
                    </a:p>
                  </a:txBody>
                  <a:tcPr anchor="ctr">
                    <a:solidFill>
                      <a:srgbClr val="FFFFFF"/>
                    </a:solidFill>
                  </a:tcPr>
                </a:tc>
                <a:tc>
                  <a:txBody>
                    <a:bodyPr/>
                    <a:lstStyle/>
                    <a:p>
                      <a:pPr>
                        <a:defRPr sz="1000">
                          <a:solidFill>
                            <a:srgbClr val="161616"/>
                          </a:solidFill>
                          <a:latin typeface="Segoe UI"/>
                        </a:defRPr>
                      </a:pPr>
                      <a:r>
                        <a:t>P2</a:t>
                      </a:r>
                    </a:p>
                  </a:txBody>
                  <a:tcPr anchor="ctr">
                    <a:solidFill>
                      <a:srgbClr val="FFFFFF"/>
                    </a:solidFill>
                  </a:tcPr>
                </a:tc>
              </a:tr>
              <a:tr h="320040">
                <a:tc>
                  <a:txBody>
                    <a:bodyPr/>
                    <a:lstStyle/>
                    <a:p>
                      <a:pPr>
                        <a:defRPr sz="1000">
                          <a:solidFill>
                            <a:srgbClr val="161616"/>
                          </a:solidFill>
                          <a:latin typeface="Segoe UI"/>
                        </a:defRPr>
                      </a:pPr>
                      <a:r>
                        <a:t>Training</a:t>
                      </a:r>
                    </a:p>
                  </a:txBody>
                  <a:tcPr anchor="ctr">
                    <a:solidFill>
                      <a:srgbClr val="E8E8E8"/>
                    </a:solidFill>
                  </a:tcPr>
                </a:tc>
                <a:tc>
                  <a:txBody>
                    <a:bodyPr/>
                    <a:lstStyle/>
                    <a:p>
                      <a:pPr>
                        <a:defRPr sz="1000">
                          <a:solidFill>
                            <a:srgbClr val="161616"/>
                          </a:solidFill>
                          <a:latin typeface="Segoe UI"/>
                        </a:defRPr>
                      </a:pPr>
                      <a:r>
                        <a:t>Admin + Analyst certification courses</a:t>
                      </a:r>
                    </a:p>
                  </a:txBody>
                  <a:tcPr anchor="ctr">
                    <a:solidFill>
                      <a:srgbClr val="E8E8E8"/>
                    </a:solidFill>
                  </a:tcPr>
                </a:tc>
                <a:tc>
                  <a:txBody>
                    <a:bodyPr/>
                    <a:lstStyle/>
                    <a:p>
                      <a:pPr>
                        <a:defRPr sz="1000">
                          <a:solidFill>
                            <a:srgbClr val="161616"/>
                          </a:solidFill>
                          <a:latin typeface="Segoe UI"/>
                        </a:defRPr>
                      </a:pPr>
                      <a:r>
                        <a:t>P2</a:t>
                      </a:r>
                    </a:p>
                  </a:txBody>
                  <a:tcPr anchor="ctr">
                    <a:solidFill>
                      <a:srgbClr val="E8E8E8"/>
                    </a:solidFill>
                  </a:tcPr>
                </a:tc>
              </a:tr>
              <a:tr h="320040">
                <a:tc>
                  <a:txBody>
                    <a:bodyPr/>
                    <a:lstStyle/>
                    <a:p>
                      <a:pPr>
                        <a:defRPr sz="1000">
                          <a:solidFill>
                            <a:srgbClr val="161616"/>
                          </a:solidFill>
                          <a:latin typeface="Segoe UI"/>
                        </a:defRPr>
                      </a:pPr>
                      <a:r>
                        <a:t>Documentation</a:t>
                      </a:r>
                    </a:p>
                  </a:txBody>
                  <a:tcPr anchor="ctr">
                    <a:solidFill>
                      <a:srgbClr val="FFFFFF"/>
                    </a:solidFill>
                  </a:tcPr>
                </a:tc>
                <a:tc>
                  <a:txBody>
                    <a:bodyPr/>
                    <a:lstStyle/>
                    <a:p>
                      <a:pPr>
                        <a:defRPr sz="1000">
                          <a:solidFill>
                            <a:srgbClr val="161616"/>
                          </a:solidFill>
                          <a:latin typeface="Segoe UI"/>
                        </a:defRPr>
                      </a:pPr>
                      <a:r>
                        <a:t>Runbooks, SOPs, architecture docs</a:t>
                      </a:r>
                    </a:p>
                  </a:txBody>
                  <a:tcPr anchor="ctr">
                    <a:solidFill>
                      <a:srgbClr val="FFFFFF"/>
                    </a:solidFill>
                  </a:tcPr>
                </a:tc>
                <a:tc>
                  <a:txBody>
                    <a:bodyPr/>
                    <a:lstStyle/>
                    <a:p>
                      <a:pPr>
                        <a:defRPr sz="1000">
                          <a:solidFill>
                            <a:srgbClr val="161616"/>
                          </a:solidFill>
                          <a:latin typeface="Segoe UI"/>
                        </a:defRPr>
                      </a:pPr>
                      <a:r>
                        <a:t>P3</a:t>
                      </a:r>
                    </a:p>
                  </a:txBody>
                  <a:tcPr anchor="ctr">
                    <a:solidFill>
                      <a:srgbClr val="FFFFFF"/>
                    </a:solidFill>
                  </a:tcPr>
                </a:tc>
              </a:tr>
            </a:tbl>
          </a:graphicData>
        </a:graphic>
      </p:graphicFrame>
      <p:pic>
        <p:nvPicPr>
          <p:cNvPr id="7" name="Picture 6" descr="tmp7xv_7q7i.png"/>
          <p:cNvPicPr>
            <a:picLocks noChangeAspect="1"/>
          </p:cNvPicPr>
          <p:nvPr/>
        </p:nvPicPr>
        <p:blipFill>
          <a:blip r:embed="rId2"/>
          <a:stretch>
            <a:fillRect/>
          </a:stretch>
        </p:blipFill>
        <p:spPr>
          <a:xfrm>
            <a:off x="7498079" y="1371600"/>
            <a:ext cx="4114800" cy="2707105"/>
          </a:xfrm>
          <a:prstGeom prst="rect">
            <a:avLst/>
          </a:prstGeom>
        </p:spPr>
      </p:pic>
      <p:sp>
        <p:nvSpPr>
          <p:cNvPr id="8" name="Oval 7"/>
          <p:cNvSpPr/>
          <p:nvPr/>
        </p:nvSpPr>
        <p:spPr>
          <a:xfrm>
            <a:off x="7589520" y="4617720"/>
            <a:ext cx="137160" cy="137160"/>
          </a:xfrm>
          <a:prstGeom prst="ellipse">
            <a:avLst/>
          </a:prstGeom>
          <a:solidFill>
            <a:srgbClr val="198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90688" y="4572000"/>
            <a:ext cx="2084831" cy="228600"/>
          </a:xfrm>
          <a:prstGeom prst="rect">
            <a:avLst/>
          </a:prstGeom>
          <a:noFill/>
        </p:spPr>
        <p:txBody>
          <a:bodyPr wrap="none">
            <a:spAutoFit/>
          </a:bodyPr>
          <a:lstStyle/>
          <a:p>
            <a:r>
              <a:rPr sz="1100">
                <a:solidFill>
                  <a:srgbClr val="161616"/>
                </a:solidFill>
                <a:latin typeface="Segoe UI"/>
              </a:rPr>
              <a:t>Requirements Gathered</a:t>
            </a:r>
          </a:p>
        </p:txBody>
      </p:sp>
      <p:sp>
        <p:nvSpPr>
          <p:cNvPr id="10" name="Oval 9"/>
          <p:cNvSpPr/>
          <p:nvPr/>
        </p:nvSpPr>
        <p:spPr>
          <a:xfrm>
            <a:off x="7589520" y="4937759"/>
            <a:ext cx="137160" cy="137160"/>
          </a:xfrm>
          <a:prstGeom prst="ellipse">
            <a:avLst/>
          </a:prstGeom>
          <a:solidFill>
            <a:srgbClr val="198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90688" y="4892040"/>
            <a:ext cx="2084831" cy="228600"/>
          </a:xfrm>
          <a:prstGeom prst="rect">
            <a:avLst/>
          </a:prstGeom>
          <a:noFill/>
        </p:spPr>
        <p:txBody>
          <a:bodyPr wrap="none">
            <a:spAutoFit/>
          </a:bodyPr>
          <a:lstStyle/>
          <a:p>
            <a:r>
              <a:rPr sz="1100">
                <a:solidFill>
                  <a:srgbClr val="161616"/>
                </a:solidFill>
                <a:latin typeface="Segoe UI"/>
              </a:rPr>
              <a:t>Architecture Approved</a:t>
            </a:r>
          </a:p>
        </p:txBody>
      </p:sp>
      <p:sp>
        <p:nvSpPr>
          <p:cNvPr id="12" name="Oval 11"/>
          <p:cNvSpPr/>
          <p:nvPr/>
        </p:nvSpPr>
        <p:spPr>
          <a:xfrm>
            <a:off x="7589520" y="5257800"/>
            <a:ext cx="137160" cy="137160"/>
          </a:xfrm>
          <a:prstGeom prst="ellipse">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90688" y="5212080"/>
            <a:ext cx="2084831" cy="228600"/>
          </a:xfrm>
          <a:prstGeom prst="rect">
            <a:avLst/>
          </a:prstGeom>
          <a:noFill/>
        </p:spPr>
        <p:txBody>
          <a:bodyPr wrap="none">
            <a:spAutoFit/>
          </a:bodyPr>
          <a:lstStyle/>
          <a:p>
            <a:r>
              <a:rPr sz="1100">
                <a:solidFill>
                  <a:srgbClr val="161616"/>
                </a:solidFill>
                <a:latin typeface="Segoe UI"/>
              </a:rPr>
              <a:t>Infrastructure Ready</a:t>
            </a:r>
          </a:p>
        </p:txBody>
      </p:sp>
      <p:sp>
        <p:nvSpPr>
          <p:cNvPr id="14" name="Oval 13"/>
          <p:cNvSpPr/>
          <p:nvPr/>
        </p:nvSpPr>
        <p:spPr>
          <a:xfrm>
            <a:off x="7589520" y="5577840"/>
            <a:ext cx="137160" cy="137160"/>
          </a:xfrm>
          <a:prstGeom prst="ellipse">
            <a:avLst/>
          </a:prstGeom>
          <a:solidFill>
            <a:srgbClr val="F1C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90688" y="5532120"/>
            <a:ext cx="2084831" cy="228600"/>
          </a:xfrm>
          <a:prstGeom prst="rect">
            <a:avLst/>
          </a:prstGeom>
          <a:noFill/>
        </p:spPr>
        <p:txBody>
          <a:bodyPr wrap="none">
            <a:spAutoFit/>
          </a:bodyPr>
          <a:lstStyle/>
          <a:p>
            <a:r>
              <a:rPr sz="1100">
                <a:solidFill>
                  <a:srgbClr val="161616"/>
                </a:solidFill>
                <a:latin typeface="Segoe UI"/>
              </a:rPr>
              <a:t>Log Access Confirmed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0"/>
            <a:ext cx="10789920" cy="914400"/>
          </a:xfrm>
          <a:prstGeom prst="rect">
            <a:avLst/>
          </a:prstGeom>
          <a:noFill/>
        </p:spPr>
        <p:txBody>
          <a:bodyPr wrap="none">
            <a:spAutoFit/>
          </a:bodyPr>
          <a:lstStyle/>
          <a:p>
            <a:pPr algn="ctr"/>
            <a:r>
              <a:rPr sz="7200" b="1">
                <a:solidFill>
                  <a:srgbClr val="0F62FE"/>
                </a:solidFill>
                <a:latin typeface="Segoe UI"/>
              </a:rPr>
              <a:t>03</a:t>
            </a:r>
          </a:p>
        </p:txBody>
      </p:sp>
      <p:sp>
        <p:nvSpPr>
          <p:cNvPr id="4" name="TextBox 3"/>
          <p:cNvSpPr txBox="1"/>
          <p:nvPr/>
        </p:nvSpPr>
        <p:spPr>
          <a:xfrm>
            <a:off x="685800" y="3474720"/>
            <a:ext cx="10789920" cy="731520"/>
          </a:xfrm>
          <a:prstGeom prst="rect">
            <a:avLst/>
          </a:prstGeom>
          <a:noFill/>
        </p:spPr>
        <p:txBody>
          <a:bodyPr wrap="none">
            <a:spAutoFit/>
          </a:bodyPr>
          <a:lstStyle/>
          <a:p>
            <a:pPr algn="ctr"/>
            <a:r>
              <a:rPr sz="3600">
                <a:solidFill>
                  <a:srgbClr val="161616"/>
                </a:solidFill>
                <a:latin typeface="Segoe UI"/>
              </a:rPr>
              <a:t>Technical Architecture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SIEM Architecture</a:t>
            </a:r>
          </a:p>
          <a:p>
            <a:pPr>
              <a:spcBef>
                <a:spcPts val="600"/>
              </a:spcBef>
            </a:pPr>
            <a:r>
              <a:rPr sz="2000">
                <a:solidFill>
                  <a:srgbClr val="525252"/>
                </a:solidFill>
                <a:latin typeface="Segoe UI"/>
              </a:rPr>
              <a:t>Editable diagram - click text to customize</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ctdr9fa7.png"/>
          <p:cNvPicPr>
            <a:picLocks noChangeAspect="1"/>
          </p:cNvPicPr>
          <p:nvPr/>
        </p:nvPicPr>
        <p:blipFill>
          <a:blip r:embed="rId2"/>
          <a:stretch>
            <a:fillRect/>
          </a:stretch>
        </p:blipFill>
        <p:spPr>
          <a:xfrm>
            <a:off x="365760" y="1371600"/>
            <a:ext cx="11430000" cy="4987636"/>
          </a:xfrm>
          <a:prstGeom prst="rect">
            <a:avLst/>
          </a:prstGeom>
        </p:spPr>
      </p:pic>
      <p:sp>
        <p:nvSpPr>
          <p:cNvPr id="5" name="TextBox 4"/>
          <p:cNvSpPr txBox="1"/>
          <p:nvPr/>
        </p:nvSpPr>
        <p:spPr>
          <a:xfrm>
            <a:off x="573578" y="1423554"/>
            <a:ext cx="1371600" cy="228600"/>
          </a:xfrm>
          <a:prstGeom prst="rect">
            <a:avLst/>
          </a:prstGeom>
          <a:noFill/>
        </p:spPr>
        <p:txBody>
          <a:bodyPr wrap="none">
            <a:spAutoFit/>
          </a:bodyPr>
          <a:lstStyle/>
          <a:p>
            <a:r>
              <a:rPr sz="1000" b="1">
                <a:solidFill>
                  <a:srgbClr val="525252"/>
                </a:solidFill>
                <a:latin typeface="Segoe UI"/>
              </a:rPr>
              <a:t>PRESENTATION TIER</a:t>
            </a:r>
          </a:p>
        </p:txBody>
      </p:sp>
      <p:sp>
        <p:nvSpPr>
          <p:cNvPr id="6" name="TextBox 5"/>
          <p:cNvSpPr txBox="1"/>
          <p:nvPr/>
        </p:nvSpPr>
        <p:spPr>
          <a:xfrm>
            <a:off x="573578" y="2670463"/>
            <a:ext cx="1371600" cy="228600"/>
          </a:xfrm>
          <a:prstGeom prst="rect">
            <a:avLst/>
          </a:prstGeom>
          <a:noFill/>
        </p:spPr>
        <p:txBody>
          <a:bodyPr wrap="none">
            <a:spAutoFit/>
          </a:bodyPr>
          <a:lstStyle/>
          <a:p>
            <a:r>
              <a:rPr sz="1000" b="1">
                <a:solidFill>
                  <a:srgbClr val="525252"/>
                </a:solidFill>
                <a:latin typeface="Segoe UI"/>
              </a:rPr>
              <a:t>PROCESSING TIER</a:t>
            </a:r>
          </a:p>
        </p:txBody>
      </p:sp>
      <p:sp>
        <p:nvSpPr>
          <p:cNvPr id="7" name="TextBox 6"/>
          <p:cNvSpPr txBox="1"/>
          <p:nvPr/>
        </p:nvSpPr>
        <p:spPr>
          <a:xfrm>
            <a:off x="573578" y="3917372"/>
            <a:ext cx="1371600" cy="228600"/>
          </a:xfrm>
          <a:prstGeom prst="rect">
            <a:avLst/>
          </a:prstGeom>
          <a:noFill/>
        </p:spPr>
        <p:txBody>
          <a:bodyPr wrap="none">
            <a:spAutoFit/>
          </a:bodyPr>
          <a:lstStyle/>
          <a:p>
            <a:r>
              <a:rPr sz="1000" b="1">
                <a:solidFill>
                  <a:srgbClr val="525252"/>
                </a:solidFill>
                <a:latin typeface="Segoe UI"/>
              </a:rPr>
              <a:t>COLLECTION TIER</a:t>
            </a:r>
          </a:p>
        </p:txBody>
      </p:sp>
      <p:sp>
        <p:nvSpPr>
          <p:cNvPr id="8" name="TextBox 7"/>
          <p:cNvSpPr txBox="1"/>
          <p:nvPr/>
        </p:nvSpPr>
        <p:spPr>
          <a:xfrm>
            <a:off x="573578" y="5164281"/>
            <a:ext cx="1371600" cy="228600"/>
          </a:xfrm>
          <a:prstGeom prst="rect">
            <a:avLst/>
          </a:prstGeom>
          <a:noFill/>
        </p:spPr>
        <p:txBody>
          <a:bodyPr wrap="none">
            <a:spAutoFit/>
          </a:bodyPr>
          <a:lstStyle/>
          <a:p>
            <a:r>
              <a:rPr sz="1000" b="1">
                <a:solidFill>
                  <a:srgbClr val="525252"/>
                </a:solidFill>
                <a:latin typeface="Segoe UI"/>
              </a:rPr>
              <a:t>DATA SOURCES</a:t>
            </a:r>
          </a:p>
        </p:txBody>
      </p:sp>
      <p:sp>
        <p:nvSpPr>
          <p:cNvPr id="9" name="TextBox 8"/>
          <p:cNvSpPr txBox="1"/>
          <p:nvPr/>
        </p:nvSpPr>
        <p:spPr>
          <a:xfrm>
            <a:off x="1197032" y="1839190"/>
            <a:ext cx="1662545" cy="571500"/>
          </a:xfrm>
          <a:prstGeom prst="rect">
            <a:avLst/>
          </a:prstGeom>
          <a:noFill/>
        </p:spPr>
        <p:txBody>
          <a:bodyPr wrap="square">
            <a:spAutoFit/>
          </a:bodyPr>
          <a:lstStyle/>
          <a:p>
            <a:pPr algn="ctr">
              <a:spcBef>
                <a:spcPts val="800"/>
              </a:spcBef>
            </a:pPr>
            <a:r>
              <a:rPr sz="1200" b="1">
                <a:solidFill>
                  <a:srgbClr val="FFFFFF"/>
                </a:solidFill>
                <a:latin typeface="Segoe UI"/>
              </a:rPr>
              <a:t>Dashboards</a:t>
            </a:r>
          </a:p>
          <a:p>
            <a:pPr algn="ctr">
              <a:spcBef>
                <a:spcPts val="200"/>
              </a:spcBef>
            </a:pPr>
            <a:r>
              <a:rPr sz="1000">
                <a:solidFill>
                  <a:srgbClr val="E0E0E0"/>
                </a:solidFill>
                <a:latin typeface="Segoe UI"/>
              </a:rPr>
              <a:t>Real-time Views</a:t>
            </a:r>
          </a:p>
        </p:txBody>
      </p:sp>
      <p:sp>
        <p:nvSpPr>
          <p:cNvPr id="10" name="TextBox 9"/>
          <p:cNvSpPr txBox="1"/>
          <p:nvPr/>
        </p:nvSpPr>
        <p:spPr>
          <a:xfrm>
            <a:off x="3171305" y="1839190"/>
            <a:ext cx="1662545" cy="571500"/>
          </a:xfrm>
          <a:prstGeom prst="rect">
            <a:avLst/>
          </a:prstGeom>
          <a:noFill/>
        </p:spPr>
        <p:txBody>
          <a:bodyPr wrap="square">
            <a:spAutoFit/>
          </a:bodyPr>
          <a:lstStyle/>
          <a:p>
            <a:pPr algn="ctr">
              <a:spcBef>
                <a:spcPts val="800"/>
              </a:spcBef>
            </a:pPr>
            <a:r>
              <a:rPr sz="1200" b="1">
                <a:solidFill>
                  <a:srgbClr val="FFFFFF"/>
                </a:solidFill>
                <a:latin typeface="Segoe UI"/>
              </a:rPr>
              <a:t>Alerts</a:t>
            </a:r>
          </a:p>
          <a:p>
            <a:pPr algn="ctr">
              <a:spcBef>
                <a:spcPts val="200"/>
              </a:spcBef>
            </a:pPr>
            <a:r>
              <a:rPr sz="1000">
                <a:solidFill>
                  <a:srgbClr val="E0E0E0"/>
                </a:solidFill>
                <a:latin typeface="Segoe UI"/>
              </a:rPr>
              <a:t>Notifications</a:t>
            </a:r>
          </a:p>
        </p:txBody>
      </p:sp>
      <p:sp>
        <p:nvSpPr>
          <p:cNvPr id="11" name="TextBox 10"/>
          <p:cNvSpPr txBox="1"/>
          <p:nvPr/>
        </p:nvSpPr>
        <p:spPr>
          <a:xfrm>
            <a:off x="5145578" y="1839190"/>
            <a:ext cx="1662545" cy="571500"/>
          </a:xfrm>
          <a:prstGeom prst="rect">
            <a:avLst/>
          </a:prstGeom>
          <a:noFill/>
        </p:spPr>
        <p:txBody>
          <a:bodyPr wrap="square">
            <a:spAutoFit/>
          </a:bodyPr>
          <a:lstStyle/>
          <a:p>
            <a:pPr algn="ctr">
              <a:spcBef>
                <a:spcPts val="800"/>
              </a:spcBef>
            </a:pPr>
            <a:r>
              <a:rPr sz="1200" b="1">
                <a:solidFill>
                  <a:srgbClr val="FFFFFF"/>
                </a:solidFill>
                <a:latin typeface="Segoe UI"/>
              </a:rPr>
              <a:t>Reports</a:t>
            </a:r>
          </a:p>
          <a:p>
            <a:pPr algn="ctr">
              <a:spcBef>
                <a:spcPts val="200"/>
              </a:spcBef>
            </a:pPr>
            <a:r>
              <a:rPr sz="1000">
                <a:solidFill>
                  <a:srgbClr val="E0E0E0"/>
                </a:solidFill>
                <a:latin typeface="Segoe UI"/>
              </a:rPr>
              <a:t>Scheduled</a:t>
            </a:r>
          </a:p>
        </p:txBody>
      </p:sp>
      <p:sp>
        <p:nvSpPr>
          <p:cNvPr id="12" name="TextBox 11"/>
          <p:cNvSpPr txBox="1"/>
          <p:nvPr/>
        </p:nvSpPr>
        <p:spPr>
          <a:xfrm>
            <a:off x="7119850" y="1839190"/>
            <a:ext cx="1662545" cy="571500"/>
          </a:xfrm>
          <a:prstGeom prst="rect">
            <a:avLst/>
          </a:prstGeom>
          <a:noFill/>
        </p:spPr>
        <p:txBody>
          <a:bodyPr wrap="square">
            <a:spAutoFit/>
          </a:bodyPr>
          <a:lstStyle/>
          <a:p>
            <a:pPr algn="ctr">
              <a:spcBef>
                <a:spcPts val="800"/>
              </a:spcBef>
            </a:pPr>
            <a:r>
              <a:rPr sz="1200" b="1">
                <a:solidFill>
                  <a:srgbClr val="FFFFFF"/>
                </a:solidFill>
                <a:latin typeface="Segoe UI"/>
              </a:rPr>
              <a:t>Investigation</a:t>
            </a:r>
          </a:p>
          <a:p>
            <a:pPr algn="ctr">
              <a:spcBef>
                <a:spcPts val="200"/>
              </a:spcBef>
            </a:pPr>
            <a:r>
              <a:rPr sz="1000">
                <a:solidFill>
                  <a:srgbClr val="E0E0E0"/>
                </a:solidFill>
                <a:latin typeface="Segoe UI"/>
              </a:rPr>
              <a:t>Ad-hoc Search</a:t>
            </a:r>
          </a:p>
        </p:txBody>
      </p:sp>
      <p:sp>
        <p:nvSpPr>
          <p:cNvPr id="13" name="TextBox 12"/>
          <p:cNvSpPr txBox="1"/>
          <p:nvPr/>
        </p:nvSpPr>
        <p:spPr>
          <a:xfrm>
            <a:off x="1404850" y="3086100"/>
            <a:ext cx="2078181" cy="571500"/>
          </a:xfrm>
          <a:prstGeom prst="rect">
            <a:avLst/>
          </a:prstGeom>
          <a:noFill/>
        </p:spPr>
        <p:txBody>
          <a:bodyPr wrap="square">
            <a:spAutoFit/>
          </a:bodyPr>
          <a:lstStyle/>
          <a:p>
            <a:pPr algn="ctr">
              <a:spcBef>
                <a:spcPts val="800"/>
              </a:spcBef>
            </a:pPr>
            <a:r>
              <a:rPr sz="1200" b="1">
                <a:solidFill>
                  <a:srgbClr val="FFFFFF"/>
                </a:solidFill>
                <a:latin typeface="Segoe UI"/>
              </a:rPr>
              <a:t>Indexer Cluster</a:t>
            </a:r>
          </a:p>
          <a:p>
            <a:pPr algn="ctr">
              <a:spcBef>
                <a:spcPts val="200"/>
              </a:spcBef>
            </a:pPr>
            <a:r>
              <a:rPr sz="1000">
                <a:solidFill>
                  <a:srgbClr val="E0E0E0"/>
                </a:solidFill>
                <a:latin typeface="Segoe UI"/>
              </a:rPr>
              <a:t>Index &amp; Store Events</a:t>
            </a:r>
          </a:p>
        </p:txBody>
      </p:sp>
      <p:sp>
        <p:nvSpPr>
          <p:cNvPr id="14" name="TextBox 13"/>
          <p:cNvSpPr txBox="1"/>
          <p:nvPr/>
        </p:nvSpPr>
        <p:spPr>
          <a:xfrm>
            <a:off x="4002578" y="3086100"/>
            <a:ext cx="2078181" cy="571500"/>
          </a:xfrm>
          <a:prstGeom prst="rect">
            <a:avLst/>
          </a:prstGeom>
          <a:noFill/>
        </p:spPr>
        <p:txBody>
          <a:bodyPr wrap="square">
            <a:spAutoFit/>
          </a:bodyPr>
          <a:lstStyle/>
          <a:p>
            <a:pPr algn="ctr">
              <a:spcBef>
                <a:spcPts val="800"/>
              </a:spcBef>
            </a:pPr>
            <a:r>
              <a:rPr sz="1200" b="1">
                <a:solidFill>
                  <a:srgbClr val="FFFFFF"/>
                </a:solidFill>
                <a:latin typeface="Segoe UI"/>
              </a:rPr>
              <a:t>Correlation Engine</a:t>
            </a:r>
          </a:p>
          <a:p>
            <a:pPr algn="ctr">
              <a:spcBef>
                <a:spcPts val="200"/>
              </a:spcBef>
            </a:pPr>
            <a:r>
              <a:rPr sz="1000">
                <a:solidFill>
                  <a:srgbClr val="E0E0E0"/>
                </a:solidFill>
                <a:latin typeface="Segoe UI"/>
              </a:rPr>
              <a:t>Rules &amp; Analytics</a:t>
            </a:r>
          </a:p>
        </p:txBody>
      </p:sp>
      <p:sp>
        <p:nvSpPr>
          <p:cNvPr id="15" name="TextBox 14"/>
          <p:cNvSpPr txBox="1"/>
          <p:nvPr/>
        </p:nvSpPr>
        <p:spPr>
          <a:xfrm>
            <a:off x="6600305" y="3086100"/>
            <a:ext cx="2078181" cy="571500"/>
          </a:xfrm>
          <a:prstGeom prst="rect">
            <a:avLst/>
          </a:prstGeom>
          <a:noFill/>
        </p:spPr>
        <p:txBody>
          <a:bodyPr wrap="square">
            <a:spAutoFit/>
          </a:bodyPr>
          <a:lstStyle/>
          <a:p>
            <a:pPr algn="ctr">
              <a:spcBef>
                <a:spcPts val="800"/>
              </a:spcBef>
            </a:pPr>
            <a:r>
              <a:rPr sz="1200" b="1">
                <a:solidFill>
                  <a:srgbClr val="FFFFFF"/>
                </a:solidFill>
                <a:latin typeface="Segoe UI"/>
              </a:rPr>
              <a:t>Search Cluster</a:t>
            </a:r>
          </a:p>
          <a:p>
            <a:pPr algn="ctr">
              <a:spcBef>
                <a:spcPts val="200"/>
              </a:spcBef>
            </a:pPr>
            <a:r>
              <a:rPr sz="1000">
                <a:solidFill>
                  <a:srgbClr val="E0E0E0"/>
                </a:solidFill>
                <a:latin typeface="Segoe UI"/>
              </a:rPr>
              <a:t>Distributed Search</a:t>
            </a:r>
          </a:p>
        </p:txBody>
      </p:sp>
      <p:sp>
        <p:nvSpPr>
          <p:cNvPr id="16" name="TextBox 15"/>
          <p:cNvSpPr txBox="1"/>
          <p:nvPr/>
        </p:nvSpPr>
        <p:spPr>
          <a:xfrm>
            <a:off x="1820487" y="4333009"/>
            <a:ext cx="1870363" cy="571500"/>
          </a:xfrm>
          <a:prstGeom prst="rect">
            <a:avLst/>
          </a:prstGeom>
          <a:noFill/>
        </p:spPr>
        <p:txBody>
          <a:bodyPr wrap="square">
            <a:spAutoFit/>
          </a:bodyPr>
          <a:lstStyle/>
          <a:p>
            <a:pPr algn="ctr">
              <a:spcBef>
                <a:spcPts val="800"/>
              </a:spcBef>
            </a:pPr>
            <a:r>
              <a:rPr sz="1200" b="1">
                <a:solidFill>
                  <a:srgbClr val="FFFFFF"/>
                </a:solidFill>
                <a:latin typeface="Segoe UI"/>
              </a:rPr>
              <a:t>Log Collectors</a:t>
            </a:r>
          </a:p>
          <a:p>
            <a:pPr algn="ctr">
              <a:spcBef>
                <a:spcPts val="200"/>
              </a:spcBef>
            </a:pPr>
            <a:r>
              <a:rPr sz="1000">
                <a:solidFill>
                  <a:srgbClr val="E0E0E0"/>
                </a:solidFill>
                <a:latin typeface="Segoe UI"/>
              </a:rPr>
              <a:t>Syslog / Agent / API</a:t>
            </a:r>
          </a:p>
        </p:txBody>
      </p:sp>
      <p:sp>
        <p:nvSpPr>
          <p:cNvPr id="17" name="TextBox 16"/>
          <p:cNvSpPr txBox="1"/>
          <p:nvPr/>
        </p:nvSpPr>
        <p:spPr>
          <a:xfrm>
            <a:off x="4106487" y="4333009"/>
            <a:ext cx="1870363" cy="571500"/>
          </a:xfrm>
          <a:prstGeom prst="rect">
            <a:avLst/>
          </a:prstGeom>
          <a:noFill/>
        </p:spPr>
        <p:txBody>
          <a:bodyPr wrap="square">
            <a:spAutoFit/>
          </a:bodyPr>
          <a:lstStyle/>
          <a:p>
            <a:pPr algn="ctr">
              <a:spcBef>
                <a:spcPts val="800"/>
              </a:spcBef>
            </a:pPr>
            <a:r>
              <a:rPr sz="1200" b="1">
                <a:solidFill>
                  <a:srgbClr val="FFFFFF"/>
                </a:solidFill>
                <a:latin typeface="Segoe UI"/>
              </a:rPr>
              <a:t>Heavy Forwarders</a:t>
            </a:r>
          </a:p>
          <a:p>
            <a:pPr algn="ctr">
              <a:spcBef>
                <a:spcPts val="200"/>
              </a:spcBef>
            </a:pPr>
            <a:r>
              <a:rPr sz="1000">
                <a:solidFill>
                  <a:srgbClr val="E0E0E0"/>
                </a:solidFill>
                <a:latin typeface="Segoe UI"/>
              </a:rPr>
              <a:t>Parse &amp; Transform</a:t>
            </a:r>
          </a:p>
        </p:txBody>
      </p:sp>
      <p:sp>
        <p:nvSpPr>
          <p:cNvPr id="18" name="TextBox 17"/>
          <p:cNvSpPr txBox="1"/>
          <p:nvPr/>
        </p:nvSpPr>
        <p:spPr>
          <a:xfrm>
            <a:off x="6392487" y="4333009"/>
            <a:ext cx="1870363" cy="571500"/>
          </a:xfrm>
          <a:prstGeom prst="rect">
            <a:avLst/>
          </a:prstGeom>
          <a:noFill/>
        </p:spPr>
        <p:txBody>
          <a:bodyPr wrap="square">
            <a:spAutoFit/>
          </a:bodyPr>
          <a:lstStyle/>
          <a:p>
            <a:pPr algn="ctr">
              <a:spcBef>
                <a:spcPts val="800"/>
              </a:spcBef>
            </a:pPr>
            <a:r>
              <a:rPr sz="1200" b="1">
                <a:solidFill>
                  <a:srgbClr val="FFFFFF"/>
                </a:solidFill>
                <a:latin typeface="Segoe UI"/>
              </a:rPr>
              <a:t>Load Balancer</a:t>
            </a:r>
          </a:p>
          <a:p>
            <a:pPr algn="ctr">
              <a:spcBef>
                <a:spcPts val="200"/>
              </a:spcBef>
            </a:pPr>
            <a:r>
              <a:rPr sz="1000">
                <a:solidFill>
                  <a:srgbClr val="E0E0E0"/>
                </a:solidFill>
                <a:latin typeface="Segoe UI"/>
              </a:rPr>
              <a:t>HA Distribution</a:t>
            </a:r>
          </a:p>
        </p:txBody>
      </p:sp>
      <p:sp>
        <p:nvSpPr>
          <p:cNvPr id="19" name="TextBox 18"/>
          <p:cNvSpPr txBox="1"/>
          <p:nvPr/>
        </p:nvSpPr>
        <p:spPr>
          <a:xfrm>
            <a:off x="885305" y="5631872"/>
            <a:ext cx="1039090" cy="519545"/>
          </a:xfrm>
          <a:prstGeom prst="rect">
            <a:avLst/>
          </a:prstGeom>
          <a:noFill/>
        </p:spPr>
        <p:txBody>
          <a:bodyPr wrap="square">
            <a:spAutoFit/>
          </a:bodyPr>
          <a:lstStyle/>
          <a:p>
            <a:pPr algn="ctr">
              <a:spcBef>
                <a:spcPts val="800"/>
              </a:spcBef>
            </a:pPr>
            <a:r>
              <a:rPr sz="1100" b="1">
                <a:solidFill>
                  <a:srgbClr val="FFFFFF"/>
                </a:solidFill>
                <a:latin typeface="Segoe UI"/>
              </a:rPr>
              <a:t>Firewall</a:t>
            </a:r>
          </a:p>
          <a:p>
            <a:pPr algn="ctr">
              <a:spcBef>
                <a:spcPts val="200"/>
              </a:spcBef>
            </a:pPr>
            <a:r>
              <a:rPr sz="900">
                <a:solidFill>
                  <a:srgbClr val="E0E0E0"/>
                </a:solidFill>
                <a:latin typeface="Segoe UI"/>
              </a:rPr>
              <a:t>Palo Alto</a:t>
            </a:r>
          </a:p>
        </p:txBody>
      </p:sp>
      <p:sp>
        <p:nvSpPr>
          <p:cNvPr id="20" name="TextBox 19"/>
          <p:cNvSpPr txBox="1"/>
          <p:nvPr/>
        </p:nvSpPr>
        <p:spPr>
          <a:xfrm>
            <a:off x="2132214" y="5631872"/>
            <a:ext cx="1039090" cy="519545"/>
          </a:xfrm>
          <a:prstGeom prst="rect">
            <a:avLst/>
          </a:prstGeom>
          <a:noFill/>
        </p:spPr>
        <p:txBody>
          <a:bodyPr wrap="square">
            <a:spAutoFit/>
          </a:bodyPr>
          <a:lstStyle/>
          <a:p>
            <a:pPr algn="ctr">
              <a:spcBef>
                <a:spcPts val="800"/>
              </a:spcBef>
            </a:pPr>
            <a:r>
              <a:rPr sz="1100" b="1">
                <a:solidFill>
                  <a:srgbClr val="FFFFFF"/>
                </a:solidFill>
                <a:latin typeface="Segoe UI"/>
              </a:rPr>
              <a:t>EDR</a:t>
            </a:r>
          </a:p>
          <a:p>
            <a:pPr algn="ctr">
              <a:spcBef>
                <a:spcPts val="200"/>
              </a:spcBef>
            </a:pPr>
            <a:r>
              <a:rPr sz="900">
                <a:solidFill>
                  <a:srgbClr val="E0E0E0"/>
                </a:solidFill>
                <a:latin typeface="Segoe UI"/>
              </a:rPr>
              <a:t>CrowdStrike</a:t>
            </a:r>
          </a:p>
        </p:txBody>
      </p:sp>
      <p:sp>
        <p:nvSpPr>
          <p:cNvPr id="21" name="TextBox 20"/>
          <p:cNvSpPr txBox="1"/>
          <p:nvPr/>
        </p:nvSpPr>
        <p:spPr>
          <a:xfrm>
            <a:off x="3379123" y="5631872"/>
            <a:ext cx="1039090" cy="519545"/>
          </a:xfrm>
          <a:prstGeom prst="rect">
            <a:avLst/>
          </a:prstGeom>
          <a:noFill/>
        </p:spPr>
        <p:txBody>
          <a:bodyPr wrap="square">
            <a:spAutoFit/>
          </a:bodyPr>
          <a:lstStyle/>
          <a:p>
            <a:pPr algn="ctr">
              <a:spcBef>
                <a:spcPts val="800"/>
              </a:spcBef>
            </a:pPr>
            <a:r>
              <a:rPr sz="1100" b="1">
                <a:solidFill>
                  <a:srgbClr val="FFFFFF"/>
                </a:solidFill>
                <a:latin typeface="Segoe UI"/>
              </a:rPr>
              <a:t>Identity</a:t>
            </a:r>
          </a:p>
          <a:p>
            <a:pPr algn="ctr">
              <a:spcBef>
                <a:spcPts val="200"/>
              </a:spcBef>
            </a:pPr>
            <a:r>
              <a:rPr sz="900">
                <a:solidFill>
                  <a:srgbClr val="E0E0E0"/>
                </a:solidFill>
                <a:latin typeface="Segoe UI"/>
              </a:rPr>
              <a:t>Azure AD</a:t>
            </a:r>
          </a:p>
        </p:txBody>
      </p:sp>
      <p:sp>
        <p:nvSpPr>
          <p:cNvPr id="22" name="TextBox 21"/>
          <p:cNvSpPr txBox="1"/>
          <p:nvPr/>
        </p:nvSpPr>
        <p:spPr>
          <a:xfrm>
            <a:off x="4626032" y="5631872"/>
            <a:ext cx="1039090" cy="519545"/>
          </a:xfrm>
          <a:prstGeom prst="rect">
            <a:avLst/>
          </a:prstGeom>
          <a:noFill/>
        </p:spPr>
        <p:txBody>
          <a:bodyPr wrap="square">
            <a:spAutoFit/>
          </a:bodyPr>
          <a:lstStyle/>
          <a:p>
            <a:pPr algn="ctr">
              <a:spcBef>
                <a:spcPts val="800"/>
              </a:spcBef>
            </a:pPr>
            <a:r>
              <a:rPr sz="1100" b="1">
                <a:solidFill>
                  <a:srgbClr val="FFFFFF"/>
                </a:solidFill>
                <a:latin typeface="Segoe UI"/>
              </a:rPr>
              <a:t>Cloud</a:t>
            </a:r>
          </a:p>
          <a:p>
            <a:pPr algn="ctr">
              <a:spcBef>
                <a:spcPts val="200"/>
              </a:spcBef>
            </a:pPr>
            <a:r>
              <a:rPr sz="900">
                <a:solidFill>
                  <a:srgbClr val="E0E0E0"/>
                </a:solidFill>
                <a:latin typeface="Segoe UI"/>
              </a:rPr>
              <a:t>AWS/Azure</a:t>
            </a:r>
          </a:p>
        </p:txBody>
      </p:sp>
      <p:sp>
        <p:nvSpPr>
          <p:cNvPr id="23" name="TextBox 22"/>
          <p:cNvSpPr txBox="1"/>
          <p:nvPr/>
        </p:nvSpPr>
        <p:spPr>
          <a:xfrm>
            <a:off x="5872941" y="5631872"/>
            <a:ext cx="1039090" cy="519545"/>
          </a:xfrm>
          <a:prstGeom prst="rect">
            <a:avLst/>
          </a:prstGeom>
          <a:noFill/>
        </p:spPr>
        <p:txBody>
          <a:bodyPr wrap="square">
            <a:spAutoFit/>
          </a:bodyPr>
          <a:lstStyle/>
          <a:p>
            <a:pPr algn="ctr">
              <a:spcBef>
                <a:spcPts val="800"/>
              </a:spcBef>
            </a:pPr>
            <a:r>
              <a:rPr sz="1100" b="1">
                <a:solidFill>
                  <a:srgbClr val="FFFFFF"/>
                </a:solidFill>
                <a:latin typeface="Segoe UI"/>
              </a:rPr>
              <a:t>Email</a:t>
            </a:r>
          </a:p>
          <a:p>
            <a:pPr algn="ctr">
              <a:spcBef>
                <a:spcPts val="200"/>
              </a:spcBef>
            </a:pPr>
            <a:r>
              <a:rPr sz="900">
                <a:solidFill>
                  <a:srgbClr val="E0E0E0"/>
                </a:solidFill>
                <a:latin typeface="Segoe UI"/>
              </a:rPr>
              <a:t>O365</a:t>
            </a:r>
          </a:p>
        </p:txBody>
      </p:sp>
      <p:sp>
        <p:nvSpPr>
          <p:cNvPr id="24" name="TextBox 23"/>
          <p:cNvSpPr txBox="1"/>
          <p:nvPr/>
        </p:nvSpPr>
        <p:spPr>
          <a:xfrm>
            <a:off x="7119850" y="5631872"/>
            <a:ext cx="1039090" cy="519545"/>
          </a:xfrm>
          <a:prstGeom prst="rect">
            <a:avLst/>
          </a:prstGeom>
          <a:noFill/>
        </p:spPr>
        <p:txBody>
          <a:bodyPr wrap="square">
            <a:spAutoFit/>
          </a:bodyPr>
          <a:lstStyle/>
          <a:p>
            <a:pPr algn="ctr">
              <a:spcBef>
                <a:spcPts val="800"/>
              </a:spcBef>
            </a:pPr>
            <a:r>
              <a:rPr sz="1100" b="1">
                <a:solidFill>
                  <a:srgbClr val="FFFFFF"/>
                </a:solidFill>
                <a:latin typeface="Segoe UI"/>
              </a:rPr>
              <a:t>Apps</a:t>
            </a:r>
          </a:p>
          <a:p>
            <a:pPr algn="ctr">
              <a:spcBef>
                <a:spcPts val="200"/>
              </a:spcBef>
            </a:pPr>
            <a:r>
              <a:rPr sz="900">
                <a:solidFill>
                  <a:srgbClr val="E0E0E0"/>
                </a:solidFill>
                <a:latin typeface="Segoe UI"/>
              </a:rPr>
              <a:t>Custom</a:t>
            </a:r>
          </a:p>
        </p:txBody>
      </p:sp>
      <p:sp>
        <p:nvSpPr>
          <p:cNvPr id="25" name="TextBox 24"/>
          <p:cNvSpPr txBox="1"/>
          <p:nvPr/>
        </p:nvSpPr>
        <p:spPr>
          <a:xfrm>
            <a:off x="8366760" y="5631872"/>
            <a:ext cx="831272" cy="519545"/>
          </a:xfrm>
          <a:prstGeom prst="rect">
            <a:avLst/>
          </a:prstGeom>
          <a:noFill/>
        </p:spPr>
        <p:txBody>
          <a:bodyPr wrap="square">
            <a:spAutoFit/>
          </a:bodyPr>
          <a:lstStyle/>
          <a:p>
            <a:pPr algn="ctr">
              <a:spcBef>
                <a:spcPts val="1200"/>
              </a:spcBef>
            </a:pPr>
            <a:r>
              <a:rPr sz="1100" b="1">
                <a:solidFill>
                  <a:srgbClr val="525252"/>
                </a:solidFill>
                <a:latin typeface="Segoe UI"/>
              </a:rPr>
              <a:t>+ More</a:t>
            </a:r>
          </a:p>
        </p:txBody>
      </p:sp>
      <p:sp>
        <p:nvSpPr>
          <p:cNvPr id="26" name="TextBox 25"/>
          <p:cNvSpPr txBox="1"/>
          <p:nvPr/>
        </p:nvSpPr>
        <p:spPr>
          <a:xfrm>
            <a:off x="10237123" y="3241963"/>
            <a:ext cx="1371600" cy="228600"/>
          </a:xfrm>
          <a:prstGeom prst="rect">
            <a:avLst/>
          </a:prstGeom>
          <a:noFill/>
        </p:spPr>
        <p:txBody>
          <a:bodyPr wrap="none">
            <a:spAutoFit/>
          </a:bodyPr>
          <a:lstStyle/>
          <a:p>
            <a:r>
              <a:rPr sz="1000" b="1">
                <a:solidFill>
                  <a:srgbClr val="525252"/>
                </a:solidFill>
                <a:latin typeface="Segoe UI"/>
              </a:rPr>
              <a:t>Data Flow</a:t>
            </a:r>
          </a:p>
        </p:txBody>
      </p:sp>
      <p:sp>
        <p:nvSpPr>
          <p:cNvPr id="27" name="TextBox 26"/>
          <p:cNvSpPr txBox="1"/>
          <p:nvPr/>
        </p:nvSpPr>
        <p:spPr>
          <a:xfrm>
            <a:off x="10237123" y="4281054"/>
            <a:ext cx="1371600" cy="228600"/>
          </a:xfrm>
          <a:prstGeom prst="rect">
            <a:avLst/>
          </a:prstGeom>
          <a:noFill/>
        </p:spPr>
        <p:txBody>
          <a:bodyPr wrap="none">
            <a:spAutoFit/>
          </a:bodyPr>
          <a:lstStyle/>
          <a:p>
            <a:r>
              <a:rPr sz="1000" b="1">
                <a:solidFill>
                  <a:srgbClr val="525252"/>
                </a:solidFill>
                <a:latin typeface="Segoe UI"/>
              </a:rPr>
              <a:t>[X] EPS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Data Flow Pipeline</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o_4f5hmz.png"/>
          <p:cNvPicPr>
            <a:picLocks noChangeAspect="1"/>
          </p:cNvPicPr>
          <p:nvPr/>
        </p:nvPicPr>
        <p:blipFill>
          <a:blip r:embed="rId2"/>
          <a:stretch>
            <a:fillRect/>
          </a:stretch>
        </p:blipFill>
        <p:spPr>
          <a:xfrm>
            <a:off x="365760" y="1463040"/>
            <a:ext cx="11430000" cy="353290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Log Source Summary</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f75w2w0c.png"/>
          <p:cNvPicPr>
            <a:picLocks noChangeAspect="1"/>
          </p:cNvPicPr>
          <p:nvPr/>
        </p:nvPicPr>
        <p:blipFill>
          <a:blip r:embed="rId2"/>
          <a:stretch>
            <a:fillRect/>
          </a:stretch>
        </p:blipFill>
        <p:spPr>
          <a:xfrm>
            <a:off x="685800" y="1463040"/>
            <a:ext cx="2743200" cy="4163786"/>
          </a:xfrm>
          <a:prstGeom prst="rect">
            <a:avLst/>
          </a:prstGeom>
        </p:spPr>
      </p:pic>
      <p:graphicFrame>
        <p:nvGraphicFramePr>
          <p:cNvPr id="5" name="Table 4"/>
          <p:cNvGraphicFramePr>
            <a:graphicFrameLocks noGrp="1"/>
          </p:cNvGraphicFramePr>
          <p:nvPr/>
        </p:nvGraphicFramePr>
        <p:xfrm>
          <a:off x="4114800" y="1463040"/>
          <a:ext cx="7315200" cy="2468880"/>
        </p:xfrm>
        <a:graphic>
          <a:graphicData uri="http://schemas.openxmlformats.org/drawingml/2006/table">
            <a:tbl>
              <a:tblPr firstRow="1" bandRow="1">
                <a:tableStyleId>{5C22544A-7EE6-4342-B048-85BDC9FD1C3A}</a:tableStyleId>
              </a:tblPr>
              <a:tblGrid>
                <a:gridCol w="1828800"/>
                <a:gridCol w="1828800"/>
                <a:gridCol w="1828800"/>
                <a:gridCol w="1828800"/>
              </a:tblGrid>
              <a:tr h="411480">
                <a:tc>
                  <a:txBody>
                    <a:bodyPr/>
                    <a:lstStyle/>
                    <a:p>
                      <a:pPr>
                        <a:defRPr sz="1200" b="1">
                          <a:solidFill>
                            <a:srgbClr val="FFFFFF"/>
                          </a:solidFill>
                          <a:latin typeface="Segoe UI"/>
                        </a:defRPr>
                      </a:pPr>
                      <a:r>
                        <a:t>Category</a:t>
                      </a:r>
                    </a:p>
                  </a:txBody>
                  <a:tcPr anchor="ctr">
                    <a:solidFill>
                      <a:srgbClr val="0F62FE"/>
                    </a:solidFill>
                  </a:tcPr>
                </a:tc>
                <a:tc>
                  <a:txBody>
                    <a:bodyPr/>
                    <a:lstStyle/>
                    <a:p>
                      <a:pPr>
                        <a:defRPr sz="1200" b="1">
                          <a:solidFill>
                            <a:srgbClr val="FFFFFF"/>
                          </a:solidFill>
                          <a:latin typeface="Segoe UI"/>
                        </a:defRPr>
                      </a:pPr>
                      <a:r>
                        <a:t>Sources</a:t>
                      </a:r>
                    </a:p>
                  </a:txBody>
                  <a:tcPr anchor="ctr">
                    <a:solidFill>
                      <a:srgbClr val="0F62FE"/>
                    </a:solidFill>
                  </a:tcPr>
                </a:tc>
                <a:tc>
                  <a:txBody>
                    <a:bodyPr/>
                    <a:lstStyle/>
                    <a:p>
                      <a:pPr>
                        <a:defRPr sz="1200" b="1">
                          <a:solidFill>
                            <a:srgbClr val="FFFFFF"/>
                          </a:solidFill>
                          <a:latin typeface="Segoe UI"/>
                        </a:defRPr>
                      </a:pPr>
                      <a:r>
                        <a:t>Est. EPS</a:t>
                      </a:r>
                    </a:p>
                  </a:txBody>
                  <a:tcPr anchor="ctr">
                    <a:solidFill>
                      <a:srgbClr val="0F62FE"/>
                    </a:solidFill>
                  </a:tcPr>
                </a:tc>
                <a:tc>
                  <a:txBody>
                    <a:bodyPr/>
                    <a:lstStyle/>
                    <a:p>
                      <a:pPr>
                        <a:defRPr sz="1200" b="1">
                          <a:solidFill>
                            <a:srgbClr val="FFFFFF"/>
                          </a:solidFill>
                          <a:latin typeface="Segoe UI"/>
                        </a:defRPr>
                      </a:pPr>
                      <a:r>
                        <a:t>Priority</a:t>
                      </a:r>
                    </a:p>
                  </a:txBody>
                  <a:tcPr anchor="ctr">
                    <a:solidFill>
                      <a:srgbClr val="0F62FE"/>
                    </a:solidFill>
                  </a:tcPr>
                </a:tc>
              </a:tr>
              <a:tr h="411480">
                <a:tc>
                  <a:txBody>
                    <a:bodyPr/>
                    <a:lstStyle/>
                    <a:p>
                      <a:pPr>
                        <a:defRPr sz="1200">
                          <a:solidFill>
                            <a:srgbClr val="161616"/>
                          </a:solidFill>
                          <a:latin typeface="Segoe UI"/>
                        </a:defRPr>
                      </a:pPr>
                      <a:r>
                        <a:t>Network Security</a:t>
                      </a:r>
                    </a:p>
                  </a:txBody>
                  <a:tcPr anchor="ctr">
                    <a:solidFill>
                      <a:srgbClr val="FFFFFF"/>
                    </a:solidFill>
                  </a:tcPr>
                </a:tc>
                <a:tc>
                  <a:txBody>
                    <a:bodyPr/>
                    <a:lstStyle/>
                    <a:p>
                      <a:pPr>
                        <a:defRPr sz="1200">
                          <a:solidFill>
                            <a:srgbClr val="161616"/>
                          </a:solidFill>
                          <a:latin typeface="Segoe UI"/>
                        </a:defRPr>
                      </a:pPr>
                      <a:r>
                        <a:t>Firewall, IDS/IPS, Proxy</a:t>
                      </a:r>
                    </a:p>
                  </a:txBody>
                  <a:tcPr anchor="ctr">
                    <a:solidFill>
                      <a:srgbClr val="FFFFFF"/>
                    </a:solidFill>
                  </a:tcPr>
                </a:tc>
                <a:tc>
                  <a:txBody>
                    <a:bodyPr/>
                    <a:lstStyle/>
                    <a:p>
                      <a:pPr>
                        <a:defRPr sz="1200">
                          <a:solidFill>
                            <a:srgbClr val="161616"/>
                          </a:solidFill>
                          <a:latin typeface="Segoe UI"/>
                        </a:defRPr>
                      </a:pPr>
                      <a:r>
                        <a:t>[X]</a:t>
                      </a:r>
                    </a:p>
                  </a:txBody>
                  <a:tcPr anchor="ctr">
                    <a:solidFill>
                      <a:srgbClr val="FFFFFF"/>
                    </a:solidFill>
                  </a:tcPr>
                </a:tc>
                <a:tc>
                  <a:txBody>
                    <a:bodyPr/>
                    <a:lstStyle/>
                    <a:p>
                      <a:pPr>
                        <a:defRPr sz="1200">
                          <a:solidFill>
                            <a:srgbClr val="161616"/>
                          </a:solidFill>
                          <a:latin typeface="Segoe UI"/>
                        </a:defRPr>
                      </a:pPr>
                      <a:r>
                        <a:t>P1</a:t>
                      </a:r>
                    </a:p>
                  </a:txBody>
                  <a:tcPr anchor="ctr">
                    <a:solidFill>
                      <a:srgbClr val="FFFFFF"/>
                    </a:solidFill>
                  </a:tcPr>
                </a:tc>
              </a:tr>
              <a:tr h="411480">
                <a:tc>
                  <a:txBody>
                    <a:bodyPr/>
                    <a:lstStyle/>
                    <a:p>
                      <a:pPr>
                        <a:defRPr sz="1200">
                          <a:solidFill>
                            <a:srgbClr val="161616"/>
                          </a:solidFill>
                          <a:latin typeface="Segoe UI"/>
                        </a:defRPr>
                      </a:pPr>
                      <a:r>
                        <a:t>Endpoint</a:t>
                      </a:r>
                    </a:p>
                  </a:txBody>
                  <a:tcPr anchor="ctr">
                    <a:solidFill>
                      <a:srgbClr val="E8E8E8"/>
                    </a:solidFill>
                  </a:tcPr>
                </a:tc>
                <a:tc>
                  <a:txBody>
                    <a:bodyPr/>
                    <a:lstStyle/>
                    <a:p>
                      <a:pPr>
                        <a:defRPr sz="1200">
                          <a:solidFill>
                            <a:srgbClr val="161616"/>
                          </a:solidFill>
                          <a:latin typeface="Segoe UI"/>
                        </a:defRPr>
                      </a:pPr>
                      <a:r>
                        <a:t>EDR, AV, OS Logs</a:t>
                      </a:r>
                    </a:p>
                  </a:txBody>
                  <a:tcPr anchor="ctr">
                    <a:solidFill>
                      <a:srgbClr val="E8E8E8"/>
                    </a:solidFill>
                  </a:tcPr>
                </a:tc>
                <a:tc>
                  <a:txBody>
                    <a:bodyPr/>
                    <a:lstStyle/>
                    <a:p>
                      <a:pPr>
                        <a:defRPr sz="1200">
                          <a:solidFill>
                            <a:srgbClr val="161616"/>
                          </a:solidFill>
                          <a:latin typeface="Segoe UI"/>
                        </a:defRPr>
                      </a:pPr>
                      <a:r>
                        <a:t>[X]</a:t>
                      </a:r>
                    </a:p>
                  </a:txBody>
                  <a:tcPr anchor="ctr">
                    <a:solidFill>
                      <a:srgbClr val="E8E8E8"/>
                    </a:solidFill>
                  </a:tcPr>
                </a:tc>
                <a:tc>
                  <a:txBody>
                    <a:bodyPr/>
                    <a:lstStyle/>
                    <a:p>
                      <a:pPr>
                        <a:defRPr sz="1200">
                          <a:solidFill>
                            <a:srgbClr val="161616"/>
                          </a:solidFill>
                          <a:latin typeface="Segoe UI"/>
                        </a:defRPr>
                      </a:pPr>
                      <a:r>
                        <a:t>P1</a:t>
                      </a:r>
                    </a:p>
                  </a:txBody>
                  <a:tcPr anchor="ctr">
                    <a:solidFill>
                      <a:srgbClr val="E8E8E8"/>
                    </a:solidFill>
                  </a:tcPr>
                </a:tc>
              </a:tr>
              <a:tr h="411480">
                <a:tc>
                  <a:txBody>
                    <a:bodyPr/>
                    <a:lstStyle/>
                    <a:p>
                      <a:pPr>
                        <a:defRPr sz="1200">
                          <a:solidFill>
                            <a:srgbClr val="161616"/>
                          </a:solidFill>
                          <a:latin typeface="Segoe UI"/>
                        </a:defRPr>
                      </a:pPr>
                      <a:r>
                        <a:t>Identity</a:t>
                      </a:r>
                    </a:p>
                  </a:txBody>
                  <a:tcPr anchor="ctr">
                    <a:solidFill>
                      <a:srgbClr val="FFFFFF"/>
                    </a:solidFill>
                  </a:tcPr>
                </a:tc>
                <a:tc>
                  <a:txBody>
                    <a:bodyPr/>
                    <a:lstStyle/>
                    <a:p>
                      <a:pPr>
                        <a:defRPr sz="1200">
                          <a:solidFill>
                            <a:srgbClr val="161616"/>
                          </a:solidFill>
                          <a:latin typeface="Segoe UI"/>
                        </a:defRPr>
                      </a:pPr>
                      <a:r>
                        <a:t>AD, Azure AD, PAM</a:t>
                      </a:r>
                    </a:p>
                  </a:txBody>
                  <a:tcPr anchor="ctr">
                    <a:solidFill>
                      <a:srgbClr val="FFFFFF"/>
                    </a:solidFill>
                  </a:tcPr>
                </a:tc>
                <a:tc>
                  <a:txBody>
                    <a:bodyPr/>
                    <a:lstStyle/>
                    <a:p>
                      <a:pPr>
                        <a:defRPr sz="1200">
                          <a:solidFill>
                            <a:srgbClr val="161616"/>
                          </a:solidFill>
                          <a:latin typeface="Segoe UI"/>
                        </a:defRPr>
                      </a:pPr>
                      <a:r>
                        <a:t>[X]</a:t>
                      </a:r>
                    </a:p>
                  </a:txBody>
                  <a:tcPr anchor="ctr">
                    <a:solidFill>
                      <a:srgbClr val="FFFFFF"/>
                    </a:solidFill>
                  </a:tcPr>
                </a:tc>
                <a:tc>
                  <a:txBody>
                    <a:bodyPr/>
                    <a:lstStyle/>
                    <a:p>
                      <a:pPr>
                        <a:defRPr sz="1200">
                          <a:solidFill>
                            <a:srgbClr val="161616"/>
                          </a:solidFill>
                          <a:latin typeface="Segoe UI"/>
                        </a:defRPr>
                      </a:pPr>
                      <a:r>
                        <a:t>P1</a:t>
                      </a:r>
                    </a:p>
                  </a:txBody>
                  <a:tcPr anchor="ctr">
                    <a:solidFill>
                      <a:srgbClr val="FFFFFF"/>
                    </a:solidFill>
                  </a:tcPr>
                </a:tc>
              </a:tr>
              <a:tr h="411480">
                <a:tc>
                  <a:txBody>
                    <a:bodyPr/>
                    <a:lstStyle/>
                    <a:p>
                      <a:pPr>
                        <a:defRPr sz="1200">
                          <a:solidFill>
                            <a:srgbClr val="161616"/>
                          </a:solidFill>
                          <a:latin typeface="Segoe UI"/>
                        </a:defRPr>
                      </a:pPr>
                      <a:r>
                        <a:t>Cloud</a:t>
                      </a:r>
                    </a:p>
                  </a:txBody>
                  <a:tcPr anchor="ctr">
                    <a:solidFill>
                      <a:srgbClr val="E8E8E8"/>
                    </a:solidFill>
                  </a:tcPr>
                </a:tc>
                <a:tc>
                  <a:txBody>
                    <a:bodyPr/>
                    <a:lstStyle/>
                    <a:p>
                      <a:pPr>
                        <a:defRPr sz="1200">
                          <a:solidFill>
                            <a:srgbClr val="161616"/>
                          </a:solidFill>
                          <a:latin typeface="Segoe UI"/>
                        </a:defRPr>
                      </a:pPr>
                      <a:r>
                        <a:t>AWS/Azure/GCP</a:t>
                      </a:r>
                    </a:p>
                  </a:txBody>
                  <a:tcPr anchor="ctr">
                    <a:solidFill>
                      <a:srgbClr val="E8E8E8"/>
                    </a:solidFill>
                  </a:tcPr>
                </a:tc>
                <a:tc>
                  <a:txBody>
                    <a:bodyPr/>
                    <a:lstStyle/>
                    <a:p>
                      <a:pPr>
                        <a:defRPr sz="1200">
                          <a:solidFill>
                            <a:srgbClr val="161616"/>
                          </a:solidFill>
                          <a:latin typeface="Segoe UI"/>
                        </a:defRPr>
                      </a:pPr>
                      <a:r>
                        <a:t>[X]</a:t>
                      </a:r>
                    </a:p>
                  </a:txBody>
                  <a:tcPr anchor="ctr">
                    <a:solidFill>
                      <a:srgbClr val="E8E8E8"/>
                    </a:solidFill>
                  </a:tcPr>
                </a:tc>
                <a:tc>
                  <a:txBody>
                    <a:bodyPr/>
                    <a:lstStyle/>
                    <a:p>
                      <a:pPr>
                        <a:defRPr sz="1200">
                          <a:solidFill>
                            <a:srgbClr val="161616"/>
                          </a:solidFill>
                          <a:latin typeface="Segoe UI"/>
                        </a:defRPr>
                      </a:pPr>
                      <a:r>
                        <a:t>P2</a:t>
                      </a:r>
                    </a:p>
                  </a:txBody>
                  <a:tcPr anchor="ctr">
                    <a:solidFill>
                      <a:srgbClr val="E8E8E8"/>
                    </a:solidFill>
                  </a:tcPr>
                </a:tc>
              </a:tr>
              <a:tr h="411480">
                <a:tc>
                  <a:txBody>
                    <a:bodyPr/>
                    <a:lstStyle/>
                    <a:p>
                      <a:pPr>
                        <a:defRPr sz="1200">
                          <a:solidFill>
                            <a:srgbClr val="161616"/>
                          </a:solidFill>
                          <a:latin typeface="Segoe UI"/>
                        </a:defRPr>
                      </a:pPr>
                      <a:r>
                        <a:t>Application</a:t>
                      </a:r>
                    </a:p>
                  </a:txBody>
                  <a:tcPr anchor="ctr">
                    <a:solidFill>
                      <a:srgbClr val="FFFFFF"/>
                    </a:solidFill>
                  </a:tcPr>
                </a:tc>
                <a:tc>
                  <a:txBody>
                    <a:bodyPr/>
                    <a:lstStyle/>
                    <a:p>
                      <a:pPr>
                        <a:defRPr sz="1200">
                          <a:solidFill>
                            <a:srgbClr val="161616"/>
                          </a:solidFill>
                          <a:latin typeface="Segoe UI"/>
                        </a:defRPr>
                      </a:pPr>
                      <a:r>
                        <a:t>Web Apps, Databases</a:t>
                      </a:r>
                    </a:p>
                  </a:txBody>
                  <a:tcPr anchor="ctr">
                    <a:solidFill>
                      <a:srgbClr val="FFFFFF"/>
                    </a:solidFill>
                  </a:tcPr>
                </a:tc>
                <a:tc>
                  <a:txBody>
                    <a:bodyPr/>
                    <a:lstStyle/>
                    <a:p>
                      <a:pPr>
                        <a:defRPr sz="1200">
                          <a:solidFill>
                            <a:srgbClr val="161616"/>
                          </a:solidFill>
                          <a:latin typeface="Segoe UI"/>
                        </a:defRPr>
                      </a:pPr>
                      <a:r>
                        <a:t>[X]</a:t>
                      </a:r>
                    </a:p>
                  </a:txBody>
                  <a:tcPr anchor="ctr">
                    <a:solidFill>
                      <a:srgbClr val="FFFFFF"/>
                    </a:solidFill>
                  </a:tcPr>
                </a:tc>
                <a:tc>
                  <a:txBody>
                    <a:bodyPr/>
                    <a:lstStyle/>
                    <a:p>
                      <a:pPr>
                        <a:defRPr sz="1200">
                          <a:solidFill>
                            <a:srgbClr val="161616"/>
                          </a:solidFill>
                          <a:latin typeface="Segoe UI"/>
                        </a:defRPr>
                      </a:pPr>
                      <a:r>
                        <a:t>P2</a:t>
                      </a:r>
                    </a:p>
                  </a:txBody>
                  <a:tcPr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0"/>
            <a:ext cx="10789920" cy="914400"/>
          </a:xfrm>
          <a:prstGeom prst="rect">
            <a:avLst/>
          </a:prstGeom>
          <a:noFill/>
        </p:spPr>
        <p:txBody>
          <a:bodyPr wrap="none">
            <a:spAutoFit/>
          </a:bodyPr>
          <a:lstStyle/>
          <a:p>
            <a:pPr algn="ctr"/>
            <a:r>
              <a:rPr sz="7200" b="1">
                <a:solidFill>
                  <a:srgbClr val="0F62FE"/>
                </a:solidFill>
                <a:latin typeface="Segoe UI"/>
              </a:rPr>
              <a:t>04</a:t>
            </a:r>
          </a:p>
        </p:txBody>
      </p:sp>
      <p:sp>
        <p:nvSpPr>
          <p:cNvPr id="4" name="TextBox 3"/>
          <p:cNvSpPr txBox="1"/>
          <p:nvPr/>
        </p:nvSpPr>
        <p:spPr>
          <a:xfrm>
            <a:off x="685800" y="3474720"/>
            <a:ext cx="10789920" cy="731520"/>
          </a:xfrm>
          <a:prstGeom prst="rect">
            <a:avLst/>
          </a:prstGeom>
          <a:noFill/>
        </p:spPr>
        <p:txBody>
          <a:bodyPr wrap="none">
            <a:spAutoFit/>
          </a:bodyPr>
          <a:lstStyle/>
          <a:p>
            <a:pPr algn="ctr"/>
            <a:r>
              <a:rPr sz="3600">
                <a:solidFill>
                  <a:srgbClr val="161616"/>
                </a:solidFill>
                <a:latin typeface="Segoe UI"/>
              </a:rPr>
              <a:t>Implementation Approach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589520" y="0"/>
            <a:ext cx="4572000" cy="6858000"/>
          </a:xfrm>
          <a:prstGeom prst="rect">
            <a:avLst/>
          </a:prstGeom>
          <a:solidFill>
            <a:srgbClr val="0F62FE">
              <a:lumMod val="65000"/>
              <a:lumOff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228600"/>
            <a:ext cx="11430000" cy="502920"/>
          </a:xfrm>
          <a:prstGeom prst="roundRect">
            <a:avLst/>
          </a:prstGeom>
          <a:solidFill>
            <a:srgbClr val="FFFFFF"/>
          </a:solidFill>
          <a:ln w="254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5486400" cy="365760"/>
          </a:xfrm>
          <a:prstGeom prst="rect">
            <a:avLst/>
          </a:prstGeom>
          <a:noFill/>
        </p:spPr>
        <p:txBody>
          <a:bodyPr wrap="none">
            <a:spAutoFit/>
          </a:bodyPr>
          <a:lstStyle/>
          <a:p>
            <a:r>
              <a:rPr sz="1100">
                <a:solidFill>
                  <a:srgbClr val="161616"/>
                </a:solidFill>
                <a:latin typeface="Segoe UI"/>
              </a:rPr>
              <a:t>⌂  IMPLEMENTATION APPROACH</a:t>
            </a:r>
          </a:p>
        </p:txBody>
      </p:sp>
      <p:sp>
        <p:nvSpPr>
          <p:cNvPr id="5" name="TextBox 4"/>
          <p:cNvSpPr txBox="1"/>
          <p:nvPr/>
        </p:nvSpPr>
        <p:spPr>
          <a:xfrm>
            <a:off x="8229600" y="320040"/>
            <a:ext cx="3200400" cy="365760"/>
          </a:xfrm>
          <a:prstGeom prst="rect">
            <a:avLst/>
          </a:prstGeom>
          <a:noFill/>
        </p:spPr>
        <p:txBody>
          <a:bodyPr wrap="none">
            <a:spAutoFit/>
          </a:bodyPr>
          <a:lstStyle/>
          <a:p>
            <a:pPr algn="r"/>
            <a:r>
              <a:rPr sz="1100" b="1">
                <a:solidFill>
                  <a:srgbClr val="161616"/>
                </a:solidFill>
                <a:latin typeface="Segoe UI"/>
              </a:rPr>
              <a:t>METHODOLOGY</a:t>
            </a:r>
          </a:p>
        </p:txBody>
      </p:sp>
      <p:sp>
        <p:nvSpPr>
          <p:cNvPr id="6" name="TextBox 5"/>
          <p:cNvSpPr txBox="1"/>
          <p:nvPr/>
        </p:nvSpPr>
        <p:spPr>
          <a:xfrm>
            <a:off x="457200" y="1097280"/>
            <a:ext cx="4572000" cy="1463040"/>
          </a:xfrm>
          <a:prstGeom prst="rect">
            <a:avLst/>
          </a:prstGeom>
          <a:noFill/>
        </p:spPr>
        <p:txBody>
          <a:bodyPr wrap="square">
            <a:spAutoFit/>
          </a:bodyPr>
          <a:lstStyle/>
          <a:p>
            <a:r>
              <a:rPr sz="4000" b="1">
                <a:solidFill>
                  <a:srgbClr val="0F62FE"/>
                </a:solidFill>
                <a:latin typeface="Segoe UI"/>
              </a:rPr>
              <a:t>Implementation
Strategy</a:t>
            </a:r>
          </a:p>
        </p:txBody>
      </p:sp>
      <p:sp>
        <p:nvSpPr>
          <p:cNvPr id="7" name="Rounded Rectangle 6"/>
          <p:cNvSpPr/>
          <p:nvPr/>
        </p:nvSpPr>
        <p:spPr>
          <a:xfrm>
            <a:off x="4114800" y="1097280"/>
            <a:ext cx="3200400" cy="4114800"/>
          </a:xfrm>
          <a:prstGeom prst="roundRect">
            <a:avLst/>
          </a:prstGeom>
          <a:solidFill>
            <a:srgbClr val="E8F0F8"/>
          </a:solidFill>
          <a:ln w="25400">
            <a:solidFill>
              <a:srgbClr val="C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931920"/>
            <a:ext cx="3657600" cy="365760"/>
          </a:xfrm>
          <a:prstGeom prst="rect">
            <a:avLst/>
          </a:prstGeom>
          <a:noFill/>
        </p:spPr>
        <p:txBody>
          <a:bodyPr wrap="none">
            <a:spAutoFit/>
          </a:bodyPr>
          <a:lstStyle/>
          <a:p>
            <a:r>
              <a:rPr sz="1600" b="1">
                <a:solidFill>
                  <a:srgbClr val="0F62FE"/>
                </a:solidFill>
                <a:latin typeface="Segoe UI"/>
              </a:rPr>
              <a:t>Phased Delivery Model</a:t>
            </a:r>
          </a:p>
        </p:txBody>
      </p:sp>
      <p:sp>
        <p:nvSpPr>
          <p:cNvPr id="9" name="TextBox 8"/>
          <p:cNvSpPr txBox="1"/>
          <p:nvPr/>
        </p:nvSpPr>
        <p:spPr>
          <a:xfrm>
            <a:off x="457200" y="4389120"/>
            <a:ext cx="3657600" cy="1828800"/>
          </a:xfrm>
          <a:prstGeom prst="rect">
            <a:avLst/>
          </a:prstGeom>
          <a:noFill/>
        </p:spPr>
        <p:txBody>
          <a:bodyPr wrap="square">
            <a:spAutoFit/>
          </a:bodyPr>
          <a:lstStyle/>
          <a:p>
            <a:r>
              <a:rPr sz="1100">
                <a:solidFill>
                  <a:srgbClr val="161616"/>
                </a:solidFill>
                <a:latin typeface="Segoe UI"/>
              </a:rPr>
              <a:t>Our implementation follows a structured phased approach. Each phase builds upon the previous, ensuring stable foundations before adding complexity. This approach minimizes risk while maximizing value delivery at each milestone.</a:t>
            </a:r>
          </a:p>
        </p:txBody>
      </p:sp>
      <p:sp>
        <p:nvSpPr>
          <p:cNvPr id="10" name="Rounded Rectangle 9"/>
          <p:cNvSpPr/>
          <p:nvPr/>
        </p:nvSpPr>
        <p:spPr>
          <a:xfrm>
            <a:off x="7772400" y="1188720"/>
            <a:ext cx="3931920" cy="1463040"/>
          </a:xfrm>
          <a:prstGeom prst="roundRect">
            <a:avLst/>
          </a:prstGeom>
          <a:solidFill>
            <a:srgbClr val="0F62FE">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09560" y="1298448"/>
            <a:ext cx="3657600" cy="320040"/>
          </a:xfrm>
          <a:prstGeom prst="rect">
            <a:avLst/>
          </a:prstGeom>
          <a:noFill/>
        </p:spPr>
        <p:txBody>
          <a:bodyPr wrap="none">
            <a:spAutoFit/>
          </a:bodyPr>
          <a:lstStyle/>
          <a:p>
            <a:r>
              <a:rPr sz="1300" b="1">
                <a:solidFill>
                  <a:srgbClr val="FFFFFF"/>
                </a:solidFill>
                <a:latin typeface="Segoe UI"/>
              </a:rPr>
              <a:t>Phase 1: Foundation</a:t>
            </a:r>
          </a:p>
        </p:txBody>
      </p:sp>
      <p:sp>
        <p:nvSpPr>
          <p:cNvPr id="12" name="TextBox 11"/>
          <p:cNvSpPr txBox="1"/>
          <p:nvPr/>
        </p:nvSpPr>
        <p:spPr>
          <a:xfrm>
            <a:off x="7909560" y="1645920"/>
            <a:ext cx="3657600" cy="914400"/>
          </a:xfrm>
          <a:prstGeom prst="rect">
            <a:avLst/>
          </a:prstGeom>
          <a:noFill/>
        </p:spPr>
        <p:txBody>
          <a:bodyPr wrap="square">
            <a:spAutoFit/>
          </a:bodyPr>
          <a:lstStyle/>
          <a:p>
            <a:r>
              <a:rPr sz="1000">
                <a:solidFill>
                  <a:srgbClr val="E8F0FF"/>
                </a:solidFill>
                <a:latin typeface="Segoe UI"/>
              </a:rPr>
              <a:t>Infrastructure setup, platform deployment, network configuration, and security hardening. Establishes the core platform capabilities.</a:t>
            </a:r>
          </a:p>
        </p:txBody>
      </p:sp>
      <p:sp>
        <p:nvSpPr>
          <p:cNvPr id="13" name="Rounded Rectangle 12"/>
          <p:cNvSpPr/>
          <p:nvPr/>
        </p:nvSpPr>
        <p:spPr>
          <a:xfrm>
            <a:off x="7772400" y="2834640"/>
            <a:ext cx="3931920" cy="1463040"/>
          </a:xfrm>
          <a:prstGeom prst="roundRect">
            <a:avLst/>
          </a:prstGeom>
          <a:solidFill>
            <a:srgbClr val="0F62FE">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944368"/>
            <a:ext cx="3657600" cy="320040"/>
          </a:xfrm>
          <a:prstGeom prst="rect">
            <a:avLst/>
          </a:prstGeom>
          <a:noFill/>
        </p:spPr>
        <p:txBody>
          <a:bodyPr wrap="none">
            <a:spAutoFit/>
          </a:bodyPr>
          <a:lstStyle/>
          <a:p>
            <a:r>
              <a:rPr sz="1300" b="1">
                <a:solidFill>
                  <a:srgbClr val="FFFFFF"/>
                </a:solidFill>
                <a:latin typeface="Segoe UI"/>
              </a:rPr>
              <a:t>Phase 2: Integration</a:t>
            </a:r>
          </a:p>
        </p:txBody>
      </p:sp>
      <p:sp>
        <p:nvSpPr>
          <p:cNvPr id="15" name="TextBox 14"/>
          <p:cNvSpPr txBox="1"/>
          <p:nvPr/>
        </p:nvSpPr>
        <p:spPr>
          <a:xfrm>
            <a:off x="7909560" y="3291840"/>
            <a:ext cx="3657600" cy="914400"/>
          </a:xfrm>
          <a:prstGeom prst="rect">
            <a:avLst/>
          </a:prstGeom>
          <a:noFill/>
        </p:spPr>
        <p:txBody>
          <a:bodyPr wrap="square">
            <a:spAutoFit/>
          </a:bodyPr>
          <a:lstStyle/>
          <a:p>
            <a:r>
              <a:rPr sz="1000">
                <a:solidFill>
                  <a:srgbClr val="E8F0FF"/>
                </a:solidFill>
                <a:latin typeface="Segoe UI"/>
              </a:rPr>
              <a:t>Log source connectivity, parser development, data normalization, and quality validation. Ensures comprehensive data collection.</a:t>
            </a:r>
          </a:p>
        </p:txBody>
      </p:sp>
      <p:sp>
        <p:nvSpPr>
          <p:cNvPr id="16" name="Rounded Rectangle 15"/>
          <p:cNvSpPr/>
          <p:nvPr/>
        </p:nvSpPr>
        <p:spPr>
          <a:xfrm>
            <a:off x="7772400" y="4572000"/>
            <a:ext cx="3931920" cy="1463040"/>
          </a:xfrm>
          <a:prstGeom prst="roundRect">
            <a:avLst/>
          </a:prstGeom>
          <a:solidFill>
            <a:srgbClr val="0F62FE">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4681728"/>
            <a:ext cx="3657600" cy="320040"/>
          </a:xfrm>
          <a:prstGeom prst="rect">
            <a:avLst/>
          </a:prstGeom>
          <a:noFill/>
        </p:spPr>
        <p:txBody>
          <a:bodyPr wrap="none">
            <a:spAutoFit/>
          </a:bodyPr>
          <a:lstStyle/>
          <a:p>
            <a:r>
              <a:rPr sz="1300" b="1">
                <a:solidFill>
                  <a:srgbClr val="FFFFFF"/>
                </a:solidFill>
                <a:latin typeface="Segoe UI"/>
              </a:rPr>
              <a:t>Phase 3: Operationalize</a:t>
            </a:r>
          </a:p>
        </p:txBody>
      </p:sp>
      <p:sp>
        <p:nvSpPr>
          <p:cNvPr id="18" name="TextBox 17"/>
          <p:cNvSpPr txBox="1"/>
          <p:nvPr/>
        </p:nvSpPr>
        <p:spPr>
          <a:xfrm>
            <a:off x="7909560" y="5029200"/>
            <a:ext cx="3657600" cy="914400"/>
          </a:xfrm>
          <a:prstGeom prst="rect">
            <a:avLst/>
          </a:prstGeom>
          <a:noFill/>
        </p:spPr>
        <p:txBody>
          <a:bodyPr wrap="square">
            <a:spAutoFit/>
          </a:bodyPr>
          <a:lstStyle/>
          <a:p>
            <a:r>
              <a:rPr sz="1000">
                <a:solidFill>
                  <a:srgbClr val="E8F0FF"/>
                </a:solidFill>
                <a:latin typeface="Segoe UI"/>
              </a:rPr>
              <a:t>Detection rules deployment, dashboard creation, playbook development, and team training. Delivers operational capabilities.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Implementation Methodology</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bmdzhjqe.png"/>
          <p:cNvPicPr>
            <a:picLocks noChangeAspect="1"/>
          </p:cNvPicPr>
          <p:nvPr/>
        </p:nvPicPr>
        <p:blipFill>
          <a:blip r:embed="rId2"/>
          <a:stretch>
            <a:fillRect/>
          </a:stretch>
        </p:blipFill>
        <p:spPr>
          <a:xfrm>
            <a:off x="365760" y="1371600"/>
            <a:ext cx="11430000" cy="3948545"/>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0"/>
            <a:ext cx="10789920" cy="914400"/>
          </a:xfrm>
          <a:prstGeom prst="rect">
            <a:avLst/>
          </a:prstGeom>
          <a:noFill/>
        </p:spPr>
        <p:txBody>
          <a:bodyPr wrap="none">
            <a:spAutoFit/>
          </a:bodyPr>
          <a:lstStyle/>
          <a:p>
            <a:pPr algn="ctr"/>
            <a:r>
              <a:rPr sz="7200" b="1">
                <a:solidFill>
                  <a:srgbClr val="0F62FE"/>
                </a:solidFill>
                <a:latin typeface="Segoe UI"/>
              </a:rPr>
              <a:t>05</a:t>
            </a:r>
          </a:p>
        </p:txBody>
      </p:sp>
      <p:sp>
        <p:nvSpPr>
          <p:cNvPr id="4" name="TextBox 3"/>
          <p:cNvSpPr txBox="1"/>
          <p:nvPr/>
        </p:nvSpPr>
        <p:spPr>
          <a:xfrm>
            <a:off x="685800" y="3474720"/>
            <a:ext cx="10789920" cy="731520"/>
          </a:xfrm>
          <a:prstGeom prst="rect">
            <a:avLst/>
          </a:prstGeom>
          <a:noFill/>
        </p:spPr>
        <p:txBody>
          <a:bodyPr wrap="none">
            <a:spAutoFit/>
          </a:bodyPr>
          <a:lstStyle/>
          <a:p>
            <a:pPr algn="ctr"/>
            <a:r>
              <a:rPr sz="3600">
                <a:solidFill>
                  <a:srgbClr val="161616"/>
                </a:solidFill>
                <a:latin typeface="Segoe UI"/>
              </a:rPr>
              <a:t>Timeline &amp; Milestones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Project Timeline</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0c92px0o.png"/>
          <p:cNvPicPr>
            <a:picLocks noChangeAspect="1"/>
          </p:cNvPicPr>
          <p:nvPr/>
        </p:nvPicPr>
        <p:blipFill>
          <a:blip r:embed="rId2"/>
          <a:stretch>
            <a:fillRect/>
          </a:stretch>
        </p:blipFill>
        <p:spPr>
          <a:xfrm>
            <a:off x="365760" y="1371600"/>
            <a:ext cx="11430000" cy="1870364"/>
          </a:xfrm>
          <a:prstGeom prst="rect">
            <a:avLst/>
          </a:prstGeom>
        </p:spPr>
      </p:pic>
      <p:graphicFrame>
        <p:nvGraphicFramePr>
          <p:cNvPr id="5" name="Table 4"/>
          <p:cNvGraphicFramePr>
            <a:graphicFrameLocks noGrp="1"/>
          </p:cNvGraphicFramePr>
          <p:nvPr/>
        </p:nvGraphicFramePr>
        <p:xfrm>
          <a:off x="685800" y="3657600"/>
          <a:ext cx="10789920" cy="2057400"/>
        </p:xfrm>
        <a:graphic>
          <a:graphicData uri="http://schemas.openxmlformats.org/drawingml/2006/table">
            <a:tbl>
              <a:tblPr firstRow="1" bandRow="1">
                <a:tableStyleId>{5C22544A-7EE6-4342-B048-85BDC9FD1C3A}</a:tableStyleId>
              </a:tblPr>
              <a:tblGrid>
                <a:gridCol w="2697480"/>
                <a:gridCol w="2697480"/>
                <a:gridCol w="2697480"/>
                <a:gridCol w="2697480"/>
              </a:tblGrid>
              <a:tr h="411480">
                <a:tc>
                  <a:txBody>
                    <a:bodyPr/>
                    <a:lstStyle/>
                    <a:p>
                      <a:pPr>
                        <a:defRPr sz="1200" b="1">
                          <a:solidFill>
                            <a:srgbClr val="FFFFFF"/>
                          </a:solidFill>
                          <a:latin typeface="Segoe UI"/>
                        </a:defRPr>
                      </a:pPr>
                      <a:r>
                        <a:t>Phase</a:t>
                      </a:r>
                    </a:p>
                  </a:txBody>
                  <a:tcPr anchor="ctr">
                    <a:solidFill>
                      <a:srgbClr val="0F62FE"/>
                    </a:solidFill>
                  </a:tcPr>
                </a:tc>
                <a:tc>
                  <a:txBody>
                    <a:bodyPr/>
                    <a:lstStyle/>
                    <a:p>
                      <a:pPr>
                        <a:defRPr sz="1200" b="1">
                          <a:solidFill>
                            <a:srgbClr val="FFFFFF"/>
                          </a:solidFill>
                          <a:latin typeface="Segoe UI"/>
                        </a:defRPr>
                      </a:pPr>
                      <a:r>
                        <a:t>Start</a:t>
                      </a:r>
                    </a:p>
                  </a:txBody>
                  <a:tcPr anchor="ctr">
                    <a:solidFill>
                      <a:srgbClr val="0F62FE"/>
                    </a:solidFill>
                  </a:tcPr>
                </a:tc>
                <a:tc>
                  <a:txBody>
                    <a:bodyPr/>
                    <a:lstStyle/>
                    <a:p>
                      <a:pPr>
                        <a:defRPr sz="1200" b="1">
                          <a:solidFill>
                            <a:srgbClr val="FFFFFF"/>
                          </a:solidFill>
                          <a:latin typeface="Segoe UI"/>
                        </a:defRPr>
                      </a:pPr>
                      <a:r>
                        <a:t>End</a:t>
                      </a:r>
                    </a:p>
                  </a:txBody>
                  <a:tcPr anchor="ctr">
                    <a:solidFill>
                      <a:srgbClr val="0F62FE"/>
                    </a:solidFill>
                  </a:tcPr>
                </a:tc>
                <a:tc>
                  <a:txBody>
                    <a:bodyPr/>
                    <a:lstStyle/>
                    <a:p>
                      <a:pPr>
                        <a:defRPr sz="1200" b="1">
                          <a:solidFill>
                            <a:srgbClr val="FFFFFF"/>
                          </a:solidFill>
                          <a:latin typeface="Segoe UI"/>
                        </a:defRPr>
                      </a:pPr>
                      <a:r>
                        <a:t>Duration</a:t>
                      </a:r>
                    </a:p>
                  </a:txBody>
                  <a:tcPr anchor="ctr">
                    <a:solidFill>
                      <a:srgbClr val="0F62FE"/>
                    </a:solidFill>
                  </a:tcPr>
                </a:tc>
              </a:tr>
              <a:tr h="411480">
                <a:tc>
                  <a:txBody>
                    <a:bodyPr/>
                    <a:lstStyle/>
                    <a:p>
                      <a:pPr>
                        <a:defRPr sz="1200">
                          <a:solidFill>
                            <a:srgbClr val="161616"/>
                          </a:solidFill>
                          <a:latin typeface="Segoe UI"/>
                        </a:defRPr>
                      </a:pPr>
                      <a:r>
                        <a:t>Phase 1: Foundation</a:t>
                      </a:r>
                    </a:p>
                  </a:txBody>
                  <a:tcPr anchor="ctr">
                    <a:solidFill>
                      <a:srgbClr val="FFFFFF"/>
                    </a:solidFill>
                  </a:tcPr>
                </a:tc>
                <a:tc>
                  <a:txBody>
                    <a:bodyPr/>
                    <a:lstStyle/>
                    <a:p>
                      <a:pPr>
                        <a:defRPr sz="1200">
                          <a:solidFill>
                            <a:srgbClr val="161616"/>
                          </a:solidFill>
                          <a:latin typeface="Segoe UI"/>
                        </a:defRPr>
                      </a:pPr>
                      <a:r>
                        <a:t>[DATE]</a:t>
                      </a:r>
                    </a:p>
                  </a:txBody>
                  <a:tcPr anchor="ctr">
                    <a:solidFill>
                      <a:srgbClr val="FFFFFF"/>
                    </a:solidFill>
                  </a:tcPr>
                </a:tc>
                <a:tc>
                  <a:txBody>
                    <a:bodyPr/>
                    <a:lstStyle/>
                    <a:p>
                      <a:pPr>
                        <a:defRPr sz="1200">
                          <a:solidFill>
                            <a:srgbClr val="161616"/>
                          </a:solidFill>
                          <a:latin typeface="Segoe UI"/>
                        </a:defRPr>
                      </a:pPr>
                      <a:r>
                        <a:t>[DATE]</a:t>
                      </a:r>
                    </a:p>
                  </a:txBody>
                  <a:tcPr anchor="ctr">
                    <a:solidFill>
                      <a:srgbClr val="FFFFFF"/>
                    </a:solidFill>
                  </a:tcPr>
                </a:tc>
                <a:tc>
                  <a:txBody>
                    <a:bodyPr/>
                    <a:lstStyle/>
                    <a:p>
                      <a:pPr>
                        <a:defRPr sz="1200">
                          <a:solidFill>
                            <a:srgbClr val="161616"/>
                          </a:solidFill>
                          <a:latin typeface="Segoe UI"/>
                        </a:defRPr>
                      </a:pPr>
                      <a:r>
                        <a:t>[X] weeks</a:t>
                      </a:r>
                    </a:p>
                  </a:txBody>
                  <a:tcPr anchor="ctr">
                    <a:solidFill>
                      <a:srgbClr val="FFFFFF"/>
                    </a:solidFill>
                  </a:tcPr>
                </a:tc>
              </a:tr>
              <a:tr h="411480">
                <a:tc>
                  <a:txBody>
                    <a:bodyPr/>
                    <a:lstStyle/>
                    <a:p>
                      <a:pPr>
                        <a:defRPr sz="1200">
                          <a:solidFill>
                            <a:srgbClr val="161616"/>
                          </a:solidFill>
                          <a:latin typeface="Segoe UI"/>
                        </a:defRPr>
                      </a:pPr>
                      <a:r>
                        <a:t>Phase 2: Integration</a:t>
                      </a:r>
                    </a:p>
                  </a:txBody>
                  <a:tcPr anchor="ctr">
                    <a:solidFill>
                      <a:srgbClr val="E8E8E8"/>
                    </a:solidFill>
                  </a:tcPr>
                </a:tc>
                <a:tc>
                  <a:txBody>
                    <a:bodyPr/>
                    <a:lstStyle/>
                    <a:p>
                      <a:pPr>
                        <a:defRPr sz="1200">
                          <a:solidFill>
                            <a:srgbClr val="161616"/>
                          </a:solidFill>
                          <a:latin typeface="Segoe UI"/>
                        </a:defRPr>
                      </a:pPr>
                      <a:r>
                        <a:t>[DATE]</a:t>
                      </a:r>
                    </a:p>
                  </a:txBody>
                  <a:tcPr anchor="ctr">
                    <a:solidFill>
                      <a:srgbClr val="E8E8E8"/>
                    </a:solidFill>
                  </a:tcPr>
                </a:tc>
                <a:tc>
                  <a:txBody>
                    <a:bodyPr/>
                    <a:lstStyle/>
                    <a:p>
                      <a:pPr>
                        <a:defRPr sz="1200">
                          <a:solidFill>
                            <a:srgbClr val="161616"/>
                          </a:solidFill>
                          <a:latin typeface="Segoe UI"/>
                        </a:defRPr>
                      </a:pPr>
                      <a:r>
                        <a:t>[DATE]</a:t>
                      </a:r>
                    </a:p>
                  </a:txBody>
                  <a:tcPr anchor="ctr">
                    <a:solidFill>
                      <a:srgbClr val="E8E8E8"/>
                    </a:solidFill>
                  </a:tcPr>
                </a:tc>
                <a:tc>
                  <a:txBody>
                    <a:bodyPr/>
                    <a:lstStyle/>
                    <a:p>
                      <a:pPr>
                        <a:defRPr sz="1200">
                          <a:solidFill>
                            <a:srgbClr val="161616"/>
                          </a:solidFill>
                          <a:latin typeface="Segoe UI"/>
                        </a:defRPr>
                      </a:pPr>
                      <a:r>
                        <a:t>[X] weeks</a:t>
                      </a:r>
                    </a:p>
                  </a:txBody>
                  <a:tcPr anchor="ctr">
                    <a:solidFill>
                      <a:srgbClr val="E8E8E8"/>
                    </a:solidFill>
                  </a:tcPr>
                </a:tc>
              </a:tr>
              <a:tr h="411480">
                <a:tc>
                  <a:txBody>
                    <a:bodyPr/>
                    <a:lstStyle/>
                    <a:p>
                      <a:pPr>
                        <a:defRPr sz="1200">
                          <a:solidFill>
                            <a:srgbClr val="161616"/>
                          </a:solidFill>
                          <a:latin typeface="Segoe UI"/>
                        </a:defRPr>
                      </a:pPr>
                      <a:r>
                        <a:t>Phase 3: Detection</a:t>
                      </a:r>
                    </a:p>
                  </a:txBody>
                  <a:tcPr anchor="ctr">
                    <a:solidFill>
                      <a:srgbClr val="FFFFFF"/>
                    </a:solidFill>
                  </a:tcPr>
                </a:tc>
                <a:tc>
                  <a:txBody>
                    <a:bodyPr/>
                    <a:lstStyle/>
                    <a:p>
                      <a:pPr>
                        <a:defRPr sz="1200">
                          <a:solidFill>
                            <a:srgbClr val="161616"/>
                          </a:solidFill>
                          <a:latin typeface="Segoe UI"/>
                        </a:defRPr>
                      </a:pPr>
                      <a:r>
                        <a:t>[DATE]</a:t>
                      </a:r>
                    </a:p>
                  </a:txBody>
                  <a:tcPr anchor="ctr">
                    <a:solidFill>
                      <a:srgbClr val="FFFFFF"/>
                    </a:solidFill>
                  </a:tcPr>
                </a:tc>
                <a:tc>
                  <a:txBody>
                    <a:bodyPr/>
                    <a:lstStyle/>
                    <a:p>
                      <a:pPr>
                        <a:defRPr sz="1200">
                          <a:solidFill>
                            <a:srgbClr val="161616"/>
                          </a:solidFill>
                          <a:latin typeface="Segoe UI"/>
                        </a:defRPr>
                      </a:pPr>
                      <a:r>
                        <a:t>[DATE]</a:t>
                      </a:r>
                    </a:p>
                  </a:txBody>
                  <a:tcPr anchor="ctr">
                    <a:solidFill>
                      <a:srgbClr val="FFFFFF"/>
                    </a:solidFill>
                  </a:tcPr>
                </a:tc>
                <a:tc>
                  <a:txBody>
                    <a:bodyPr/>
                    <a:lstStyle/>
                    <a:p>
                      <a:pPr>
                        <a:defRPr sz="1200">
                          <a:solidFill>
                            <a:srgbClr val="161616"/>
                          </a:solidFill>
                          <a:latin typeface="Segoe UI"/>
                        </a:defRPr>
                      </a:pPr>
                      <a:r>
                        <a:t>[X] weeks</a:t>
                      </a:r>
                    </a:p>
                  </a:txBody>
                  <a:tcPr anchor="ctr">
                    <a:solidFill>
                      <a:srgbClr val="FFFFFF"/>
                    </a:solidFill>
                  </a:tcPr>
                </a:tc>
              </a:tr>
              <a:tr h="411480">
                <a:tc>
                  <a:txBody>
                    <a:bodyPr/>
                    <a:lstStyle/>
                    <a:p>
                      <a:pPr>
                        <a:defRPr sz="1200">
                          <a:solidFill>
                            <a:srgbClr val="161616"/>
                          </a:solidFill>
                          <a:latin typeface="Segoe UI"/>
                        </a:defRPr>
                      </a:pPr>
                      <a:r>
                        <a:t>Phase 4: Transition</a:t>
                      </a:r>
                    </a:p>
                  </a:txBody>
                  <a:tcPr anchor="ctr">
                    <a:solidFill>
                      <a:srgbClr val="E8E8E8"/>
                    </a:solidFill>
                  </a:tcPr>
                </a:tc>
                <a:tc>
                  <a:txBody>
                    <a:bodyPr/>
                    <a:lstStyle/>
                    <a:p>
                      <a:pPr>
                        <a:defRPr sz="1200">
                          <a:solidFill>
                            <a:srgbClr val="161616"/>
                          </a:solidFill>
                          <a:latin typeface="Segoe UI"/>
                        </a:defRPr>
                      </a:pPr>
                      <a:r>
                        <a:t>[DATE]</a:t>
                      </a:r>
                    </a:p>
                  </a:txBody>
                  <a:tcPr anchor="ctr">
                    <a:solidFill>
                      <a:srgbClr val="E8E8E8"/>
                    </a:solidFill>
                  </a:tcPr>
                </a:tc>
                <a:tc>
                  <a:txBody>
                    <a:bodyPr/>
                    <a:lstStyle/>
                    <a:p>
                      <a:pPr>
                        <a:defRPr sz="1200">
                          <a:solidFill>
                            <a:srgbClr val="161616"/>
                          </a:solidFill>
                          <a:latin typeface="Segoe UI"/>
                        </a:defRPr>
                      </a:pPr>
                      <a:r>
                        <a:t>[DATE]</a:t>
                      </a:r>
                    </a:p>
                  </a:txBody>
                  <a:tcPr anchor="ctr">
                    <a:solidFill>
                      <a:srgbClr val="E8E8E8"/>
                    </a:solidFill>
                  </a:tcPr>
                </a:tc>
                <a:tc>
                  <a:txBody>
                    <a:bodyPr/>
                    <a:lstStyle/>
                    <a:p>
                      <a:pPr>
                        <a:defRPr sz="1200">
                          <a:solidFill>
                            <a:srgbClr val="161616"/>
                          </a:solidFill>
                          <a:latin typeface="Segoe UI"/>
                        </a:defRPr>
                      </a:pPr>
                      <a:r>
                        <a:t>[X] weeks</a:t>
                      </a:r>
                    </a:p>
                  </a:txBody>
                  <a:tcPr anchor="ctr">
                    <a:solidFill>
                      <a:srgbClr val="E8E8E8"/>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Detailed Schedule</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3v6prpj7.png"/>
          <p:cNvPicPr>
            <a:picLocks noChangeAspect="1"/>
          </p:cNvPicPr>
          <p:nvPr/>
        </p:nvPicPr>
        <p:blipFill>
          <a:blip r:embed="rId2"/>
          <a:stretch>
            <a:fillRect/>
          </a:stretch>
        </p:blipFill>
        <p:spPr>
          <a:xfrm>
            <a:off x="365760" y="1371600"/>
            <a:ext cx="11430000" cy="415636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Key Milestones</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u41mm8ba.png"/>
          <p:cNvPicPr>
            <a:picLocks noChangeAspect="1"/>
          </p:cNvPicPr>
          <p:nvPr/>
        </p:nvPicPr>
        <p:blipFill>
          <a:blip r:embed="rId2"/>
          <a:stretch>
            <a:fillRect/>
          </a:stretch>
        </p:blipFill>
        <p:spPr>
          <a:xfrm>
            <a:off x="365760" y="1371600"/>
            <a:ext cx="11430000" cy="2286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0"/>
            <a:ext cx="10789920" cy="914400"/>
          </a:xfrm>
          <a:prstGeom prst="rect">
            <a:avLst/>
          </a:prstGeom>
          <a:noFill/>
        </p:spPr>
        <p:txBody>
          <a:bodyPr wrap="none">
            <a:spAutoFit/>
          </a:bodyPr>
          <a:lstStyle/>
          <a:p>
            <a:pPr algn="ctr"/>
            <a:r>
              <a:rPr sz="7200" b="1">
                <a:solidFill>
                  <a:srgbClr val="0F62FE"/>
                </a:solidFill>
                <a:latin typeface="Segoe UI"/>
              </a:rPr>
              <a:t>06</a:t>
            </a:r>
          </a:p>
        </p:txBody>
      </p:sp>
      <p:sp>
        <p:nvSpPr>
          <p:cNvPr id="4" name="TextBox 3"/>
          <p:cNvSpPr txBox="1"/>
          <p:nvPr/>
        </p:nvSpPr>
        <p:spPr>
          <a:xfrm>
            <a:off x="685800" y="3474720"/>
            <a:ext cx="10789920" cy="731520"/>
          </a:xfrm>
          <a:prstGeom prst="rect">
            <a:avLst/>
          </a:prstGeom>
          <a:noFill/>
        </p:spPr>
        <p:txBody>
          <a:bodyPr wrap="none">
            <a:spAutoFit/>
          </a:bodyPr>
          <a:lstStyle/>
          <a:p>
            <a:pPr algn="ctr"/>
            <a:r>
              <a:rPr sz="3600">
                <a:solidFill>
                  <a:srgbClr val="161616"/>
                </a:solidFill>
                <a:latin typeface="Segoe UI"/>
              </a:rPr>
              <a:t>Governance &amp; Communication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Governance Model</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7778jbf1.png"/>
          <p:cNvPicPr>
            <a:picLocks noChangeAspect="1"/>
          </p:cNvPicPr>
          <p:nvPr/>
        </p:nvPicPr>
        <p:blipFill>
          <a:blip r:embed="rId2"/>
          <a:stretch>
            <a:fillRect/>
          </a:stretch>
        </p:blipFill>
        <p:spPr>
          <a:xfrm>
            <a:off x="365760" y="1280160"/>
            <a:ext cx="11430000" cy="4468091"/>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RACI Matrix</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vswa461j.png"/>
          <p:cNvPicPr>
            <a:picLocks noChangeAspect="1"/>
          </p:cNvPicPr>
          <p:nvPr/>
        </p:nvPicPr>
        <p:blipFill>
          <a:blip r:embed="rId2"/>
          <a:stretch>
            <a:fillRect/>
          </a:stretch>
        </p:blipFill>
        <p:spPr>
          <a:xfrm>
            <a:off x="822960" y="1371600"/>
            <a:ext cx="10515600" cy="39959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0"/>
            <a:ext cx="10789920" cy="914400"/>
          </a:xfrm>
          <a:prstGeom prst="rect">
            <a:avLst/>
          </a:prstGeom>
          <a:noFill/>
        </p:spPr>
        <p:txBody>
          <a:bodyPr wrap="none">
            <a:spAutoFit/>
          </a:bodyPr>
          <a:lstStyle/>
          <a:p>
            <a:pPr algn="ctr"/>
            <a:r>
              <a:rPr sz="7200" b="1">
                <a:solidFill>
                  <a:srgbClr val="0F62FE"/>
                </a:solidFill>
                <a:latin typeface="Segoe UI"/>
              </a:rPr>
              <a:t>07</a:t>
            </a:r>
          </a:p>
        </p:txBody>
      </p:sp>
      <p:sp>
        <p:nvSpPr>
          <p:cNvPr id="4" name="TextBox 3"/>
          <p:cNvSpPr txBox="1"/>
          <p:nvPr/>
        </p:nvSpPr>
        <p:spPr>
          <a:xfrm>
            <a:off x="685800" y="3474720"/>
            <a:ext cx="10789920" cy="731520"/>
          </a:xfrm>
          <a:prstGeom prst="rect">
            <a:avLst/>
          </a:prstGeom>
          <a:noFill/>
        </p:spPr>
        <p:txBody>
          <a:bodyPr wrap="none">
            <a:spAutoFit/>
          </a:bodyPr>
          <a:lstStyle/>
          <a:p>
            <a:pPr algn="ctr"/>
            <a:r>
              <a:rPr sz="3600">
                <a:solidFill>
                  <a:srgbClr val="161616"/>
                </a:solidFill>
                <a:latin typeface="Segoe UI"/>
              </a:rPr>
              <a:t>Risks &amp; Mitigation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548640"/>
          </a:xfrm>
          <a:prstGeom prst="rect">
            <a:avLst/>
          </a:prstGeom>
          <a:noFill/>
        </p:spPr>
        <p:txBody>
          <a:bodyPr wrap="none">
            <a:spAutoFit/>
          </a:bodyPr>
          <a:lstStyle/>
          <a:p>
            <a:r>
              <a:rPr sz="2800" b="1">
                <a:solidFill>
                  <a:srgbClr val="0F62FE"/>
                </a:solidFill>
                <a:latin typeface="Segoe UI"/>
              </a:rPr>
              <a:t>Risk Assessment</a:t>
            </a:r>
          </a:p>
          <a:p>
            <a:pPr>
              <a:spcBef>
                <a:spcPts val="400"/>
              </a:spcBef>
            </a:pPr>
            <a:r>
              <a:rPr sz="1600">
                <a:solidFill>
                  <a:srgbClr val="525252"/>
                </a:solidFill>
                <a:latin typeface="Segoe UI"/>
              </a:rPr>
              <a:t>Identified risks and mitigation strategies</a:t>
            </a:r>
          </a:p>
        </p:txBody>
      </p:sp>
      <p:sp>
        <p:nvSpPr>
          <p:cNvPr id="3" name="Rectangle 2"/>
          <p:cNvSpPr/>
          <p:nvPr/>
        </p:nvSpPr>
        <p:spPr>
          <a:xfrm>
            <a:off x="457200" y="1005840"/>
            <a:ext cx="1097280" cy="3200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188720"/>
            <a:ext cx="5577840" cy="5394960"/>
          </a:xfrm>
          <a:prstGeom prst="rect">
            <a:avLst/>
          </a:prstGeom>
          <a:solidFill>
            <a:srgbClr val="F8F8F8"/>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217920" y="1188720"/>
            <a:ext cx="5577840" cy="5394960"/>
          </a:xfrm>
          <a:prstGeom prst="rect">
            <a:avLst/>
          </a:prstGeom>
          <a:solidFill>
            <a:srgbClr val="F8F8F8"/>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366ht7bh.png"/>
          <p:cNvPicPr>
            <a:picLocks noChangeAspect="1"/>
          </p:cNvPicPr>
          <p:nvPr/>
        </p:nvPicPr>
        <p:blipFill>
          <a:blip r:embed="rId2"/>
          <a:stretch>
            <a:fillRect/>
          </a:stretch>
        </p:blipFill>
        <p:spPr>
          <a:xfrm>
            <a:off x="502920" y="1371600"/>
            <a:ext cx="5029200" cy="4274820"/>
          </a:xfrm>
          <a:prstGeom prst="rect">
            <a:avLst/>
          </a:prstGeom>
        </p:spPr>
      </p:pic>
      <p:sp>
        <p:nvSpPr>
          <p:cNvPr id="7" name="Rounded Rectangle 6"/>
          <p:cNvSpPr/>
          <p:nvPr/>
        </p:nvSpPr>
        <p:spPr>
          <a:xfrm>
            <a:off x="6355080" y="1371600"/>
            <a:ext cx="5303520" cy="146304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371600"/>
            <a:ext cx="5303520" cy="411480"/>
          </a:xfrm>
          <a:prstGeom prst="rect">
            <a:avLst/>
          </a:prstGeom>
          <a:solidFill>
            <a:srgbClr val="D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44752"/>
            <a:ext cx="5029200" cy="320040"/>
          </a:xfrm>
          <a:prstGeom prst="rect">
            <a:avLst/>
          </a:prstGeom>
          <a:noFill/>
        </p:spPr>
        <p:txBody>
          <a:bodyPr wrap="none">
            <a:spAutoFit/>
          </a:bodyPr>
          <a:lstStyle/>
          <a:p>
            <a:r>
              <a:rPr sz="1400" b="1">
                <a:solidFill>
                  <a:srgbClr val="FFFFFF"/>
                </a:solidFill>
                <a:latin typeface="Segoe UI"/>
              </a:rPr>
              <a:t>High Priority Risks</a:t>
            </a:r>
          </a:p>
        </p:txBody>
      </p:sp>
      <p:sp>
        <p:nvSpPr>
          <p:cNvPr id="10" name="TextBox 9"/>
          <p:cNvSpPr txBox="1"/>
          <p:nvPr/>
        </p:nvSpPr>
        <p:spPr>
          <a:xfrm>
            <a:off x="6492240" y="1828800"/>
            <a:ext cx="5029200" cy="960120"/>
          </a:xfrm>
          <a:prstGeom prst="rect">
            <a:avLst/>
          </a:prstGeom>
          <a:noFill/>
        </p:spPr>
        <p:txBody>
          <a:bodyPr wrap="square">
            <a:spAutoFit/>
          </a:bodyPr>
          <a:lstStyle/>
          <a:p>
            <a:pPr>
              <a:spcBef>
                <a:spcPts val="300"/>
              </a:spcBef>
              <a:spcAft>
                <a:spcPts val="300"/>
              </a:spcAft>
            </a:pPr>
            <a:r>
              <a:rPr sz="1100">
                <a:solidFill>
                  <a:srgbClr val="161616"/>
                </a:solidFill>
                <a:latin typeface="Segoe UI"/>
              </a:rPr>
              <a:t>• R1: Infrastructure delays - Early vendor engagement</a:t>
            </a:r>
          </a:p>
          <a:p>
            <a:pPr>
              <a:spcBef>
                <a:spcPts val="300"/>
              </a:spcBef>
              <a:spcAft>
                <a:spcPts val="300"/>
              </a:spcAft>
            </a:pPr>
            <a:r>
              <a:rPr sz="1100">
                <a:solidFill>
                  <a:srgbClr val="161616"/>
                </a:solidFill>
                <a:latin typeface="Segoe UI"/>
              </a:rPr>
              <a:t>• R4: Scope creep - Strict change control process</a:t>
            </a:r>
          </a:p>
        </p:txBody>
      </p:sp>
      <p:sp>
        <p:nvSpPr>
          <p:cNvPr id="11" name="Rounded Rectangle 10"/>
          <p:cNvSpPr/>
          <p:nvPr/>
        </p:nvSpPr>
        <p:spPr>
          <a:xfrm>
            <a:off x="6355080" y="3017520"/>
            <a:ext cx="5303520" cy="18288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3017520"/>
            <a:ext cx="5303520" cy="411480"/>
          </a:xfrm>
          <a:prstGeom prst="rect">
            <a:avLst/>
          </a:prstGeom>
          <a:solidFill>
            <a:srgbClr val="F1C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3090672"/>
            <a:ext cx="5029200" cy="320040"/>
          </a:xfrm>
          <a:prstGeom prst="rect">
            <a:avLst/>
          </a:prstGeom>
          <a:noFill/>
        </p:spPr>
        <p:txBody>
          <a:bodyPr wrap="none">
            <a:spAutoFit/>
          </a:bodyPr>
          <a:lstStyle/>
          <a:p>
            <a:r>
              <a:rPr sz="1400" b="1">
                <a:solidFill>
                  <a:srgbClr val="FFFFFF"/>
                </a:solidFill>
                <a:latin typeface="Segoe UI"/>
              </a:rPr>
              <a:t>Medium Priority Risks</a:t>
            </a:r>
          </a:p>
        </p:txBody>
      </p:sp>
      <p:sp>
        <p:nvSpPr>
          <p:cNvPr id="14" name="TextBox 13"/>
          <p:cNvSpPr txBox="1"/>
          <p:nvPr/>
        </p:nvSpPr>
        <p:spPr>
          <a:xfrm>
            <a:off x="6492240" y="3474720"/>
            <a:ext cx="5029200" cy="1325880"/>
          </a:xfrm>
          <a:prstGeom prst="rect">
            <a:avLst/>
          </a:prstGeom>
          <a:noFill/>
        </p:spPr>
        <p:txBody>
          <a:bodyPr wrap="square">
            <a:spAutoFit/>
          </a:bodyPr>
          <a:lstStyle/>
          <a:p>
            <a:pPr>
              <a:spcBef>
                <a:spcPts val="300"/>
              </a:spcBef>
              <a:spcAft>
                <a:spcPts val="300"/>
              </a:spcAft>
            </a:pPr>
            <a:r>
              <a:rPr sz="1100">
                <a:solidFill>
                  <a:srgbClr val="161616"/>
                </a:solidFill>
                <a:latin typeface="Segoe UI"/>
              </a:rPr>
              <a:t>• R2: Resource unavailability - Cross-trained backups</a:t>
            </a:r>
          </a:p>
          <a:p>
            <a:pPr>
              <a:spcBef>
                <a:spcPts val="300"/>
              </a:spcBef>
              <a:spcAft>
                <a:spcPts val="300"/>
              </a:spcAft>
            </a:pPr>
            <a:r>
              <a:rPr sz="1100">
                <a:solidFill>
                  <a:srgbClr val="161616"/>
                </a:solidFill>
                <a:latin typeface="Segoe UI"/>
              </a:rPr>
              <a:t>• R3: Log source access - Pre-validation checklist</a:t>
            </a:r>
          </a:p>
          <a:p>
            <a:pPr>
              <a:spcBef>
                <a:spcPts val="300"/>
              </a:spcBef>
              <a:spcAft>
                <a:spcPts val="300"/>
              </a:spcAft>
            </a:pPr>
            <a:r>
              <a:rPr sz="1100">
                <a:solidFill>
                  <a:srgbClr val="161616"/>
                </a:solidFill>
                <a:latin typeface="Segoe UI"/>
              </a:rPr>
              <a:t>• R5: Integration complexity - Technical POC phase</a:t>
            </a:r>
          </a:p>
        </p:txBody>
      </p:sp>
      <p:sp>
        <p:nvSpPr>
          <p:cNvPr id="15" name="Rounded Rectangle 14"/>
          <p:cNvSpPr/>
          <p:nvPr/>
        </p:nvSpPr>
        <p:spPr>
          <a:xfrm>
            <a:off x="6355080" y="4937760"/>
            <a:ext cx="5303520" cy="18288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55080" y="4937760"/>
            <a:ext cx="5303520" cy="41148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5010912"/>
            <a:ext cx="5029200" cy="320040"/>
          </a:xfrm>
          <a:prstGeom prst="rect">
            <a:avLst/>
          </a:prstGeom>
          <a:noFill/>
        </p:spPr>
        <p:txBody>
          <a:bodyPr wrap="none">
            <a:spAutoFit/>
          </a:bodyPr>
          <a:lstStyle/>
          <a:p>
            <a:r>
              <a:rPr sz="1400" b="1">
                <a:solidFill>
                  <a:srgbClr val="FFFFFF"/>
                </a:solidFill>
                <a:latin typeface="Segoe UI"/>
              </a:rPr>
              <a:t>Risk Monitoring</a:t>
            </a:r>
          </a:p>
        </p:txBody>
      </p:sp>
      <p:sp>
        <p:nvSpPr>
          <p:cNvPr id="18" name="TextBox 17"/>
          <p:cNvSpPr txBox="1"/>
          <p:nvPr/>
        </p:nvSpPr>
        <p:spPr>
          <a:xfrm>
            <a:off x="6492240" y="5394960"/>
            <a:ext cx="5029200" cy="1325880"/>
          </a:xfrm>
          <a:prstGeom prst="rect">
            <a:avLst/>
          </a:prstGeom>
          <a:noFill/>
        </p:spPr>
        <p:txBody>
          <a:bodyPr wrap="square">
            <a:spAutoFit/>
          </a:bodyPr>
          <a:lstStyle/>
          <a:p>
            <a:pPr>
              <a:spcBef>
                <a:spcPts val="300"/>
              </a:spcBef>
              <a:spcAft>
                <a:spcPts val="300"/>
              </a:spcAft>
            </a:pPr>
            <a:r>
              <a:rPr sz="1100">
                <a:solidFill>
                  <a:srgbClr val="161616"/>
                </a:solidFill>
                <a:latin typeface="Segoe UI"/>
              </a:rPr>
              <a:t>• Weekly risk review meetings</a:t>
            </a:r>
          </a:p>
          <a:p>
            <a:pPr>
              <a:spcBef>
                <a:spcPts val="300"/>
              </a:spcBef>
              <a:spcAft>
                <a:spcPts val="300"/>
              </a:spcAft>
            </a:pPr>
            <a:r>
              <a:rPr sz="1100">
                <a:solidFill>
                  <a:srgbClr val="161616"/>
                </a:solidFill>
                <a:latin typeface="Segoe UI"/>
              </a:rPr>
              <a:t>• Automated health checks</a:t>
            </a:r>
          </a:p>
          <a:p>
            <a:pPr>
              <a:spcBef>
                <a:spcPts val="300"/>
              </a:spcBef>
              <a:spcAft>
                <a:spcPts val="300"/>
              </a:spcAft>
            </a:pPr>
            <a:r>
              <a:rPr sz="1100">
                <a:solidFill>
                  <a:srgbClr val="161616"/>
                </a:solidFill>
                <a:latin typeface="Segoe UI"/>
              </a:rPr>
              <a:t>• Escalation within 24 hours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Risk Register</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85800" y="1463040"/>
          <a:ext cx="10789920" cy="2468880"/>
        </p:xfrm>
        <a:graphic>
          <a:graphicData uri="http://schemas.openxmlformats.org/drawingml/2006/table">
            <a:tbl>
              <a:tblPr firstRow="1" bandRow="1">
                <a:tableStyleId>{5C22544A-7EE6-4342-B048-85BDC9FD1C3A}</a:tableStyleId>
              </a:tblPr>
              <a:tblGrid>
                <a:gridCol w="2157984"/>
                <a:gridCol w="2157984"/>
                <a:gridCol w="2157984"/>
                <a:gridCol w="2157984"/>
                <a:gridCol w="2157984"/>
              </a:tblGrid>
              <a:tr h="411480">
                <a:tc>
                  <a:txBody>
                    <a:bodyPr/>
                    <a:lstStyle/>
                    <a:p>
                      <a:pPr>
                        <a:defRPr sz="1200" b="1">
                          <a:solidFill>
                            <a:srgbClr val="FFFFFF"/>
                          </a:solidFill>
                          <a:latin typeface="Segoe UI"/>
                        </a:defRPr>
                      </a:pPr>
                      <a:r>
                        <a:t>#</a:t>
                      </a:r>
                    </a:p>
                  </a:txBody>
                  <a:tcPr anchor="ctr">
                    <a:solidFill>
                      <a:srgbClr val="0F62FE"/>
                    </a:solidFill>
                  </a:tcPr>
                </a:tc>
                <a:tc>
                  <a:txBody>
                    <a:bodyPr/>
                    <a:lstStyle/>
                    <a:p>
                      <a:pPr>
                        <a:defRPr sz="1200" b="1">
                          <a:solidFill>
                            <a:srgbClr val="FFFFFF"/>
                          </a:solidFill>
                          <a:latin typeface="Segoe UI"/>
                        </a:defRPr>
                      </a:pPr>
                      <a:r>
                        <a:t>Risk</a:t>
                      </a:r>
                    </a:p>
                  </a:txBody>
                  <a:tcPr anchor="ctr">
                    <a:solidFill>
                      <a:srgbClr val="0F62FE"/>
                    </a:solidFill>
                  </a:tcPr>
                </a:tc>
                <a:tc>
                  <a:txBody>
                    <a:bodyPr/>
                    <a:lstStyle/>
                    <a:p>
                      <a:pPr>
                        <a:defRPr sz="1200" b="1">
                          <a:solidFill>
                            <a:srgbClr val="FFFFFF"/>
                          </a:solidFill>
                          <a:latin typeface="Segoe UI"/>
                        </a:defRPr>
                      </a:pPr>
                      <a:r>
                        <a:t>Probability</a:t>
                      </a:r>
                    </a:p>
                  </a:txBody>
                  <a:tcPr anchor="ctr">
                    <a:solidFill>
                      <a:srgbClr val="0F62FE"/>
                    </a:solidFill>
                  </a:tcPr>
                </a:tc>
                <a:tc>
                  <a:txBody>
                    <a:bodyPr/>
                    <a:lstStyle/>
                    <a:p>
                      <a:pPr>
                        <a:defRPr sz="1200" b="1">
                          <a:solidFill>
                            <a:srgbClr val="FFFFFF"/>
                          </a:solidFill>
                          <a:latin typeface="Segoe UI"/>
                        </a:defRPr>
                      </a:pPr>
                      <a:r>
                        <a:t>Impact</a:t>
                      </a:r>
                    </a:p>
                  </a:txBody>
                  <a:tcPr anchor="ctr">
                    <a:solidFill>
                      <a:srgbClr val="0F62FE"/>
                    </a:solidFill>
                  </a:tcPr>
                </a:tc>
                <a:tc>
                  <a:txBody>
                    <a:bodyPr/>
                    <a:lstStyle/>
                    <a:p>
                      <a:pPr>
                        <a:defRPr sz="1200" b="1">
                          <a:solidFill>
                            <a:srgbClr val="FFFFFF"/>
                          </a:solidFill>
                          <a:latin typeface="Segoe UI"/>
                        </a:defRPr>
                      </a:pPr>
                      <a:r>
                        <a:t>Mitigation</a:t>
                      </a:r>
                    </a:p>
                  </a:txBody>
                  <a:tcPr anchor="ctr">
                    <a:solidFill>
                      <a:srgbClr val="0F62FE"/>
                    </a:solidFill>
                  </a:tcPr>
                </a:tc>
              </a:tr>
              <a:tr h="411480">
                <a:tc>
                  <a:txBody>
                    <a:bodyPr/>
                    <a:lstStyle/>
                    <a:p>
                      <a:pPr>
                        <a:defRPr sz="1200">
                          <a:solidFill>
                            <a:srgbClr val="161616"/>
                          </a:solidFill>
                          <a:latin typeface="Segoe UI"/>
                        </a:defRPr>
                      </a:pPr>
                      <a:r>
                        <a:t>R1</a:t>
                      </a:r>
                    </a:p>
                  </a:txBody>
                  <a:tcPr anchor="ctr">
                    <a:solidFill>
                      <a:srgbClr val="FFFFFF"/>
                    </a:solidFill>
                  </a:tcPr>
                </a:tc>
                <a:tc>
                  <a:txBody>
                    <a:bodyPr/>
                    <a:lstStyle/>
                    <a:p>
                      <a:pPr>
                        <a:defRPr sz="1200">
                          <a:solidFill>
                            <a:srgbClr val="161616"/>
                          </a:solidFill>
                          <a:latin typeface="Segoe UI"/>
                        </a:defRPr>
                      </a:pPr>
                      <a:r>
                        <a:t>Infrastructure delays</a:t>
                      </a:r>
                    </a:p>
                  </a:txBody>
                  <a:tcPr anchor="ctr">
                    <a:solidFill>
                      <a:srgbClr val="FFFFFF"/>
                    </a:solidFill>
                  </a:tcPr>
                </a:tc>
                <a:tc>
                  <a:txBody>
                    <a:bodyPr/>
                    <a:lstStyle/>
                    <a:p>
                      <a:pPr>
                        <a:defRPr sz="1200">
                          <a:solidFill>
                            <a:srgbClr val="161616"/>
                          </a:solidFill>
                          <a:latin typeface="Segoe UI"/>
                        </a:defRPr>
                      </a:pPr>
                      <a:r>
                        <a:t>Medium</a:t>
                      </a:r>
                    </a:p>
                  </a:txBody>
                  <a:tcPr anchor="ctr">
                    <a:solidFill>
                      <a:srgbClr val="FFFFFF"/>
                    </a:solidFill>
                  </a:tcPr>
                </a:tc>
                <a:tc>
                  <a:txBody>
                    <a:bodyPr/>
                    <a:lstStyle/>
                    <a:p>
                      <a:pPr>
                        <a:defRPr sz="1200">
                          <a:solidFill>
                            <a:srgbClr val="161616"/>
                          </a:solidFill>
                          <a:latin typeface="Segoe UI"/>
                        </a:defRPr>
                      </a:pPr>
                      <a:r>
                        <a:t>High</a:t>
                      </a:r>
                    </a:p>
                  </a:txBody>
                  <a:tcPr anchor="ctr">
                    <a:solidFill>
                      <a:srgbClr val="FFFFFF"/>
                    </a:solidFill>
                  </a:tcPr>
                </a:tc>
                <a:tc>
                  <a:txBody>
                    <a:bodyPr/>
                    <a:lstStyle/>
                    <a:p>
                      <a:pPr>
                        <a:defRPr sz="1200">
                          <a:solidFill>
                            <a:srgbClr val="161616"/>
                          </a:solidFill>
                          <a:latin typeface="Segoe UI"/>
                        </a:defRPr>
                      </a:pPr>
                      <a:r>
                        <a:t>Early engagement</a:t>
                      </a:r>
                    </a:p>
                  </a:txBody>
                  <a:tcPr anchor="ctr">
                    <a:solidFill>
                      <a:srgbClr val="FFFFFF"/>
                    </a:solidFill>
                  </a:tcPr>
                </a:tc>
              </a:tr>
              <a:tr h="411480">
                <a:tc>
                  <a:txBody>
                    <a:bodyPr/>
                    <a:lstStyle/>
                    <a:p>
                      <a:pPr>
                        <a:defRPr sz="1200">
                          <a:solidFill>
                            <a:srgbClr val="161616"/>
                          </a:solidFill>
                          <a:latin typeface="Segoe UI"/>
                        </a:defRPr>
                      </a:pPr>
                      <a:r>
                        <a:t>R2</a:t>
                      </a:r>
                    </a:p>
                  </a:txBody>
                  <a:tcPr anchor="ctr">
                    <a:solidFill>
                      <a:srgbClr val="E8E8E8"/>
                    </a:solidFill>
                  </a:tcPr>
                </a:tc>
                <a:tc>
                  <a:txBody>
                    <a:bodyPr/>
                    <a:lstStyle/>
                    <a:p>
                      <a:pPr>
                        <a:defRPr sz="1200">
                          <a:solidFill>
                            <a:srgbClr val="161616"/>
                          </a:solidFill>
                          <a:latin typeface="Segoe UI"/>
                        </a:defRPr>
                      </a:pPr>
                      <a:r>
                        <a:t>Resource unavailability</a:t>
                      </a:r>
                    </a:p>
                  </a:txBody>
                  <a:tcPr anchor="ctr">
                    <a:solidFill>
                      <a:srgbClr val="E8E8E8"/>
                    </a:solidFill>
                  </a:tcPr>
                </a:tc>
                <a:tc>
                  <a:txBody>
                    <a:bodyPr/>
                    <a:lstStyle/>
                    <a:p>
                      <a:pPr>
                        <a:defRPr sz="1200">
                          <a:solidFill>
                            <a:srgbClr val="161616"/>
                          </a:solidFill>
                          <a:latin typeface="Segoe UI"/>
                        </a:defRPr>
                      </a:pPr>
                      <a:r>
                        <a:t>Medium</a:t>
                      </a:r>
                    </a:p>
                  </a:txBody>
                  <a:tcPr anchor="ctr">
                    <a:solidFill>
                      <a:srgbClr val="E8E8E8"/>
                    </a:solidFill>
                  </a:tcPr>
                </a:tc>
                <a:tc>
                  <a:txBody>
                    <a:bodyPr/>
                    <a:lstStyle/>
                    <a:p>
                      <a:pPr>
                        <a:defRPr sz="1200">
                          <a:solidFill>
                            <a:srgbClr val="161616"/>
                          </a:solidFill>
                          <a:latin typeface="Segoe UI"/>
                        </a:defRPr>
                      </a:pPr>
                      <a:r>
                        <a:t>Medium</a:t>
                      </a:r>
                    </a:p>
                  </a:txBody>
                  <a:tcPr anchor="ctr">
                    <a:solidFill>
                      <a:srgbClr val="E8E8E8"/>
                    </a:solidFill>
                  </a:tcPr>
                </a:tc>
                <a:tc>
                  <a:txBody>
                    <a:bodyPr/>
                    <a:lstStyle/>
                    <a:p>
                      <a:pPr>
                        <a:defRPr sz="1200">
                          <a:solidFill>
                            <a:srgbClr val="161616"/>
                          </a:solidFill>
                          <a:latin typeface="Segoe UI"/>
                        </a:defRPr>
                      </a:pPr>
                      <a:r>
                        <a:t>Backup resources</a:t>
                      </a:r>
                    </a:p>
                  </a:txBody>
                  <a:tcPr anchor="ctr">
                    <a:solidFill>
                      <a:srgbClr val="E8E8E8"/>
                    </a:solidFill>
                  </a:tcPr>
                </a:tc>
              </a:tr>
              <a:tr h="411480">
                <a:tc>
                  <a:txBody>
                    <a:bodyPr/>
                    <a:lstStyle/>
                    <a:p>
                      <a:pPr>
                        <a:defRPr sz="1200">
                          <a:solidFill>
                            <a:srgbClr val="161616"/>
                          </a:solidFill>
                          <a:latin typeface="Segoe UI"/>
                        </a:defRPr>
                      </a:pPr>
                      <a:r>
                        <a:t>R3</a:t>
                      </a:r>
                    </a:p>
                  </a:txBody>
                  <a:tcPr anchor="ctr">
                    <a:solidFill>
                      <a:srgbClr val="FFFFFF"/>
                    </a:solidFill>
                  </a:tcPr>
                </a:tc>
                <a:tc>
                  <a:txBody>
                    <a:bodyPr/>
                    <a:lstStyle/>
                    <a:p>
                      <a:pPr>
                        <a:defRPr sz="1200">
                          <a:solidFill>
                            <a:srgbClr val="161616"/>
                          </a:solidFill>
                          <a:latin typeface="Segoe UI"/>
                        </a:defRPr>
                      </a:pPr>
                      <a:r>
                        <a:t>Log source access issues</a:t>
                      </a:r>
                    </a:p>
                  </a:txBody>
                  <a:tcPr anchor="ctr">
                    <a:solidFill>
                      <a:srgbClr val="FFFFFF"/>
                    </a:solidFill>
                  </a:tcPr>
                </a:tc>
                <a:tc>
                  <a:txBody>
                    <a:bodyPr/>
                    <a:lstStyle/>
                    <a:p>
                      <a:pPr>
                        <a:defRPr sz="1200">
                          <a:solidFill>
                            <a:srgbClr val="161616"/>
                          </a:solidFill>
                          <a:latin typeface="Segoe UI"/>
                        </a:defRPr>
                      </a:pPr>
                      <a:r>
                        <a:t>High</a:t>
                      </a:r>
                    </a:p>
                  </a:txBody>
                  <a:tcPr anchor="ctr">
                    <a:solidFill>
                      <a:srgbClr val="FFFFFF"/>
                    </a:solidFill>
                  </a:tcPr>
                </a:tc>
                <a:tc>
                  <a:txBody>
                    <a:bodyPr/>
                    <a:lstStyle/>
                    <a:p>
                      <a:pPr>
                        <a:defRPr sz="1200">
                          <a:solidFill>
                            <a:srgbClr val="161616"/>
                          </a:solidFill>
                          <a:latin typeface="Segoe UI"/>
                        </a:defRPr>
                      </a:pPr>
                      <a:r>
                        <a:t>Medium</a:t>
                      </a:r>
                    </a:p>
                  </a:txBody>
                  <a:tcPr anchor="ctr">
                    <a:solidFill>
                      <a:srgbClr val="FFFFFF"/>
                    </a:solidFill>
                  </a:tcPr>
                </a:tc>
                <a:tc>
                  <a:txBody>
                    <a:bodyPr/>
                    <a:lstStyle/>
                    <a:p>
                      <a:pPr>
                        <a:defRPr sz="1200">
                          <a:solidFill>
                            <a:srgbClr val="161616"/>
                          </a:solidFill>
                          <a:latin typeface="Segoe UI"/>
                        </a:defRPr>
                      </a:pPr>
                      <a:r>
                        <a:t>Pre-validation</a:t>
                      </a:r>
                    </a:p>
                  </a:txBody>
                  <a:tcPr anchor="ctr">
                    <a:solidFill>
                      <a:srgbClr val="FFFFFF"/>
                    </a:solidFill>
                  </a:tcPr>
                </a:tc>
              </a:tr>
              <a:tr h="411480">
                <a:tc>
                  <a:txBody>
                    <a:bodyPr/>
                    <a:lstStyle/>
                    <a:p>
                      <a:pPr>
                        <a:defRPr sz="1200">
                          <a:solidFill>
                            <a:srgbClr val="161616"/>
                          </a:solidFill>
                          <a:latin typeface="Segoe UI"/>
                        </a:defRPr>
                      </a:pPr>
                      <a:r>
                        <a:t>R4</a:t>
                      </a:r>
                    </a:p>
                  </a:txBody>
                  <a:tcPr anchor="ctr">
                    <a:solidFill>
                      <a:srgbClr val="E8E8E8"/>
                    </a:solidFill>
                  </a:tcPr>
                </a:tc>
                <a:tc>
                  <a:txBody>
                    <a:bodyPr/>
                    <a:lstStyle/>
                    <a:p>
                      <a:pPr>
                        <a:defRPr sz="1200">
                          <a:solidFill>
                            <a:srgbClr val="161616"/>
                          </a:solidFill>
                          <a:latin typeface="Segoe UI"/>
                        </a:defRPr>
                      </a:pPr>
                      <a:r>
                        <a:t>Scope creep</a:t>
                      </a:r>
                    </a:p>
                  </a:txBody>
                  <a:tcPr anchor="ctr">
                    <a:solidFill>
                      <a:srgbClr val="E8E8E8"/>
                    </a:solidFill>
                  </a:tcPr>
                </a:tc>
                <a:tc>
                  <a:txBody>
                    <a:bodyPr/>
                    <a:lstStyle/>
                    <a:p>
                      <a:pPr>
                        <a:defRPr sz="1200">
                          <a:solidFill>
                            <a:srgbClr val="161616"/>
                          </a:solidFill>
                          <a:latin typeface="Segoe UI"/>
                        </a:defRPr>
                      </a:pPr>
                      <a:r>
                        <a:t>Medium</a:t>
                      </a:r>
                    </a:p>
                  </a:txBody>
                  <a:tcPr anchor="ctr">
                    <a:solidFill>
                      <a:srgbClr val="E8E8E8"/>
                    </a:solidFill>
                  </a:tcPr>
                </a:tc>
                <a:tc>
                  <a:txBody>
                    <a:bodyPr/>
                    <a:lstStyle/>
                    <a:p>
                      <a:pPr>
                        <a:defRPr sz="1200">
                          <a:solidFill>
                            <a:srgbClr val="161616"/>
                          </a:solidFill>
                          <a:latin typeface="Segoe UI"/>
                        </a:defRPr>
                      </a:pPr>
                      <a:r>
                        <a:t>High</a:t>
                      </a:r>
                    </a:p>
                  </a:txBody>
                  <a:tcPr anchor="ctr">
                    <a:solidFill>
                      <a:srgbClr val="E8E8E8"/>
                    </a:solidFill>
                  </a:tcPr>
                </a:tc>
                <a:tc>
                  <a:txBody>
                    <a:bodyPr/>
                    <a:lstStyle/>
                    <a:p>
                      <a:pPr>
                        <a:defRPr sz="1200">
                          <a:solidFill>
                            <a:srgbClr val="161616"/>
                          </a:solidFill>
                          <a:latin typeface="Segoe UI"/>
                        </a:defRPr>
                      </a:pPr>
                      <a:r>
                        <a:t>Change control</a:t>
                      </a:r>
                    </a:p>
                  </a:txBody>
                  <a:tcPr anchor="ctr">
                    <a:solidFill>
                      <a:srgbClr val="E8E8E8"/>
                    </a:solidFill>
                  </a:tcPr>
                </a:tc>
              </a:tr>
              <a:tr h="411480">
                <a:tc>
                  <a:txBody>
                    <a:bodyPr/>
                    <a:lstStyle/>
                    <a:p>
                      <a:pPr>
                        <a:defRPr sz="1200">
                          <a:solidFill>
                            <a:srgbClr val="161616"/>
                          </a:solidFill>
                          <a:latin typeface="Segoe UI"/>
                        </a:defRPr>
                      </a:pPr>
                      <a:r>
                        <a:t>R5</a:t>
                      </a:r>
                    </a:p>
                  </a:txBody>
                  <a:tcPr anchor="ctr">
                    <a:solidFill>
                      <a:srgbClr val="FFFFFF"/>
                    </a:solidFill>
                  </a:tcPr>
                </a:tc>
                <a:tc>
                  <a:txBody>
                    <a:bodyPr/>
                    <a:lstStyle/>
                    <a:p>
                      <a:pPr>
                        <a:defRPr sz="1200">
                          <a:solidFill>
                            <a:srgbClr val="161616"/>
                          </a:solidFill>
                          <a:latin typeface="Segoe UI"/>
                        </a:defRPr>
                      </a:pPr>
                      <a:r>
                        <a:t>Integration complexity</a:t>
                      </a:r>
                    </a:p>
                  </a:txBody>
                  <a:tcPr anchor="ctr">
                    <a:solidFill>
                      <a:srgbClr val="FFFFFF"/>
                    </a:solidFill>
                  </a:tcPr>
                </a:tc>
                <a:tc>
                  <a:txBody>
                    <a:bodyPr/>
                    <a:lstStyle/>
                    <a:p>
                      <a:pPr>
                        <a:defRPr sz="1200">
                          <a:solidFill>
                            <a:srgbClr val="161616"/>
                          </a:solidFill>
                          <a:latin typeface="Segoe UI"/>
                        </a:defRPr>
                      </a:pPr>
                      <a:r>
                        <a:t>Medium</a:t>
                      </a:r>
                    </a:p>
                  </a:txBody>
                  <a:tcPr anchor="ctr">
                    <a:solidFill>
                      <a:srgbClr val="FFFFFF"/>
                    </a:solidFill>
                  </a:tcPr>
                </a:tc>
                <a:tc>
                  <a:txBody>
                    <a:bodyPr/>
                    <a:lstStyle/>
                    <a:p>
                      <a:pPr>
                        <a:defRPr sz="1200">
                          <a:solidFill>
                            <a:srgbClr val="161616"/>
                          </a:solidFill>
                          <a:latin typeface="Segoe UI"/>
                        </a:defRPr>
                      </a:pPr>
                      <a:r>
                        <a:t>Medium</a:t>
                      </a:r>
                    </a:p>
                  </a:txBody>
                  <a:tcPr anchor="ctr">
                    <a:solidFill>
                      <a:srgbClr val="FFFFFF"/>
                    </a:solidFill>
                  </a:tcPr>
                </a:tc>
                <a:tc>
                  <a:txBody>
                    <a:bodyPr/>
                    <a:lstStyle/>
                    <a:p>
                      <a:pPr>
                        <a:defRPr sz="1200">
                          <a:solidFill>
                            <a:srgbClr val="161616"/>
                          </a:solidFill>
                          <a:latin typeface="Segoe UI"/>
                        </a:defRPr>
                      </a:pPr>
                      <a:r>
                        <a:t>Technical POC</a:t>
                      </a:r>
                    </a:p>
                  </a:txBody>
                  <a:tcPr anchor="ctr">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Escalation Path</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irit801t.png"/>
          <p:cNvPicPr>
            <a:picLocks noChangeAspect="1"/>
          </p:cNvPicPr>
          <p:nvPr/>
        </p:nvPicPr>
        <p:blipFill>
          <a:blip r:embed="rId2"/>
          <a:stretch>
            <a:fillRect/>
          </a:stretch>
        </p:blipFill>
        <p:spPr>
          <a:xfrm>
            <a:off x="3840480" y="1371600"/>
            <a:ext cx="4572000" cy="32004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0"/>
            <a:ext cx="10789920" cy="914400"/>
          </a:xfrm>
          <a:prstGeom prst="rect">
            <a:avLst/>
          </a:prstGeom>
          <a:noFill/>
        </p:spPr>
        <p:txBody>
          <a:bodyPr wrap="none">
            <a:spAutoFit/>
          </a:bodyPr>
          <a:lstStyle/>
          <a:p>
            <a:pPr algn="ctr"/>
            <a:r>
              <a:rPr sz="7200" b="1">
                <a:solidFill>
                  <a:srgbClr val="0F62FE"/>
                </a:solidFill>
                <a:latin typeface="Segoe UI"/>
              </a:rPr>
              <a:t>08</a:t>
            </a:r>
          </a:p>
        </p:txBody>
      </p:sp>
      <p:sp>
        <p:nvSpPr>
          <p:cNvPr id="4" name="TextBox 3"/>
          <p:cNvSpPr txBox="1"/>
          <p:nvPr/>
        </p:nvSpPr>
        <p:spPr>
          <a:xfrm>
            <a:off x="685800" y="3474720"/>
            <a:ext cx="10789920" cy="731520"/>
          </a:xfrm>
          <a:prstGeom prst="rect">
            <a:avLst/>
          </a:prstGeom>
          <a:noFill/>
        </p:spPr>
        <p:txBody>
          <a:bodyPr wrap="none">
            <a:spAutoFit/>
          </a:bodyPr>
          <a:lstStyle/>
          <a:p>
            <a:pPr algn="ctr"/>
            <a:r>
              <a:rPr sz="3600">
                <a:solidFill>
                  <a:srgbClr val="161616"/>
                </a:solidFill>
                <a:latin typeface="Segoe UI"/>
              </a:rPr>
              <a:t>Next Steps &amp; Q&amp;A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0" y="0"/>
            <a:ext cx="4419295" cy="6858000"/>
          </a:xfrm>
          <a:prstGeom prst="rect">
            <a:avLst/>
          </a:prstGeom>
          <a:solidFill>
            <a:srgbClr val="0F62FE">
              <a:lumMod val="60000"/>
              <a:lumOff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228600"/>
            <a:ext cx="11430000" cy="502920"/>
          </a:xfrm>
          <a:prstGeom prst="roundRect">
            <a:avLst/>
          </a:prstGeom>
          <a:solidFill>
            <a:srgbClr val="FFFFFF"/>
          </a:solidFill>
          <a:ln w="254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5486400" cy="365760"/>
          </a:xfrm>
          <a:prstGeom prst="rect">
            <a:avLst/>
          </a:prstGeom>
          <a:noFill/>
        </p:spPr>
        <p:txBody>
          <a:bodyPr wrap="none">
            <a:spAutoFit/>
          </a:bodyPr>
          <a:lstStyle/>
          <a:p>
            <a:r>
              <a:rPr sz="1100">
                <a:solidFill>
                  <a:srgbClr val="161616"/>
                </a:solidFill>
                <a:latin typeface="Segoe UI"/>
              </a:rPr>
              <a:t>⌂  NEXT STEPS</a:t>
            </a:r>
          </a:p>
        </p:txBody>
      </p:sp>
      <p:sp>
        <p:nvSpPr>
          <p:cNvPr id="5" name="TextBox 4"/>
          <p:cNvSpPr txBox="1"/>
          <p:nvPr/>
        </p:nvSpPr>
        <p:spPr>
          <a:xfrm>
            <a:off x="8229600" y="320040"/>
            <a:ext cx="3200400" cy="365760"/>
          </a:xfrm>
          <a:prstGeom prst="rect">
            <a:avLst/>
          </a:prstGeom>
          <a:noFill/>
        </p:spPr>
        <p:txBody>
          <a:bodyPr wrap="none">
            <a:spAutoFit/>
          </a:bodyPr>
          <a:lstStyle/>
          <a:p>
            <a:pPr algn="r"/>
            <a:r>
              <a:rPr sz="1100" b="1">
                <a:solidFill>
                  <a:srgbClr val="161616"/>
                </a:solidFill>
                <a:latin typeface="Segoe UI"/>
              </a:rPr>
              <a:t>ACTION ITEMS</a:t>
            </a:r>
          </a:p>
        </p:txBody>
      </p:sp>
      <p:sp>
        <p:nvSpPr>
          <p:cNvPr id="6" name="TextBox 5"/>
          <p:cNvSpPr txBox="1"/>
          <p:nvPr/>
        </p:nvSpPr>
        <p:spPr>
          <a:xfrm>
            <a:off x="457200" y="1005840"/>
            <a:ext cx="6400800" cy="1463040"/>
          </a:xfrm>
          <a:prstGeom prst="rect">
            <a:avLst/>
          </a:prstGeom>
          <a:noFill/>
        </p:spPr>
        <p:txBody>
          <a:bodyPr wrap="square">
            <a:spAutoFit/>
          </a:bodyPr>
          <a:lstStyle/>
          <a:p>
            <a:r>
              <a:rPr sz="4200" b="1">
                <a:solidFill>
                  <a:srgbClr val="161616"/>
                </a:solidFill>
                <a:latin typeface="Segoe UI"/>
              </a:rPr>
              <a:t>KEY ACTIONS
MOVING FORWARD</a:t>
            </a:r>
          </a:p>
        </p:txBody>
      </p:sp>
      <p:sp>
        <p:nvSpPr>
          <p:cNvPr id="7" name="Rounded Rectangle 6"/>
          <p:cNvSpPr/>
          <p:nvPr/>
        </p:nvSpPr>
        <p:spPr>
          <a:xfrm>
            <a:off x="7498079" y="1188720"/>
            <a:ext cx="4114800" cy="3200400"/>
          </a:xfrm>
          <a:prstGeom prst="roundRect">
            <a:avLst/>
          </a:prstGeom>
          <a:solidFill>
            <a:srgbClr val="D8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2743200"/>
            <a:ext cx="3200400" cy="16459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880360"/>
            <a:ext cx="2926080" cy="365760"/>
          </a:xfrm>
          <a:prstGeom prst="rect">
            <a:avLst/>
          </a:prstGeom>
          <a:noFill/>
        </p:spPr>
        <p:txBody>
          <a:bodyPr wrap="none">
            <a:spAutoFit/>
          </a:bodyPr>
          <a:lstStyle/>
          <a:p>
            <a:r>
              <a:rPr sz="1400" b="1">
                <a:solidFill>
                  <a:srgbClr val="0F62FE"/>
                </a:solidFill>
                <a:latin typeface="Segoe UI"/>
              </a:rPr>
              <a:t>Infrastructure Setup</a:t>
            </a:r>
          </a:p>
        </p:txBody>
      </p:sp>
      <p:sp>
        <p:nvSpPr>
          <p:cNvPr id="10" name="TextBox 9"/>
          <p:cNvSpPr txBox="1"/>
          <p:nvPr/>
        </p:nvSpPr>
        <p:spPr>
          <a:xfrm>
            <a:off x="594360" y="3246120"/>
            <a:ext cx="2926080" cy="1005840"/>
          </a:xfrm>
          <a:prstGeom prst="rect">
            <a:avLst/>
          </a:prstGeom>
          <a:noFill/>
        </p:spPr>
        <p:txBody>
          <a:bodyPr wrap="square">
            <a:spAutoFit/>
          </a:bodyPr>
          <a:lstStyle/>
          <a:p>
            <a:r>
              <a:rPr sz="1000">
                <a:solidFill>
                  <a:srgbClr val="161616"/>
                </a:solidFill>
                <a:latin typeface="Segoe UI"/>
              </a:rPr>
              <a:t>Finalize hardware requirements and submit procurement requests. Ensure network connectivity and firewall rules are in place.</a:t>
            </a:r>
          </a:p>
        </p:txBody>
      </p:sp>
      <p:sp>
        <p:nvSpPr>
          <p:cNvPr id="11" name="Rounded Rectangle 10"/>
          <p:cNvSpPr/>
          <p:nvPr/>
        </p:nvSpPr>
        <p:spPr>
          <a:xfrm>
            <a:off x="3840480" y="2743200"/>
            <a:ext cx="3200400" cy="16459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40" y="2880360"/>
            <a:ext cx="2926080" cy="365760"/>
          </a:xfrm>
          <a:prstGeom prst="rect">
            <a:avLst/>
          </a:prstGeom>
          <a:noFill/>
        </p:spPr>
        <p:txBody>
          <a:bodyPr wrap="none">
            <a:spAutoFit/>
          </a:bodyPr>
          <a:lstStyle/>
          <a:p>
            <a:r>
              <a:rPr sz="1400" b="1">
                <a:solidFill>
                  <a:srgbClr val="0F62FE"/>
                </a:solidFill>
                <a:latin typeface="Segoe UI"/>
              </a:rPr>
              <a:t>Access &amp; Credentials</a:t>
            </a:r>
          </a:p>
        </p:txBody>
      </p:sp>
      <p:sp>
        <p:nvSpPr>
          <p:cNvPr id="13" name="TextBox 12"/>
          <p:cNvSpPr txBox="1"/>
          <p:nvPr/>
        </p:nvSpPr>
        <p:spPr>
          <a:xfrm>
            <a:off x="3977640" y="3246120"/>
            <a:ext cx="2926080" cy="1005840"/>
          </a:xfrm>
          <a:prstGeom prst="rect">
            <a:avLst/>
          </a:prstGeom>
          <a:noFill/>
        </p:spPr>
        <p:txBody>
          <a:bodyPr wrap="square">
            <a:spAutoFit/>
          </a:bodyPr>
          <a:lstStyle/>
          <a:p>
            <a:r>
              <a:rPr sz="1000">
                <a:solidFill>
                  <a:srgbClr val="161616"/>
                </a:solidFill>
                <a:latin typeface="Segoe UI"/>
              </a:rPr>
              <a:t>Prepare log source access credentials. Set up service accounts and API keys for automated collection.</a:t>
            </a:r>
          </a:p>
        </p:txBody>
      </p:sp>
      <p:sp>
        <p:nvSpPr>
          <p:cNvPr id="14" name="Rounded Rectangle 13"/>
          <p:cNvSpPr/>
          <p:nvPr/>
        </p:nvSpPr>
        <p:spPr>
          <a:xfrm>
            <a:off x="457200" y="4572000"/>
            <a:ext cx="3200400" cy="1645920"/>
          </a:xfrm>
          <a:prstGeom prst="round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709160"/>
            <a:ext cx="2926080" cy="365760"/>
          </a:xfrm>
          <a:prstGeom prst="rect">
            <a:avLst/>
          </a:prstGeom>
          <a:noFill/>
        </p:spPr>
        <p:txBody>
          <a:bodyPr wrap="none">
            <a:spAutoFit/>
          </a:bodyPr>
          <a:lstStyle/>
          <a:p>
            <a:r>
              <a:rPr sz="1400" b="1">
                <a:solidFill>
                  <a:srgbClr val="FFFFFF"/>
                </a:solidFill>
                <a:latin typeface="Segoe UI"/>
              </a:rPr>
              <a:t>Team Coordination</a:t>
            </a:r>
          </a:p>
        </p:txBody>
      </p:sp>
      <p:sp>
        <p:nvSpPr>
          <p:cNvPr id="16" name="TextBox 15"/>
          <p:cNvSpPr txBox="1"/>
          <p:nvPr/>
        </p:nvSpPr>
        <p:spPr>
          <a:xfrm>
            <a:off x="594360" y="5074920"/>
            <a:ext cx="2926080" cy="1005840"/>
          </a:xfrm>
          <a:prstGeom prst="rect">
            <a:avLst/>
          </a:prstGeom>
          <a:noFill/>
        </p:spPr>
        <p:txBody>
          <a:bodyPr wrap="square">
            <a:spAutoFit/>
          </a:bodyPr>
          <a:lstStyle/>
          <a:p>
            <a:r>
              <a:rPr sz="1000">
                <a:solidFill>
                  <a:srgbClr val="E0E8FF"/>
                </a:solidFill>
                <a:latin typeface="Segoe UI"/>
              </a:rPr>
              <a:t>Schedule Phase 1 kickoff meeting. Assign team members and confirm availability for training sessions.</a:t>
            </a:r>
          </a:p>
        </p:txBody>
      </p:sp>
      <p:sp>
        <p:nvSpPr>
          <p:cNvPr id="17" name="Rounded Rectangle 16"/>
          <p:cNvSpPr/>
          <p:nvPr/>
        </p:nvSpPr>
        <p:spPr>
          <a:xfrm>
            <a:off x="3840480" y="4572000"/>
            <a:ext cx="3200400" cy="1645920"/>
          </a:xfrm>
          <a:prstGeom prst="round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77640" y="4709160"/>
            <a:ext cx="2926080" cy="365760"/>
          </a:xfrm>
          <a:prstGeom prst="rect">
            <a:avLst/>
          </a:prstGeom>
          <a:noFill/>
        </p:spPr>
        <p:txBody>
          <a:bodyPr wrap="none">
            <a:spAutoFit/>
          </a:bodyPr>
          <a:lstStyle/>
          <a:p>
            <a:r>
              <a:rPr sz="1400" b="1">
                <a:solidFill>
                  <a:srgbClr val="FFFFFF"/>
                </a:solidFill>
                <a:latin typeface="Segoe UI"/>
              </a:rPr>
              <a:t>Documentation</a:t>
            </a:r>
          </a:p>
        </p:txBody>
      </p:sp>
      <p:sp>
        <p:nvSpPr>
          <p:cNvPr id="19" name="TextBox 18"/>
          <p:cNvSpPr txBox="1"/>
          <p:nvPr/>
        </p:nvSpPr>
        <p:spPr>
          <a:xfrm>
            <a:off x="3977640" y="5074920"/>
            <a:ext cx="2926080" cy="1005840"/>
          </a:xfrm>
          <a:prstGeom prst="rect">
            <a:avLst/>
          </a:prstGeom>
          <a:noFill/>
        </p:spPr>
        <p:txBody>
          <a:bodyPr wrap="square">
            <a:spAutoFit/>
          </a:bodyPr>
          <a:lstStyle/>
          <a:p>
            <a:r>
              <a:rPr sz="1000">
                <a:solidFill>
                  <a:srgbClr val="E0E8FF"/>
                </a:solidFill>
                <a:latin typeface="Segoe UI"/>
              </a:rPr>
              <a:t>Distribute meeting minutes and project charter. Review and sign off on scope document.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640080"/>
          </a:xfrm>
          <a:prstGeom prst="rect">
            <a:avLst/>
          </a:prstGeom>
          <a:noFill/>
        </p:spPr>
        <p:txBody>
          <a:bodyPr wrap="none">
            <a:spAutoFit/>
          </a:bodyPr>
          <a:lstStyle/>
          <a:p>
            <a:r>
              <a:rPr sz="3200" b="1">
                <a:solidFill>
                  <a:srgbClr val="0F62FE"/>
                </a:solidFill>
                <a:latin typeface="Segoe UI"/>
              </a:rPr>
              <a:t>Immediate Next Steps</a:t>
            </a:r>
          </a:p>
        </p:txBody>
      </p:sp>
      <p:sp>
        <p:nvSpPr>
          <p:cNvPr id="3" name="Rectangle 2"/>
          <p:cNvSpPr/>
          <p:nvPr/>
        </p:nvSpPr>
        <p:spPr>
          <a:xfrm>
            <a:off x="685800" y="1234440"/>
            <a:ext cx="137160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85800" y="1463040"/>
          <a:ext cx="10789920" cy="2468880"/>
        </p:xfrm>
        <a:graphic>
          <a:graphicData uri="http://schemas.openxmlformats.org/drawingml/2006/table">
            <a:tbl>
              <a:tblPr firstRow="1" bandRow="1">
                <a:tableStyleId>{5C22544A-7EE6-4342-B048-85BDC9FD1C3A}</a:tableStyleId>
              </a:tblPr>
              <a:tblGrid>
                <a:gridCol w="2697480"/>
                <a:gridCol w="2697480"/>
                <a:gridCol w="2697480"/>
                <a:gridCol w="2697480"/>
              </a:tblGrid>
              <a:tr h="411480">
                <a:tc>
                  <a:txBody>
                    <a:bodyPr/>
                    <a:lstStyle/>
                    <a:p>
                      <a:pPr>
                        <a:defRPr sz="1200" b="1">
                          <a:solidFill>
                            <a:srgbClr val="FFFFFF"/>
                          </a:solidFill>
                          <a:latin typeface="Segoe UI"/>
                        </a:defRPr>
                      </a:pPr>
                      <a:r>
                        <a:t>#</a:t>
                      </a:r>
                    </a:p>
                  </a:txBody>
                  <a:tcPr anchor="ctr">
                    <a:solidFill>
                      <a:srgbClr val="0F62FE"/>
                    </a:solidFill>
                  </a:tcPr>
                </a:tc>
                <a:tc>
                  <a:txBody>
                    <a:bodyPr/>
                    <a:lstStyle/>
                    <a:p>
                      <a:pPr>
                        <a:defRPr sz="1200" b="1">
                          <a:solidFill>
                            <a:srgbClr val="FFFFFF"/>
                          </a:solidFill>
                          <a:latin typeface="Segoe UI"/>
                        </a:defRPr>
                      </a:pPr>
                      <a:r>
                        <a:t>Action</a:t>
                      </a:r>
                    </a:p>
                  </a:txBody>
                  <a:tcPr anchor="ctr">
                    <a:solidFill>
                      <a:srgbClr val="0F62FE"/>
                    </a:solidFill>
                  </a:tcPr>
                </a:tc>
                <a:tc>
                  <a:txBody>
                    <a:bodyPr/>
                    <a:lstStyle/>
                    <a:p>
                      <a:pPr>
                        <a:defRPr sz="1200" b="1">
                          <a:solidFill>
                            <a:srgbClr val="FFFFFF"/>
                          </a:solidFill>
                          <a:latin typeface="Segoe UI"/>
                        </a:defRPr>
                      </a:pPr>
                      <a:r>
                        <a:t>Owner</a:t>
                      </a:r>
                    </a:p>
                  </a:txBody>
                  <a:tcPr anchor="ctr">
                    <a:solidFill>
                      <a:srgbClr val="0F62FE"/>
                    </a:solidFill>
                  </a:tcPr>
                </a:tc>
                <a:tc>
                  <a:txBody>
                    <a:bodyPr/>
                    <a:lstStyle/>
                    <a:p>
                      <a:pPr>
                        <a:defRPr sz="1200" b="1">
                          <a:solidFill>
                            <a:srgbClr val="FFFFFF"/>
                          </a:solidFill>
                          <a:latin typeface="Segoe UI"/>
                        </a:defRPr>
                      </a:pPr>
                      <a:r>
                        <a:t>Due Date</a:t>
                      </a:r>
                    </a:p>
                  </a:txBody>
                  <a:tcPr anchor="ctr">
                    <a:solidFill>
                      <a:srgbClr val="0F62FE"/>
                    </a:solidFill>
                  </a:tcPr>
                </a:tc>
              </a:tr>
              <a:tr h="411480">
                <a:tc>
                  <a:txBody>
                    <a:bodyPr/>
                    <a:lstStyle/>
                    <a:p>
                      <a:pPr>
                        <a:defRPr sz="1200">
                          <a:solidFill>
                            <a:srgbClr val="161616"/>
                          </a:solidFill>
                          <a:latin typeface="Segoe UI"/>
                        </a:defRPr>
                      </a:pPr>
                      <a:r>
                        <a:t>1</a:t>
                      </a:r>
                    </a:p>
                  </a:txBody>
                  <a:tcPr anchor="ctr">
                    <a:solidFill>
                      <a:srgbClr val="FFFFFF"/>
                    </a:solidFill>
                  </a:tcPr>
                </a:tc>
                <a:tc>
                  <a:txBody>
                    <a:bodyPr/>
                    <a:lstStyle/>
                    <a:p>
                      <a:pPr>
                        <a:defRPr sz="1200">
                          <a:solidFill>
                            <a:srgbClr val="161616"/>
                          </a:solidFill>
                          <a:latin typeface="Segoe UI"/>
                        </a:defRPr>
                      </a:pPr>
                      <a:r>
                        <a:t>Distribute meeting minutes</a:t>
                      </a:r>
                    </a:p>
                  </a:txBody>
                  <a:tcPr anchor="ctr">
                    <a:solidFill>
                      <a:srgbClr val="FFFFFF"/>
                    </a:solidFill>
                  </a:tcPr>
                </a:tc>
                <a:tc>
                  <a:txBody>
                    <a:bodyPr/>
                    <a:lstStyle/>
                    <a:p>
                      <a:pPr>
                        <a:defRPr sz="1200">
                          <a:solidFill>
                            <a:srgbClr val="161616"/>
                          </a:solidFill>
                          <a:latin typeface="Segoe UI"/>
                        </a:defRPr>
                      </a:pPr>
                      <a:r>
                        <a:t>Seekurity PM</a:t>
                      </a:r>
                    </a:p>
                  </a:txBody>
                  <a:tcPr anchor="ctr">
                    <a:solidFill>
                      <a:srgbClr val="FFFFFF"/>
                    </a:solidFill>
                  </a:tcPr>
                </a:tc>
                <a:tc>
                  <a:txBody>
                    <a:bodyPr/>
                    <a:lstStyle/>
                    <a:p>
                      <a:pPr>
                        <a:defRPr sz="1200">
                          <a:solidFill>
                            <a:srgbClr val="161616"/>
                          </a:solidFill>
                          <a:latin typeface="Segoe UI"/>
                        </a:defRPr>
                      </a:pPr>
                      <a:r>
                        <a:t>[DATE]</a:t>
                      </a:r>
                    </a:p>
                  </a:txBody>
                  <a:tcPr anchor="ctr">
                    <a:solidFill>
                      <a:srgbClr val="FFFFFF"/>
                    </a:solidFill>
                  </a:tcPr>
                </a:tc>
              </a:tr>
              <a:tr h="411480">
                <a:tc>
                  <a:txBody>
                    <a:bodyPr/>
                    <a:lstStyle/>
                    <a:p>
                      <a:pPr>
                        <a:defRPr sz="1200">
                          <a:solidFill>
                            <a:srgbClr val="161616"/>
                          </a:solidFill>
                          <a:latin typeface="Segoe UI"/>
                        </a:defRPr>
                      </a:pPr>
                      <a:r>
                        <a:t>2</a:t>
                      </a:r>
                    </a:p>
                  </a:txBody>
                  <a:tcPr anchor="ctr">
                    <a:solidFill>
                      <a:srgbClr val="E8E8E8"/>
                    </a:solidFill>
                  </a:tcPr>
                </a:tc>
                <a:tc>
                  <a:txBody>
                    <a:bodyPr/>
                    <a:lstStyle/>
                    <a:p>
                      <a:pPr>
                        <a:defRPr sz="1200">
                          <a:solidFill>
                            <a:srgbClr val="161616"/>
                          </a:solidFill>
                          <a:latin typeface="Segoe UI"/>
                        </a:defRPr>
                      </a:pPr>
                      <a:r>
                        <a:t>Finalize infrastructure requirements</a:t>
                      </a:r>
                    </a:p>
                  </a:txBody>
                  <a:tcPr anchor="ctr">
                    <a:solidFill>
                      <a:srgbClr val="E8E8E8"/>
                    </a:solidFill>
                  </a:tcPr>
                </a:tc>
                <a:tc>
                  <a:txBody>
                    <a:bodyPr/>
                    <a:lstStyle/>
                    <a:p>
                      <a:pPr>
                        <a:defRPr sz="1200">
                          <a:solidFill>
                            <a:srgbClr val="161616"/>
                          </a:solidFill>
                          <a:latin typeface="Segoe UI"/>
                        </a:defRPr>
                      </a:pPr>
                      <a:r>
                        <a:t>[CUSTOMER_NAME]</a:t>
                      </a:r>
                    </a:p>
                  </a:txBody>
                  <a:tcPr anchor="ctr">
                    <a:solidFill>
                      <a:srgbClr val="E8E8E8"/>
                    </a:solidFill>
                  </a:tcPr>
                </a:tc>
                <a:tc>
                  <a:txBody>
                    <a:bodyPr/>
                    <a:lstStyle/>
                    <a:p>
                      <a:pPr>
                        <a:defRPr sz="1200">
                          <a:solidFill>
                            <a:srgbClr val="161616"/>
                          </a:solidFill>
                          <a:latin typeface="Segoe UI"/>
                        </a:defRPr>
                      </a:pPr>
                      <a:r>
                        <a:t>[DATE]</a:t>
                      </a:r>
                    </a:p>
                  </a:txBody>
                  <a:tcPr anchor="ctr">
                    <a:solidFill>
                      <a:srgbClr val="E8E8E8"/>
                    </a:solidFill>
                  </a:tcPr>
                </a:tc>
              </a:tr>
              <a:tr h="411480">
                <a:tc>
                  <a:txBody>
                    <a:bodyPr/>
                    <a:lstStyle/>
                    <a:p>
                      <a:pPr>
                        <a:defRPr sz="1200">
                          <a:solidFill>
                            <a:srgbClr val="161616"/>
                          </a:solidFill>
                          <a:latin typeface="Segoe UI"/>
                        </a:defRPr>
                      </a:pPr>
                      <a:r>
                        <a:t>3</a:t>
                      </a:r>
                    </a:p>
                  </a:txBody>
                  <a:tcPr anchor="ctr">
                    <a:solidFill>
                      <a:srgbClr val="FFFFFF"/>
                    </a:solidFill>
                  </a:tcPr>
                </a:tc>
                <a:tc>
                  <a:txBody>
                    <a:bodyPr/>
                    <a:lstStyle/>
                    <a:p>
                      <a:pPr>
                        <a:defRPr sz="1200">
                          <a:solidFill>
                            <a:srgbClr val="161616"/>
                          </a:solidFill>
                          <a:latin typeface="Segoe UI"/>
                        </a:defRPr>
                      </a:pPr>
                      <a:r>
                        <a:t>Submit firewall change requests</a:t>
                      </a:r>
                    </a:p>
                  </a:txBody>
                  <a:tcPr anchor="ctr">
                    <a:solidFill>
                      <a:srgbClr val="FFFFFF"/>
                    </a:solidFill>
                  </a:tcPr>
                </a:tc>
                <a:tc>
                  <a:txBody>
                    <a:bodyPr/>
                    <a:lstStyle/>
                    <a:p>
                      <a:pPr>
                        <a:defRPr sz="1200">
                          <a:solidFill>
                            <a:srgbClr val="161616"/>
                          </a:solidFill>
                          <a:latin typeface="Segoe UI"/>
                        </a:defRPr>
                      </a:pPr>
                      <a:r>
                        <a:t>[CUSTOMER_NAME]</a:t>
                      </a:r>
                    </a:p>
                  </a:txBody>
                  <a:tcPr anchor="ctr">
                    <a:solidFill>
                      <a:srgbClr val="FFFFFF"/>
                    </a:solidFill>
                  </a:tcPr>
                </a:tc>
                <a:tc>
                  <a:txBody>
                    <a:bodyPr/>
                    <a:lstStyle/>
                    <a:p>
                      <a:pPr>
                        <a:defRPr sz="1200">
                          <a:solidFill>
                            <a:srgbClr val="161616"/>
                          </a:solidFill>
                          <a:latin typeface="Segoe UI"/>
                        </a:defRPr>
                      </a:pPr>
                      <a:r>
                        <a:t>[DATE]</a:t>
                      </a:r>
                    </a:p>
                  </a:txBody>
                  <a:tcPr anchor="ctr">
                    <a:solidFill>
                      <a:srgbClr val="FFFFFF"/>
                    </a:solidFill>
                  </a:tcPr>
                </a:tc>
              </a:tr>
              <a:tr h="411480">
                <a:tc>
                  <a:txBody>
                    <a:bodyPr/>
                    <a:lstStyle/>
                    <a:p>
                      <a:pPr>
                        <a:defRPr sz="1200">
                          <a:solidFill>
                            <a:srgbClr val="161616"/>
                          </a:solidFill>
                          <a:latin typeface="Segoe UI"/>
                        </a:defRPr>
                      </a:pPr>
                      <a:r>
                        <a:t>4</a:t>
                      </a:r>
                    </a:p>
                  </a:txBody>
                  <a:tcPr anchor="ctr">
                    <a:solidFill>
                      <a:srgbClr val="E8E8E8"/>
                    </a:solidFill>
                  </a:tcPr>
                </a:tc>
                <a:tc>
                  <a:txBody>
                    <a:bodyPr/>
                    <a:lstStyle/>
                    <a:p>
                      <a:pPr>
                        <a:defRPr sz="1200">
                          <a:solidFill>
                            <a:srgbClr val="161616"/>
                          </a:solidFill>
                          <a:latin typeface="Segoe UI"/>
                        </a:defRPr>
                      </a:pPr>
                      <a:r>
                        <a:t>Provide log source credentials</a:t>
                      </a:r>
                    </a:p>
                  </a:txBody>
                  <a:tcPr anchor="ctr">
                    <a:solidFill>
                      <a:srgbClr val="E8E8E8"/>
                    </a:solidFill>
                  </a:tcPr>
                </a:tc>
                <a:tc>
                  <a:txBody>
                    <a:bodyPr/>
                    <a:lstStyle/>
                    <a:p>
                      <a:pPr>
                        <a:defRPr sz="1200">
                          <a:solidFill>
                            <a:srgbClr val="161616"/>
                          </a:solidFill>
                          <a:latin typeface="Segoe UI"/>
                        </a:defRPr>
                      </a:pPr>
                      <a:r>
                        <a:t>[CUSTOMER_NAME]</a:t>
                      </a:r>
                    </a:p>
                  </a:txBody>
                  <a:tcPr anchor="ctr">
                    <a:solidFill>
                      <a:srgbClr val="E8E8E8"/>
                    </a:solidFill>
                  </a:tcPr>
                </a:tc>
                <a:tc>
                  <a:txBody>
                    <a:bodyPr/>
                    <a:lstStyle/>
                    <a:p>
                      <a:pPr>
                        <a:defRPr sz="1200">
                          <a:solidFill>
                            <a:srgbClr val="161616"/>
                          </a:solidFill>
                          <a:latin typeface="Segoe UI"/>
                        </a:defRPr>
                      </a:pPr>
                      <a:r>
                        <a:t>[DATE]</a:t>
                      </a:r>
                    </a:p>
                  </a:txBody>
                  <a:tcPr anchor="ctr">
                    <a:solidFill>
                      <a:srgbClr val="E8E8E8"/>
                    </a:solidFill>
                  </a:tcPr>
                </a:tc>
              </a:tr>
              <a:tr h="411480">
                <a:tc>
                  <a:txBody>
                    <a:bodyPr/>
                    <a:lstStyle/>
                    <a:p>
                      <a:pPr>
                        <a:defRPr sz="1200">
                          <a:solidFill>
                            <a:srgbClr val="161616"/>
                          </a:solidFill>
                          <a:latin typeface="Segoe UI"/>
                        </a:defRPr>
                      </a:pPr>
                      <a:r>
                        <a:t>5</a:t>
                      </a:r>
                    </a:p>
                  </a:txBody>
                  <a:tcPr anchor="ctr">
                    <a:solidFill>
                      <a:srgbClr val="FFFFFF"/>
                    </a:solidFill>
                  </a:tcPr>
                </a:tc>
                <a:tc>
                  <a:txBody>
                    <a:bodyPr/>
                    <a:lstStyle/>
                    <a:p>
                      <a:pPr>
                        <a:defRPr sz="1200">
                          <a:solidFill>
                            <a:srgbClr val="161616"/>
                          </a:solidFill>
                          <a:latin typeface="Segoe UI"/>
                        </a:defRPr>
                      </a:pPr>
                      <a:r>
                        <a:t>Schedule Phase 1 kickoff</a:t>
                      </a:r>
                    </a:p>
                  </a:txBody>
                  <a:tcPr anchor="ctr">
                    <a:solidFill>
                      <a:srgbClr val="FFFFFF"/>
                    </a:solidFill>
                  </a:tcPr>
                </a:tc>
                <a:tc>
                  <a:txBody>
                    <a:bodyPr/>
                    <a:lstStyle/>
                    <a:p>
                      <a:pPr>
                        <a:defRPr sz="1200">
                          <a:solidFill>
                            <a:srgbClr val="161616"/>
                          </a:solidFill>
                          <a:latin typeface="Segoe UI"/>
                        </a:defRPr>
                      </a:pPr>
                      <a:r>
                        <a:t>Both PMs</a:t>
                      </a:r>
                    </a:p>
                  </a:txBody>
                  <a:tcPr anchor="ctr">
                    <a:solidFill>
                      <a:srgbClr val="FFFFFF"/>
                    </a:solidFill>
                  </a:tcPr>
                </a:tc>
                <a:tc>
                  <a:txBody>
                    <a:bodyPr/>
                    <a:lstStyle/>
                    <a:p>
                      <a:pPr>
                        <a:defRPr sz="1200">
                          <a:solidFill>
                            <a:srgbClr val="161616"/>
                          </a:solidFill>
                          <a:latin typeface="Segoe UI"/>
                        </a:defRPr>
                      </a:pPr>
                      <a:r>
                        <a:t>[DATE]</a:t>
                      </a:r>
                    </a:p>
                  </a:txBody>
                  <a:tcPr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011680"/>
            <a:ext cx="10789920" cy="914400"/>
          </a:xfrm>
          <a:prstGeom prst="rect">
            <a:avLst/>
          </a:prstGeom>
          <a:noFill/>
        </p:spPr>
        <p:txBody>
          <a:bodyPr wrap="none">
            <a:spAutoFit/>
          </a:bodyPr>
          <a:lstStyle/>
          <a:p>
            <a:pPr algn="ctr"/>
            <a:r>
              <a:rPr sz="5600" b="1">
                <a:solidFill>
                  <a:srgbClr val="FFFFFF"/>
                </a:solidFill>
                <a:latin typeface="Segoe UI"/>
              </a:rPr>
              <a:t>Thank You</a:t>
            </a:r>
          </a:p>
          <a:p>
            <a:pPr algn="ctr">
              <a:spcBef>
                <a:spcPts val="2400"/>
              </a:spcBef>
            </a:pPr>
            <a:r>
              <a:rPr sz="2800" b="1">
                <a:solidFill>
                  <a:srgbClr val="FFFFFF"/>
                </a:solidFill>
                <a:latin typeface="Segoe UI"/>
              </a:rPr>
              <a:t>Seekurity</a:t>
            </a:r>
          </a:p>
          <a:p>
            <a:pPr algn="ctr">
              <a:spcBef>
                <a:spcPts val="600"/>
              </a:spcBef>
            </a:pPr>
            <a:r>
              <a:rPr sz="1800">
                <a:solidFill>
                  <a:srgbClr val="FFFFFF"/>
                </a:solidFill>
                <a:latin typeface="Segoe UI"/>
              </a:rPr>
              <a:t>Enterprise Security Solutions</a:t>
            </a:r>
          </a:p>
        </p:txBody>
      </p:sp>
      <p:sp>
        <p:nvSpPr>
          <p:cNvPr id="4" name="TextBox 3"/>
          <p:cNvSpPr txBox="1"/>
          <p:nvPr/>
        </p:nvSpPr>
        <p:spPr>
          <a:xfrm>
            <a:off x="685800" y="4754880"/>
            <a:ext cx="10789920" cy="1097280"/>
          </a:xfrm>
          <a:prstGeom prst="rect">
            <a:avLst/>
          </a:prstGeom>
          <a:noFill/>
        </p:spPr>
        <p:txBody>
          <a:bodyPr wrap="none">
            <a:spAutoFit/>
          </a:bodyPr>
          <a:lstStyle/>
          <a:p>
            <a:pPr algn="ctr">
              <a:spcBef>
                <a:spcPts val="400"/>
              </a:spcBef>
            </a:pPr>
            <a:r>
              <a:rPr sz="1400">
                <a:solidFill>
                  <a:srgbClr val="FFFFFF"/>
                </a:solidFill>
                <a:latin typeface="Segoe UI"/>
              </a:rPr>
              <a:t>contact@seekurity.com</a:t>
            </a:r>
          </a:p>
          <a:p>
            <a:pPr algn="ctr">
              <a:spcBef>
                <a:spcPts val="400"/>
              </a:spcBef>
            </a:pPr>
            <a:r>
              <a:rPr sz="1400">
                <a:solidFill>
                  <a:srgbClr val="FFFFFF"/>
                </a:solidFill>
                <a:latin typeface="Segoe UI"/>
              </a:rPr>
              <a:t>+1 (555) 123-4567</a:t>
            </a:r>
          </a:p>
          <a:p>
            <a:pPr algn="ctr">
              <a:spcBef>
                <a:spcPts val="400"/>
              </a:spcBef>
            </a:pPr>
            <a:r>
              <a:rPr sz="1400">
                <a:solidFill>
                  <a:srgbClr val="FFFFFF"/>
                </a:solidFill>
                <a:latin typeface="Segoe UI"/>
              </a:rPr>
              <a:t>www.seekurity.com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