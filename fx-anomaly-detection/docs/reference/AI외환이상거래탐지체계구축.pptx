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85" r:id="rId4"/>
  </p:sldMasterIdLst>
  <p:notesMasterIdLst>
    <p:notesMasterId r:id="rId7"/>
  </p:notesMasterIdLst>
  <p:handoutMasterIdLst>
    <p:handoutMasterId r:id="rId8"/>
  </p:handoutMasterIdLst>
  <p:sldIdLst>
    <p:sldId id="315" r:id="rId5"/>
    <p:sldId id="322" r:id="rId6"/>
  </p:sldIdLst>
  <p:sldSz cx="9906000" cy="6858000" type="A4"/>
  <p:notesSz cx="7104063" cy="10234613"/>
  <p:embeddedFontLst>
    <p:embeddedFont>
      <p:font typeface="Trebuchet MS" panose="020B0603020202020204" pitchFamily="34" charset="0"/>
      <p:regular r:id="rId9"/>
      <p:bold r:id="rId10"/>
      <p:italic r:id="rId11"/>
      <p:boldItalic r:id="rId12"/>
    </p:embeddedFont>
    <p:embeddedFont>
      <p:font typeface="나눔스퀘어" panose="020B0600000101010101" pitchFamily="50" charset="-127"/>
      <p:regular r:id="rId13"/>
    </p:embeddedFont>
    <p:embeddedFont>
      <p:font typeface="나눔스퀘어 Bold" panose="020B0600000101010101" pitchFamily="50" charset="-127"/>
      <p:bold r:id="rId14"/>
    </p:embeddedFont>
    <p:embeddedFont>
      <p:font typeface="나눔스퀘어 ExtraBold" panose="020B0600000101010101" pitchFamily="50" charset="-127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137" userDrawn="1">
          <p15:clr>
            <a:srgbClr val="A4A3A4"/>
          </p15:clr>
        </p15:guide>
        <p15:guide id="5" pos="3097" userDrawn="1">
          <p15:clr>
            <a:srgbClr val="A4A3A4"/>
          </p15:clr>
        </p15:guide>
        <p15:guide id="6" pos="5637" userDrawn="1">
          <p15:clr>
            <a:srgbClr val="A4A3A4"/>
          </p15:clr>
        </p15:guide>
        <p15:guide id="7" pos="444" userDrawn="1">
          <p15:clr>
            <a:srgbClr val="A4A3A4"/>
          </p15:clr>
        </p15:guide>
        <p15:guide id="8" pos="3800" userDrawn="1">
          <p15:clr>
            <a:srgbClr val="A4A3A4"/>
          </p15:clr>
        </p15:guide>
        <p15:guide id="9" pos="2644" userDrawn="1">
          <p15:clr>
            <a:srgbClr val="A4A3A4"/>
          </p15:clr>
        </p15:guide>
        <p15:guide id="10" pos="3211" userDrawn="1">
          <p15:clr>
            <a:srgbClr val="A4A3A4"/>
          </p15:clr>
        </p15:guide>
        <p15:guide id="11" pos="2235" userDrawn="1">
          <p15:clr>
            <a:srgbClr val="A4A3A4"/>
          </p15:clr>
        </p15:guide>
        <p15:guide id="12" pos="3029" userDrawn="1">
          <p15:clr>
            <a:srgbClr val="A4A3A4"/>
          </p15:clr>
        </p15:guide>
        <p15:guide id="14" pos="3415" userDrawn="1">
          <p15:clr>
            <a:srgbClr val="A4A3A4"/>
          </p15:clr>
        </p15:guide>
        <p15:guide id="15" pos="4209" userDrawn="1">
          <p15:clr>
            <a:srgbClr val="A4A3A4"/>
          </p15:clr>
        </p15:guide>
        <p15:guide id="16" pos="55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F5B000-AC45-E82B-30BD-CB1385BC14E0}" name="Jaewon Yu" initials="JY" userId="S::Jaewon.Yu@kr.ey.com::aa5246b4-f44c-4bae-9aa7-aff105650716" providerId="AD"/>
  <p188:author id="{8F8EDC06-7538-F0C2-A7C6-8E27F270C6C2}" name="Nari Jeon" initials="NJ" userId="S::Nari.Jeon@kr.ey.com::85ce1bba-b513-4d0a-856b-9b7dc676d562" providerId="AD"/>
  <p188:author id="{2F739F20-9FF0-11E6-534B-D28BBD1F4989}" name="Dream Han" initials="DH" userId="S::Dream.Han@kr.ey.com::7bacba98-e0ca-4fdf-a3aa-ca7c04ff57e0" providerId="AD"/>
  <p188:author id="{7DE9743B-5CD2-9FF8-30B3-9A32840D5516}" name="Eunyoung Cho" initials="" userId="S::Eunyoung.Cho@kr.ey.com::bc135ca8-0c63-4f9c-8111-650de0177439" providerId="AD"/>
  <p188:author id="{3514E05E-5F98-640E-E446-E719DA0054A7}" name="Seunghyuk Baek" initials="SB" userId="S::Seunghyuk.Baek@kr.ey.com::c834afe8-a2e0-4a61-8935-d39d25fc66fc" providerId="AD"/>
  <p188:author id="{146B76EC-A5E9-7E43-598D-1E20C2977EB0}" name="Dong-Gan Gi" initials="DG" userId="Dong-Gan Gi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9D9B"/>
    <a:srgbClr val="D81921"/>
    <a:srgbClr val="FAE3E2"/>
    <a:srgbClr val="FFFFFF"/>
    <a:srgbClr val="D9D9D9"/>
    <a:srgbClr val="F2F2F2"/>
    <a:srgbClr val="7F7F7F"/>
    <a:srgbClr val="F4F0EB"/>
    <a:srgbClr val="F6F6A9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6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1339" y="72"/>
      </p:cViewPr>
      <p:guideLst>
        <p:guide orient="horz" pos="2137"/>
        <p:guide pos="3097"/>
        <p:guide pos="5637"/>
        <p:guide pos="444"/>
        <p:guide pos="3800"/>
        <p:guide pos="2644"/>
        <p:guide pos="3211"/>
        <p:guide pos="2235"/>
        <p:guide pos="3029"/>
        <p:guide pos="3415"/>
        <p:guide pos="4209"/>
        <p:guide pos="5569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23" Type="http://schemas.microsoft.com/office/2018/10/relationships/authors" Target="authors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A6D3123-3075-2D0E-EE38-4B63C03FD9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B8C8A3-6780-26B3-E4EB-412DA52B36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4" y="0"/>
            <a:ext cx="3078427" cy="513508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B9FC3F8B-910C-412E-BA45-4E2C0AFEA009}" type="datetimeFigureOut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2026-07-20</a:t>
            </a:fld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F09AE6-E395-3AEA-D1AA-3A482FA431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0112F1-C3D5-293C-7D95-80D717CD60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4" y="9721106"/>
            <a:ext cx="3078427" cy="51350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D3FD0C24-1E88-41EE-97F6-F42E516655C0}" type="slidenum">
              <a:rPr lang="ko-KR" altLang="en-US" smtClean="0">
                <a:latin typeface="나눔스퀘어" panose="020B0600000101010101" pitchFamily="50" charset="-127"/>
                <a:ea typeface="나눔스퀘어" panose="020B0600000101010101" pitchFamily="50" charset="-127"/>
              </a:rPr>
              <a:t>‹#›</a:t>
            </a:fld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343947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9"/>
          </a:xfrm>
          <a:prstGeom prst="rect">
            <a:avLst/>
          </a:prstGeom>
        </p:spPr>
        <p:txBody>
          <a:bodyPr vert="horz" lIns="91431" tIns="45716" rIns="91431" bIns="45716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4" y="9721106"/>
            <a:ext cx="3078427" cy="51350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26227C25-D4D8-4F22-92CE-32AA1ADCCD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36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" panose="020B0600000101010101" pitchFamily="50" charset="-127"/>
        <a:ea typeface="나눔스퀘어" panose="020B0600000101010101" pitchFamily="50" charset="-127"/>
        <a:cs typeface="+mn-cs"/>
      </a:defRPr>
    </a:lvl1pPr>
  </p:notesStyle>
  <p:extLst>
    <p:ext uri="{620B2872-D7B9-4A21-9093-7833F8D536E1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9EA9C-E317-3CFF-28CE-1F4F039C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26A421-E237-843E-A410-12B697183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E09EEF-20EF-F2D2-3182-ED2491431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CAB62A-05EA-BB34-BC9F-369AD26E10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91281C-F51E-469B-B3ED-E93F77DDD90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548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4">
            <a:extLst>
              <a:ext uri="{FF2B5EF4-FFF2-40B4-BE49-F238E27FC236}">
                <a16:creationId xmlns:a16="http://schemas.microsoft.com/office/drawing/2014/main" id="{C891CCBB-DC26-7E09-8FC8-EDE448A99D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7975" y="366407"/>
            <a:ext cx="2299558" cy="398903"/>
          </a:xfrm>
          <a:prstGeom prst="rect">
            <a:avLst/>
          </a:prstGeom>
        </p:spPr>
      </p:pic>
      <p:sp>
        <p:nvSpPr>
          <p:cNvPr id="6" name="Line 1053">
            <a:extLst>
              <a:ext uri="{FF2B5EF4-FFF2-40B4-BE49-F238E27FC236}">
                <a16:creationId xmlns:a16="http://schemas.microsoft.com/office/drawing/2014/main" id="{A439752B-9EB0-E593-0C7B-4400E80436E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3000" y="3429000"/>
            <a:ext cx="9000000" cy="0"/>
          </a:xfrm>
          <a:prstGeom prst="line">
            <a:avLst/>
          </a:prstGeom>
          <a:noFill/>
          <a:ln w="76200">
            <a:solidFill>
              <a:schemeClr val="accent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R="0" lvl="0" indent="0" algn="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27C800D-2D91-2255-32BF-D9C76138A8EC}"/>
              </a:ext>
            </a:extLst>
          </p:cNvPr>
          <p:cNvGrpSpPr/>
          <p:nvPr userDrawn="1"/>
        </p:nvGrpSpPr>
        <p:grpSpPr>
          <a:xfrm>
            <a:off x="8831991" y="5754683"/>
            <a:ext cx="766034" cy="806834"/>
            <a:chOff x="8946750" y="5881914"/>
            <a:chExt cx="645235" cy="679601"/>
          </a:xfrm>
        </p:grpSpPr>
        <p:sp>
          <p:nvSpPr>
            <p:cNvPr id="8" name="Freeform: Shape 25">
              <a:extLst>
                <a:ext uri="{FF2B5EF4-FFF2-40B4-BE49-F238E27FC236}">
                  <a16:creationId xmlns:a16="http://schemas.microsoft.com/office/drawing/2014/main" id="{528CEA5E-CBBC-4141-C28E-215538EB6B78}"/>
                </a:ext>
              </a:extLst>
            </p:cNvPr>
            <p:cNvSpPr/>
            <p:nvPr/>
          </p:nvSpPr>
          <p:spPr>
            <a:xfrm>
              <a:off x="9086076" y="5881914"/>
              <a:ext cx="426365" cy="155611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" name="Freeform: Shape 26">
              <a:extLst>
                <a:ext uri="{FF2B5EF4-FFF2-40B4-BE49-F238E27FC236}">
                  <a16:creationId xmlns:a16="http://schemas.microsoft.com/office/drawing/2014/main" id="{1A13774F-A931-910B-C763-407E946BC22C}"/>
                </a:ext>
              </a:extLst>
            </p:cNvPr>
            <p:cNvSpPr/>
            <p:nvPr/>
          </p:nvSpPr>
          <p:spPr>
            <a:xfrm>
              <a:off x="9089805" y="6102223"/>
              <a:ext cx="357951" cy="21567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" name="Freeform: Shape 27">
              <a:extLst>
                <a:ext uri="{FF2B5EF4-FFF2-40B4-BE49-F238E27FC236}">
                  <a16:creationId xmlns:a16="http://schemas.microsoft.com/office/drawing/2014/main" id="{3E6DC6B5-A695-A331-B245-FB96380CA429}"/>
                </a:ext>
              </a:extLst>
            </p:cNvPr>
            <p:cNvSpPr/>
            <p:nvPr/>
          </p:nvSpPr>
          <p:spPr>
            <a:xfrm>
              <a:off x="8946750" y="6398186"/>
              <a:ext cx="645235" cy="163329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296338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>
            <a:extLst>
              <a:ext uri="{FF2B5EF4-FFF2-40B4-BE49-F238E27FC236}">
                <a16:creationId xmlns:a16="http://schemas.microsoft.com/office/drawing/2014/main" id="{0B284194-F2EF-502C-504E-0EBB38722F4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330765" y="6574289"/>
            <a:ext cx="282313" cy="174186"/>
            <a:chOff x="7111" y="4103"/>
            <a:chExt cx="161" cy="97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BAFC77B6-1179-BB27-9F80-86E7AC133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615F011E-5F8E-8F90-DF08-D2E1667A7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28E6656-9DDE-DFB7-28CF-D3D4A249A8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767" y="6554310"/>
            <a:ext cx="1416308" cy="1956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1C448A-6590-9B8C-C77C-073EA6EAF005}"/>
              </a:ext>
            </a:extLst>
          </p:cNvPr>
          <p:cNvSpPr txBox="1"/>
          <p:nvPr userDrawn="1"/>
        </p:nvSpPr>
        <p:spPr>
          <a:xfrm>
            <a:off x="436226" y="419450"/>
            <a:ext cx="4244831" cy="914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ko-KR" sz="3600" b="0">
                <a:solidFill>
                  <a:schemeClr val="bg1"/>
                </a:solidFill>
                <a:latin typeface="+mj-ea"/>
                <a:ea typeface="+mj-ea"/>
              </a:rPr>
              <a:t>Table of Contents</a:t>
            </a:r>
            <a:endParaRPr lang="ko-KR" altLang="en-US" sz="36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6DC4996-A1D4-045C-C586-34C0216A32F9}"/>
              </a:ext>
            </a:extLst>
          </p:cNvPr>
          <p:cNvCxnSpPr>
            <a:cxnSpLocks/>
          </p:cNvCxnSpPr>
          <p:nvPr userDrawn="1"/>
        </p:nvCxnSpPr>
        <p:spPr>
          <a:xfrm>
            <a:off x="914400" y="1484313"/>
            <a:ext cx="0" cy="3926586"/>
          </a:xfrm>
          <a:prstGeom prst="line">
            <a:avLst/>
          </a:prstGeom>
          <a:ln w="38100">
            <a:solidFill>
              <a:schemeClr val="accent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17410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(거버닝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23">
            <a:extLst>
              <a:ext uri="{FF2B5EF4-FFF2-40B4-BE49-F238E27FC236}">
                <a16:creationId xmlns:a16="http://schemas.microsoft.com/office/drawing/2014/main" id="{5324BD20-48C4-D9B7-57B0-FA8B011166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975" y="907747"/>
            <a:ext cx="9290050" cy="5514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eaLnBrk="1" latinLnBrk="0" hangingPunct="1">
              <a:lnSpc>
                <a:spcPct val="100000"/>
              </a:lnSpc>
              <a:buFontTx/>
              <a:buNone/>
              <a:defRPr sz="1800" b="0" spc="0" baseline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371475" indent="0">
              <a:buFontTx/>
              <a:buNone/>
              <a:defRPr/>
            </a:lvl2pPr>
            <a:lvl3pPr marL="742950" indent="0">
              <a:buFontTx/>
              <a:buNone/>
              <a:defRPr/>
            </a:lvl3pPr>
            <a:lvl4pPr marL="1114425" indent="0">
              <a:buFontTx/>
              <a:buNone/>
              <a:defRPr/>
            </a:lvl4pPr>
            <a:lvl5pPr marL="1485900" indent="0">
              <a:buFontTx/>
              <a:buNone/>
              <a:defRPr/>
            </a:lvl5pPr>
          </a:lstStyle>
          <a:p>
            <a:pPr lvl="0"/>
            <a:r>
              <a:rPr lang="ko-KR" altLang="en-US"/>
              <a:t>클릭하여 리드 메시지를 입력하세요</a:t>
            </a:r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B0F8B66B-D04D-5BAC-4B51-AE97D39C5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978" y="311151"/>
            <a:ext cx="9290048" cy="4524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eaLnBrk="1" latinLnBrk="0" hangingPunct="1">
              <a:defRPr lang="ko-KR" altLang="en-US" sz="2400" b="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lvl="0" eaLnBrk="0" fontAlgn="base" hangingPunct="0">
              <a:spcAft>
                <a:spcPct val="0"/>
              </a:spcAft>
            </a:pPr>
            <a:r>
              <a:rPr lang="ko-KR" altLang="en-US"/>
              <a:t>클릭하여 타이틀 메시지를 입력하세요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31793-3CFC-1E35-9AD5-ABD50FE82CAE}"/>
              </a:ext>
            </a:extLst>
          </p:cNvPr>
          <p:cNvSpPr txBox="1"/>
          <p:nvPr userDrawn="1"/>
        </p:nvSpPr>
        <p:spPr bwMode="gray">
          <a:xfrm>
            <a:off x="4808299" y="6591684"/>
            <a:ext cx="289403" cy="15359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8C6A2ACB-B6B9-4B92-981F-AC930D44EE88}" type="slidenum">
              <a:rPr lang="ko-KR" altLang="en-US" sz="731" smtClean="0">
                <a:solidFill>
                  <a:srgbClr val="646464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‹#›</a:t>
            </a:fld>
            <a:endParaRPr lang="ko-KR" altLang="en-US" sz="731">
              <a:solidFill>
                <a:srgbClr val="646464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" name="직선 연결선 12">
            <a:extLst>
              <a:ext uri="{FF2B5EF4-FFF2-40B4-BE49-F238E27FC236}">
                <a16:creationId xmlns:a16="http://schemas.microsoft.com/office/drawing/2014/main" id="{7DDAB203-3A11-2605-EF4E-A760C1CA3A8F}"/>
              </a:ext>
            </a:extLst>
          </p:cNvPr>
          <p:cNvCxnSpPr/>
          <p:nvPr userDrawn="1"/>
        </p:nvCxnSpPr>
        <p:spPr>
          <a:xfrm>
            <a:off x="307975" y="769906"/>
            <a:ext cx="92900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373949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(거버닝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4">
            <a:extLst>
              <a:ext uri="{FF2B5EF4-FFF2-40B4-BE49-F238E27FC236}">
                <a16:creationId xmlns:a16="http://schemas.microsoft.com/office/drawing/2014/main" id="{B0F8B66B-D04D-5BAC-4B51-AE97D39C5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7978" y="311151"/>
            <a:ext cx="9290048" cy="4524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eaLnBrk="1" latinLnBrk="0" hangingPunct="1">
              <a:defRPr lang="ko-KR" altLang="en-US" sz="2400" b="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lvl="0" eaLnBrk="0" fontAlgn="base" hangingPunct="0">
              <a:spcAft>
                <a:spcPct val="0"/>
              </a:spcAft>
            </a:pPr>
            <a:r>
              <a:rPr lang="ko-KR" altLang="en-US"/>
              <a:t>클릭하여 타이틀 메시지를 입력하세요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04C9E1-6DE1-8B70-90C8-C854717F37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4607" y="77789"/>
            <a:ext cx="9303419" cy="233362"/>
          </a:xfrm>
          <a:prstGeom prst="rect">
            <a:avLst/>
          </a:prstGeom>
        </p:spPr>
        <p:txBody>
          <a:bodyPr rIns="0" anchor="t"/>
          <a:lstStyle>
            <a:lvl1pPr algn="r">
              <a:defRPr sz="1000" b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네비게이션을 입력하세요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31793-3CFC-1E35-9AD5-ABD50FE82CAE}"/>
              </a:ext>
            </a:extLst>
          </p:cNvPr>
          <p:cNvSpPr txBox="1"/>
          <p:nvPr userDrawn="1"/>
        </p:nvSpPr>
        <p:spPr bwMode="gray">
          <a:xfrm>
            <a:off x="4808299" y="6591684"/>
            <a:ext cx="289403" cy="15359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8C6A2ACB-B6B9-4B92-981F-AC930D44EE88}" type="slidenum">
              <a:rPr lang="ko-KR" altLang="en-US" sz="731" smtClean="0">
                <a:solidFill>
                  <a:srgbClr val="646464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‹#›</a:t>
            </a:fld>
            <a:endParaRPr lang="ko-KR" altLang="en-US" sz="731">
              <a:solidFill>
                <a:srgbClr val="646464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" name="직선 연결선 12">
            <a:extLst>
              <a:ext uri="{FF2B5EF4-FFF2-40B4-BE49-F238E27FC236}">
                <a16:creationId xmlns:a16="http://schemas.microsoft.com/office/drawing/2014/main" id="{7DDAB203-3A11-2605-EF4E-A760C1CA3A8F}"/>
              </a:ext>
            </a:extLst>
          </p:cNvPr>
          <p:cNvCxnSpPr/>
          <p:nvPr userDrawn="1"/>
        </p:nvCxnSpPr>
        <p:spPr>
          <a:xfrm>
            <a:off x="307975" y="769906"/>
            <a:ext cx="929005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">
            <a:extLst>
              <a:ext uri="{FF2B5EF4-FFF2-40B4-BE49-F238E27FC236}">
                <a16:creationId xmlns:a16="http://schemas.microsoft.com/office/drawing/2014/main" id="{4B1683FB-D80F-CB7D-F424-786176378B9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330765" y="6574289"/>
            <a:ext cx="282313" cy="174186"/>
            <a:chOff x="7111" y="4103"/>
            <a:chExt cx="161" cy="97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E6335D21-1A30-E240-EA6C-C7251709C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56582A0-933C-D561-E700-F997064EE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pic>
        <p:nvPicPr>
          <p:cNvPr id="8" name="그림 4">
            <a:extLst>
              <a:ext uri="{FF2B5EF4-FFF2-40B4-BE49-F238E27FC236}">
                <a16:creationId xmlns:a16="http://schemas.microsoft.com/office/drawing/2014/main" id="{0C85FEB8-97C0-9D73-1466-BA8D7E1237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4607" y="6518729"/>
            <a:ext cx="1475978" cy="25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2441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(거버닝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>
            <a:extLst>
              <a:ext uri="{FF2B5EF4-FFF2-40B4-BE49-F238E27FC236}">
                <a16:creationId xmlns:a16="http://schemas.microsoft.com/office/drawing/2014/main" id="{4531CDDC-431F-59A6-CD66-85BC0B12793C}"/>
              </a:ext>
            </a:extLst>
          </p:cNvPr>
          <p:cNvSpPr/>
          <p:nvPr userDrawn="1"/>
        </p:nvSpPr>
        <p:spPr>
          <a:xfrm>
            <a:off x="0" y="-1"/>
            <a:ext cx="9905999" cy="1476000"/>
          </a:xfrm>
          <a:prstGeom prst="rect">
            <a:avLst/>
          </a:prstGeom>
          <a:solidFill>
            <a:srgbClr val="D9D9D9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742950"/>
            <a:endParaRPr lang="ko-KR" altLang="en-US" sz="894" b="1" ker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텍스트 개체 틀 6">
            <a:extLst>
              <a:ext uri="{FF2B5EF4-FFF2-40B4-BE49-F238E27FC236}">
                <a16:creationId xmlns:a16="http://schemas.microsoft.com/office/drawing/2014/main" id="{664EBEA6-9469-3BDA-DAB1-D811233D9C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1463" y="6309792"/>
            <a:ext cx="9363075" cy="144000"/>
          </a:xfrm>
          <a:prstGeom prst="rect">
            <a:avLst/>
          </a:prstGeom>
        </p:spPr>
        <p:txBody>
          <a:bodyPr tIns="0" bIns="0"/>
          <a:lstStyle>
            <a:lvl1pPr>
              <a:defRPr sz="8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marR="0" lvl="0" indent="0" algn="l" defTabSz="505234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Arial" pitchFamily="34" charset="0"/>
              <a:buNone/>
              <a:tabLst/>
              <a:defRPr/>
            </a:pPr>
            <a:r>
              <a:rPr lang="ko-KR" altLang="en-US"/>
              <a:t>주석을 입력하세요</a:t>
            </a:r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04258-327E-8A70-5455-82CCE23BD981}"/>
              </a:ext>
            </a:extLst>
          </p:cNvPr>
          <p:cNvSpPr txBox="1"/>
          <p:nvPr userDrawn="1"/>
        </p:nvSpPr>
        <p:spPr bwMode="gray">
          <a:xfrm>
            <a:off x="4808299" y="6591684"/>
            <a:ext cx="289403" cy="15359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8C6A2ACB-B6B9-4B92-981F-AC930D44EE88}" type="slidenum">
              <a:rPr lang="ko-KR" altLang="en-US" sz="731" smtClean="0">
                <a:solidFill>
                  <a:srgbClr val="646464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‹#›</a:t>
            </a:fld>
            <a:endParaRPr lang="ko-KR" altLang="en-US" sz="731">
              <a:solidFill>
                <a:srgbClr val="646464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텍스트 개체 틀 23">
            <a:extLst>
              <a:ext uri="{FF2B5EF4-FFF2-40B4-BE49-F238E27FC236}">
                <a16:creationId xmlns:a16="http://schemas.microsoft.com/office/drawing/2014/main" id="{A0DEA07B-FDC6-7C5D-B17E-F5146DA0D6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975" y="907747"/>
            <a:ext cx="9290050" cy="5514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eaLnBrk="1" latinLnBrk="0" hangingPunct="1">
              <a:lnSpc>
                <a:spcPct val="100000"/>
              </a:lnSpc>
              <a:buFontTx/>
              <a:buNone/>
              <a:defRPr sz="1800" b="0" spc="0" baseline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371475" indent="0">
              <a:buFontTx/>
              <a:buNone/>
              <a:defRPr/>
            </a:lvl2pPr>
            <a:lvl3pPr marL="742950" indent="0">
              <a:buFontTx/>
              <a:buNone/>
              <a:defRPr/>
            </a:lvl3pPr>
            <a:lvl4pPr marL="1114425" indent="0">
              <a:buFontTx/>
              <a:buNone/>
              <a:defRPr/>
            </a:lvl4pPr>
            <a:lvl5pPr marL="1485900" indent="0">
              <a:buFontTx/>
              <a:buNone/>
              <a:defRPr/>
            </a:lvl5pPr>
          </a:lstStyle>
          <a:p>
            <a:pPr lvl="0"/>
            <a:r>
              <a:rPr lang="ko-KR" altLang="en-US"/>
              <a:t>클릭하여 리드 메시지를 입력하세요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B16BDF93-52DE-1456-F85A-BF1E9E5B64E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330765" y="6574289"/>
            <a:ext cx="282313" cy="174186"/>
            <a:chOff x="7111" y="4103"/>
            <a:chExt cx="161" cy="97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255596-0414-1867-9A9A-ED9182DDE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6942AB6A-EDE4-6567-F865-C94ED4CB5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pic>
        <p:nvPicPr>
          <p:cNvPr id="17" name="그림 4">
            <a:extLst>
              <a:ext uri="{FF2B5EF4-FFF2-40B4-BE49-F238E27FC236}">
                <a16:creationId xmlns:a16="http://schemas.microsoft.com/office/drawing/2014/main" id="{979A2DE3-A142-E33F-0445-B527909F7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4607" y="6518729"/>
            <a:ext cx="1475978" cy="256037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95E50-3CF7-1754-30E1-03B5E7A697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4607" y="77789"/>
            <a:ext cx="9303419" cy="233362"/>
          </a:xfrm>
          <a:prstGeom prst="rect">
            <a:avLst/>
          </a:prstGeom>
        </p:spPr>
        <p:txBody>
          <a:bodyPr rIns="0" anchor="t"/>
          <a:lstStyle>
            <a:lvl1pPr algn="r">
              <a:defRPr sz="1000" b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네비게이션을 입력하세요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6B4F2-D29A-69E2-DD47-5AE7E5171024}"/>
              </a:ext>
            </a:extLst>
          </p:cNvPr>
          <p:cNvSpPr txBox="1"/>
          <p:nvPr userDrawn="1"/>
        </p:nvSpPr>
        <p:spPr>
          <a:xfrm>
            <a:off x="290404" y="360011"/>
            <a:ext cx="1314876" cy="35475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</a:pPr>
            <a:r>
              <a:rPr lang="en-US" altLang="ko-KR" sz="2000" b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[Back-up]</a:t>
            </a:r>
            <a:endParaRPr lang="ko-KR" altLang="en-US" sz="2000" b="1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57956E9-4B5A-ECEF-549B-37F32AA129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400" y="311151"/>
            <a:ext cx="7921626" cy="4524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eaLnBrk="1" latinLnBrk="0" hangingPunct="1">
              <a:defRPr lang="ko-KR" altLang="en-US" sz="2400" b="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lvl="0" eaLnBrk="0" fontAlgn="base" hangingPunct="0">
              <a:spcAft>
                <a:spcPct val="0"/>
              </a:spcAft>
            </a:pPr>
            <a:r>
              <a:rPr lang="ko-KR" altLang="en-US"/>
              <a:t>클릭하여 타이틀 메시지를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7183797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(거버닝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3">
            <a:extLst>
              <a:ext uri="{FF2B5EF4-FFF2-40B4-BE49-F238E27FC236}">
                <a16:creationId xmlns:a16="http://schemas.microsoft.com/office/drawing/2014/main" id="{4531CDDC-431F-59A6-CD66-85BC0B12793C}"/>
              </a:ext>
            </a:extLst>
          </p:cNvPr>
          <p:cNvSpPr/>
          <p:nvPr userDrawn="1"/>
        </p:nvSpPr>
        <p:spPr>
          <a:xfrm>
            <a:off x="0" y="-1"/>
            <a:ext cx="9905999" cy="908721"/>
          </a:xfrm>
          <a:prstGeom prst="rect">
            <a:avLst/>
          </a:prstGeom>
          <a:solidFill>
            <a:srgbClr val="D9D9D9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742950"/>
            <a:endParaRPr lang="ko-KR" altLang="en-US" sz="894" b="1" kern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텍스트 개체 틀 6">
            <a:extLst>
              <a:ext uri="{FF2B5EF4-FFF2-40B4-BE49-F238E27FC236}">
                <a16:creationId xmlns:a16="http://schemas.microsoft.com/office/drawing/2014/main" id="{664EBEA6-9469-3BDA-DAB1-D811233D9C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1463" y="6309792"/>
            <a:ext cx="9363075" cy="144000"/>
          </a:xfrm>
          <a:prstGeom prst="rect">
            <a:avLst/>
          </a:prstGeom>
        </p:spPr>
        <p:txBody>
          <a:bodyPr tIns="0" bIns="0"/>
          <a:lstStyle>
            <a:lvl1pPr>
              <a:defRPr sz="8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marR="0" lvl="0" indent="0" algn="l" defTabSz="505234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2"/>
              </a:buClr>
              <a:buSzPct val="110000"/>
              <a:buFont typeface="Arial" pitchFamily="34" charset="0"/>
              <a:buNone/>
              <a:tabLst/>
              <a:defRPr/>
            </a:pPr>
            <a:r>
              <a:rPr lang="ko-KR" altLang="en-US"/>
              <a:t>주석을 입력하세요</a:t>
            </a:r>
            <a:endParaRPr lang="en-US" altLang="ko-K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D42648-83D7-50DB-4ABE-5C5A91DA313B}"/>
              </a:ext>
            </a:extLst>
          </p:cNvPr>
          <p:cNvSpPr txBox="1"/>
          <p:nvPr userDrawn="1"/>
        </p:nvSpPr>
        <p:spPr>
          <a:xfrm>
            <a:off x="290404" y="360011"/>
            <a:ext cx="1314876" cy="35475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</a:pPr>
            <a:r>
              <a:rPr lang="en-US" altLang="ko-KR" sz="2000" b="1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[Back-up]</a:t>
            </a:r>
            <a:endParaRPr lang="ko-KR" altLang="en-US" sz="2000" b="1">
              <a:solidFill>
                <a:schemeClr val="bg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04258-327E-8A70-5455-82CCE23BD981}"/>
              </a:ext>
            </a:extLst>
          </p:cNvPr>
          <p:cNvSpPr txBox="1"/>
          <p:nvPr userDrawn="1"/>
        </p:nvSpPr>
        <p:spPr bwMode="gray">
          <a:xfrm>
            <a:off x="4808299" y="6591684"/>
            <a:ext cx="289403" cy="15359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fld id="{8C6A2ACB-B6B9-4B92-981F-AC930D44EE88}" type="slidenum">
              <a:rPr lang="ko-KR" altLang="en-US" sz="731" smtClean="0">
                <a:solidFill>
                  <a:srgbClr val="646464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pPr algn="ctr"/>
              <a:t>‹#›</a:t>
            </a:fld>
            <a:endParaRPr lang="ko-KR" altLang="en-US" sz="731">
              <a:solidFill>
                <a:srgbClr val="646464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6DC67EE6-B9E5-E7A3-98B1-EC42CB3A5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400" y="311151"/>
            <a:ext cx="7921626" cy="4524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eaLnBrk="1" latinLnBrk="0" hangingPunct="1">
              <a:defRPr lang="ko-KR" altLang="en-US" sz="2400" b="0" spc="-8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pPr lvl="0" eaLnBrk="0" fontAlgn="base" hangingPunct="0">
              <a:spcAft>
                <a:spcPct val="0"/>
              </a:spcAft>
            </a:pPr>
            <a:r>
              <a:rPr lang="ko-KR" altLang="en-US"/>
              <a:t>클릭하여 타이틀 메시지를 입력하세요</a:t>
            </a:r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B16BDF93-52DE-1456-F85A-BF1E9E5B64E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330765" y="6574289"/>
            <a:ext cx="282313" cy="174186"/>
            <a:chOff x="7111" y="4103"/>
            <a:chExt cx="161" cy="97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255596-0414-1867-9A9A-ED9182DDE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6942AB6A-EDE4-6567-F865-C94ED4CB5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pic>
        <p:nvPicPr>
          <p:cNvPr id="17" name="그림 4">
            <a:extLst>
              <a:ext uri="{FF2B5EF4-FFF2-40B4-BE49-F238E27FC236}">
                <a16:creationId xmlns:a16="http://schemas.microsoft.com/office/drawing/2014/main" id="{979A2DE3-A142-E33F-0445-B527909F7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4607" y="6518729"/>
            <a:ext cx="1475978" cy="256037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2DC85A-6D0B-F3F1-E47A-A9322BEC0C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4607" y="77789"/>
            <a:ext cx="9303419" cy="233362"/>
          </a:xfrm>
          <a:prstGeom prst="rect">
            <a:avLst/>
          </a:prstGeom>
        </p:spPr>
        <p:txBody>
          <a:bodyPr rIns="0" anchor="t"/>
          <a:lstStyle>
            <a:lvl1pPr algn="r">
              <a:defRPr sz="1000" b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/>
              <a:t>네비게이션을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42927304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(로고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>
            <a:extLst>
              <a:ext uri="{FF2B5EF4-FFF2-40B4-BE49-F238E27FC236}">
                <a16:creationId xmlns:a16="http://schemas.microsoft.com/office/drawing/2014/main" id="{0B284194-F2EF-502C-504E-0EBB38722F4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330765" y="6574289"/>
            <a:ext cx="282313" cy="174186"/>
            <a:chOff x="7111" y="4103"/>
            <a:chExt cx="161" cy="97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BAFC77B6-1179-BB27-9F80-86E7AC133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615F011E-5F8E-8F90-DF08-D2E1667A7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32323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28E6656-9DDE-DFB7-28CF-D3D4A249A8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6767" y="6554310"/>
            <a:ext cx="1416308" cy="19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01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(로고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46334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35768D-2ABA-8623-B151-CA5E371B2BF5}"/>
              </a:ext>
            </a:extLst>
          </p:cNvPr>
          <p:cNvSpPr txBox="1"/>
          <p:nvPr userDrawn="1"/>
        </p:nvSpPr>
        <p:spPr>
          <a:xfrm>
            <a:off x="2096548" y="2971800"/>
            <a:ext cx="5712903" cy="91440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ko-KR" sz="5000" b="1">
                <a:solidFill>
                  <a:schemeClr val="bg1"/>
                </a:solidFill>
                <a:latin typeface="+mn-ea"/>
              </a:rPr>
              <a:t>End Of Document</a:t>
            </a:r>
            <a:endParaRPr lang="ko-KR" altLang="en-US" sz="5000" b="1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828989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0C54A9-45D4-25E4-C250-9F447057335C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algn="ctr"/>
            <a:endParaRPr lang="ko-KR" altLang="en-US" sz="110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DA9EB-CC34-4779-CE89-915026EF17FF}"/>
              </a:ext>
            </a:extLst>
          </p:cNvPr>
          <p:cNvSpPr txBox="1">
            <a:spLocks/>
          </p:cNvSpPr>
          <p:nvPr userDrawn="1"/>
        </p:nvSpPr>
        <p:spPr>
          <a:xfrm>
            <a:off x="457859" y="1064770"/>
            <a:ext cx="6161381" cy="4728460"/>
          </a:xfrm>
          <a:prstGeom prst="rect">
            <a:avLst/>
          </a:prstGeom>
        </p:spPr>
        <p:txBody>
          <a:bodyPr lIns="0" tIns="0" rIns="0" bIns="0" anchor="ctr"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09613" indent="-354013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77913" indent="-354013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33513" indent="-355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7525" indent="-354013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EY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 |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Assurance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 |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Tax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 |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Transactions</a:t>
            </a: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 |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Advisory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  <a:lumOff val="50000"/>
                </a:scheme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About EY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EY is a global leader in assurance, tax, transaction and advisory services.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The insights and quality services we deliver help build trust and confidence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in the capital markets and in economies the world over.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We develop outstanding leaders who team to deliver on our promises to all of our stakeholders.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In so doing, we play a critical role in building a better working world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for our people, for our clients and for our communities.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EY refers to the global organization and may refer to one or more of the member firms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of Ernst &amp; Young Global Limited, each of which is a separate legal entity.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Ernst &amp; Young Global Limited, a UK company limited by guarantee, does not provide services to clients. For more information about our organization, please visit ey.com.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ⓒ 2026 Ernst &amp; Young Han Young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ⓒ 2026 Ernst &amp; Young Advisory, Inc.</a:t>
            </a:r>
            <a:b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</a:b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All Rights Reserved.</a:t>
            </a:r>
            <a:endParaRPr kumimoji="0" lang="en-US" altLang="ko-KR" sz="10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  <a:lumOff val="50000"/>
                </a:scheme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l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This material has been prepared for general informational purposes only</a:t>
            </a:r>
          </a:p>
          <a:p>
            <a:pPr marL="0" marR="0" lvl="0" indent="0" algn="l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and is not intended to be relied upon as accounting, tax, or other professional advice.</a:t>
            </a:r>
          </a:p>
          <a:p>
            <a:pPr marL="0" marR="0" lvl="0" indent="0" algn="l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Please refer to your advisors for specific advice.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ey.com/</a:t>
            </a:r>
            <a:r>
              <a:rPr kumimoji="0" lang="en-US" altLang="ko-KR" sz="1100" b="1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  <a:sym typeface="Arial" panose="020B0604020202020204" pitchFamily="34" charset="0"/>
              </a:rPr>
              <a:t>kr</a:t>
            </a:r>
            <a:endParaRPr kumimoji="0" lang="en-US" altLang="ko-KR" sz="1100" b="1" i="0" u="none" strike="noStrike" kern="1200" cap="none" spc="0" normalizeH="0" baseline="0" noProof="0">
              <a:ln>
                <a:noFill/>
              </a:ln>
              <a:solidFill>
                <a:schemeClr val="bg1">
                  <a:lumMod val="50000"/>
                  <a:lumOff val="50000"/>
                </a:schemeClr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3898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_거버닝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88AB2EFB-7641-249A-7D8B-8546A4DF2DD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7608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8AB2EFB-7641-249A-7D8B-8546A4DF2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3">
            <a:extLst>
              <a:ext uri="{FF2B5EF4-FFF2-40B4-BE49-F238E27FC236}">
                <a16:creationId xmlns:a16="http://schemas.microsoft.com/office/drawing/2014/main" id="{96D4822D-3FC6-473A-98B3-723EC2938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73050" y="318243"/>
            <a:ext cx="9360000" cy="334313"/>
          </a:xfrm>
          <a:prstGeom prst="rect">
            <a:avLst/>
          </a:prstGeom>
        </p:spPr>
        <p:txBody>
          <a:bodyPr vert="horz" lIns="0" tIns="0" rIns="0" bIns="0" anchor="b"/>
          <a:lstStyle>
            <a:lvl1pPr>
              <a:defRPr lang="ko-KR" altLang="en-US" sz="2000" b="0" spc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 altLang="ko-KR"/>
              <a:t>Master title style</a:t>
            </a:r>
            <a:endParaRPr lang="ko-KR" alt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960E20-7103-B6D1-9A40-222FF2A37B7B}"/>
              </a:ext>
            </a:extLst>
          </p:cNvPr>
          <p:cNvSpPr/>
          <p:nvPr userDrawn="1"/>
        </p:nvSpPr>
        <p:spPr>
          <a:xfrm>
            <a:off x="4686614" y="6638102"/>
            <a:ext cx="532772" cy="10772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8940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7879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6819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15758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18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29544">
              <a:spcBef>
                <a:spcPct val="0"/>
              </a:spcBef>
            </a:pPr>
            <a:r>
              <a:rPr lang="en-US" altLang="ko-KR" sz="700" dirty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itchFamily="34" charset="0"/>
              </a:rPr>
              <a:t>Page</a:t>
            </a:r>
            <a:fld id="{F1BC30E3-FFE5-4B91-AA19-87A149EBB9EE}" type="slidenum">
              <a:rPr lang="en-IN" altLang="ko-KR" sz="700" smtClean="0">
                <a:solidFill>
                  <a:prstClr val="black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itchFamily="34" charset="0"/>
              </a:rPr>
              <a:pPr algn="ctr" defTabSz="829544">
                <a:spcBef>
                  <a:spcPct val="0"/>
                </a:spcBef>
              </a:pPr>
              <a:t>‹#›</a:t>
            </a:fld>
            <a:endParaRPr lang="ko-KR" altLang="en-US" sz="700" dirty="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E81086-8201-9C23-66F9-876B5D3710C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915" y="6536822"/>
            <a:ext cx="936217" cy="25394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1B6FB83-A823-E8A6-27A2-4D8D2E2AA09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446884" y="6547183"/>
            <a:ext cx="186066" cy="190936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EAE1CEF-7879-C8B5-9D14-E078FF42B6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8B45A2D-C3B7-92A8-17A1-DCE44A5181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ACFFF6C-A79A-09F1-E5F1-E82457612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ea typeface="+mn-ea"/>
              </a:endParaRPr>
            </a:p>
          </p:txBody>
        </p:sp>
      </p:grpSp>
      <p:sp>
        <p:nvSpPr>
          <p:cNvPr id="9" name="텍스트 개체 틀 15">
            <a:extLst>
              <a:ext uri="{FF2B5EF4-FFF2-40B4-BE49-F238E27FC236}">
                <a16:creationId xmlns:a16="http://schemas.microsoft.com/office/drawing/2014/main" id="{133FD9B0-50C4-CD08-CC06-8AD89B67C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2480" y="6308725"/>
            <a:ext cx="4731292" cy="180615"/>
          </a:xfrm>
          <a:prstGeom prst="rect">
            <a:avLst/>
          </a:prstGeom>
        </p:spPr>
        <p:txBody>
          <a:bodyPr lIns="36000" tIns="36000" rIns="36000" bIns="36000"/>
          <a:lstStyle>
            <a:lvl1pPr marL="159358" indent="-159358">
              <a:spcBef>
                <a:spcPts val="0"/>
              </a:spcBef>
              <a:buClr>
                <a:srgbClr val="2E2E38"/>
              </a:buClr>
              <a:buFont typeface="+mj-lt"/>
              <a:buAutoNum type="arabicParenR"/>
              <a:defRPr sz="800" b="0" spc="0" baseline="0">
                <a:ln>
                  <a:solidFill>
                    <a:schemeClr val="tx1">
                      <a:lumMod val="75000"/>
                      <a:alpha val="0"/>
                    </a:schemeClr>
                  </a:solidFill>
                </a:ln>
                <a:solidFill>
                  <a:srgbClr val="2E2E38"/>
                </a:solidFill>
                <a:latin typeface="+mn-lt"/>
                <a:ea typeface="+mn-ea"/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D81BC25-BD9E-6527-784E-3218A370CC6C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273050" y="121600"/>
            <a:ext cx="9360000" cy="16761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r">
              <a:defRPr lang="en-US" altLang="ko-KR" sz="1050" b="0" spc="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 altLang="ko-KR"/>
              <a:t>Click to edit Master text styles </a:t>
            </a:r>
          </a:p>
        </p:txBody>
      </p:sp>
    </p:spTree>
    <p:extLst>
      <p:ext uri="{BB962C8B-B14F-4D97-AF65-F5344CB8AC3E}">
        <p14:creationId xmlns:p14="http://schemas.microsoft.com/office/powerpoint/2010/main" val="1106368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2090B8F-9FFF-40A1-2EE7-EAE881A14F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411887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606" imgH="608" progId="TCLayout.ActiveDocument.1">
                  <p:embed/>
                </p:oleObj>
              </mc:Choice>
              <mc:Fallback>
                <p:oleObj name="think-cell Slide" r:id="rId14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090B8F-9FFF-40A1-2EE7-EAE881A14F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>
            <a:extLst>
              <a:ext uri="{FF2B5EF4-FFF2-40B4-BE49-F238E27FC236}">
                <a16:creationId xmlns:a16="http://schemas.microsoft.com/office/drawing/2014/main" id="{8AF1B7D6-8500-18BE-5927-3566E5730752}"/>
              </a:ext>
            </a:extLst>
          </p:cNvPr>
          <p:cNvGrpSpPr/>
          <p:nvPr userDrawn="1"/>
        </p:nvGrpSpPr>
        <p:grpSpPr>
          <a:xfrm>
            <a:off x="-533400" y="381000"/>
            <a:ext cx="381000" cy="4737100"/>
            <a:chOff x="-762000" y="381000"/>
            <a:chExt cx="609600" cy="4737100"/>
          </a:xfrm>
        </p:grpSpPr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ECBC082A-A69A-D7C9-4CFD-E7EB147B2204}"/>
                </a:ext>
              </a:extLst>
            </p:cNvPr>
            <p:cNvSpPr/>
            <p:nvPr userDrawn="1"/>
          </p:nvSpPr>
          <p:spPr>
            <a:xfrm>
              <a:off x="-762000" y="381000"/>
              <a:ext cx="609600" cy="381000"/>
            </a:xfrm>
            <a:prstGeom prst="rect">
              <a:avLst/>
            </a:prstGeom>
            <a:solidFill>
              <a:srgbClr val="D81921"/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" name="Rectangle 20">
              <a:extLst>
                <a:ext uri="{FF2B5EF4-FFF2-40B4-BE49-F238E27FC236}">
                  <a16:creationId xmlns:a16="http://schemas.microsoft.com/office/drawing/2014/main" id="{50627317-66DE-056A-85F7-8B2FF5236A40}"/>
                </a:ext>
              </a:extLst>
            </p:cNvPr>
            <p:cNvSpPr/>
            <p:nvPr userDrawn="1"/>
          </p:nvSpPr>
          <p:spPr>
            <a:xfrm>
              <a:off x="-762000" y="2089150"/>
              <a:ext cx="609600" cy="381000"/>
            </a:xfrm>
            <a:prstGeom prst="rect">
              <a:avLst/>
            </a:prstGeom>
            <a:solidFill>
              <a:srgbClr val="919294"/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" name="Rectangle 21">
              <a:extLst>
                <a:ext uri="{FF2B5EF4-FFF2-40B4-BE49-F238E27FC236}">
                  <a16:creationId xmlns:a16="http://schemas.microsoft.com/office/drawing/2014/main" id="{2E4C7C6C-6BF6-2F89-D979-71218C3F87A7}"/>
                </a:ext>
              </a:extLst>
            </p:cNvPr>
            <p:cNvSpPr/>
            <p:nvPr userDrawn="1"/>
          </p:nvSpPr>
          <p:spPr>
            <a:xfrm>
              <a:off x="-762000" y="3810000"/>
              <a:ext cx="609600" cy="381000"/>
            </a:xfrm>
            <a:prstGeom prst="rect">
              <a:avLst/>
            </a:prstGeom>
            <a:solidFill>
              <a:srgbClr val="8A6D4B"/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7" name="Rectangle 22">
              <a:extLst>
                <a:ext uri="{FF2B5EF4-FFF2-40B4-BE49-F238E27FC236}">
                  <a16:creationId xmlns:a16="http://schemas.microsoft.com/office/drawing/2014/main" id="{5B222B7F-1651-23A9-DA7A-242AC6CA462A}"/>
                </a:ext>
              </a:extLst>
            </p:cNvPr>
            <p:cNvSpPr/>
            <p:nvPr userDrawn="1"/>
          </p:nvSpPr>
          <p:spPr>
            <a:xfrm>
              <a:off x="-762000" y="844550"/>
              <a:ext cx="609600" cy="381000"/>
            </a:xfrm>
            <a:prstGeom prst="rect">
              <a:avLst/>
            </a:prstGeom>
            <a:solidFill>
              <a:srgbClr val="ED9D9B"/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3144AA6D-46B8-C1E5-3457-370D4847328E}"/>
                </a:ext>
              </a:extLst>
            </p:cNvPr>
            <p:cNvSpPr/>
            <p:nvPr userDrawn="1"/>
          </p:nvSpPr>
          <p:spPr>
            <a:xfrm>
              <a:off x="-762000" y="2552700"/>
              <a:ext cx="609600" cy="381000"/>
            </a:xfrm>
            <a:prstGeom prst="rect">
              <a:avLst/>
            </a:prstGeom>
            <a:solidFill>
              <a:schemeClr val="tx1">
                <a:lumMod val="75000"/>
              </a:schemeClr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" name="Rectangle 24">
              <a:extLst>
                <a:ext uri="{FF2B5EF4-FFF2-40B4-BE49-F238E27FC236}">
                  <a16:creationId xmlns:a16="http://schemas.microsoft.com/office/drawing/2014/main" id="{7C304D9D-8563-72F7-0916-4C4CAFD5967F}"/>
                </a:ext>
              </a:extLst>
            </p:cNvPr>
            <p:cNvSpPr/>
            <p:nvPr userDrawn="1"/>
          </p:nvSpPr>
          <p:spPr>
            <a:xfrm>
              <a:off x="-762000" y="4273550"/>
              <a:ext cx="609600" cy="381000"/>
            </a:xfrm>
            <a:prstGeom prst="rect">
              <a:avLst/>
            </a:prstGeom>
            <a:solidFill>
              <a:srgbClr val="8A6D4B"/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" name="Rectangle 25">
              <a:extLst>
                <a:ext uri="{FF2B5EF4-FFF2-40B4-BE49-F238E27FC236}">
                  <a16:creationId xmlns:a16="http://schemas.microsoft.com/office/drawing/2014/main" id="{8CA35A96-B9E6-3EEA-3448-114E152936CC}"/>
                </a:ext>
              </a:extLst>
            </p:cNvPr>
            <p:cNvSpPr/>
            <p:nvPr userDrawn="1"/>
          </p:nvSpPr>
          <p:spPr>
            <a:xfrm>
              <a:off x="-762000" y="4273550"/>
              <a:ext cx="609600" cy="381000"/>
            </a:xfrm>
            <a:prstGeom prst="rect">
              <a:avLst/>
            </a:prstGeom>
            <a:solidFill>
              <a:srgbClr val="C4AD92"/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" name="Rectangle 26">
              <a:extLst>
                <a:ext uri="{FF2B5EF4-FFF2-40B4-BE49-F238E27FC236}">
                  <a16:creationId xmlns:a16="http://schemas.microsoft.com/office/drawing/2014/main" id="{5C11DE7A-E3B3-8594-EEED-8F6FDF6BD50A}"/>
                </a:ext>
              </a:extLst>
            </p:cNvPr>
            <p:cNvSpPr/>
            <p:nvPr userDrawn="1"/>
          </p:nvSpPr>
          <p:spPr>
            <a:xfrm>
              <a:off x="-762000" y="1308100"/>
              <a:ext cx="609600" cy="381000"/>
            </a:xfrm>
            <a:prstGeom prst="rect">
              <a:avLst/>
            </a:prstGeom>
            <a:solidFill>
              <a:srgbClr val="FAE3E2"/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" name="Rectangle 27">
              <a:extLst>
                <a:ext uri="{FF2B5EF4-FFF2-40B4-BE49-F238E27FC236}">
                  <a16:creationId xmlns:a16="http://schemas.microsoft.com/office/drawing/2014/main" id="{282C649E-F4F2-3674-AA7B-8B126AE48343}"/>
                </a:ext>
              </a:extLst>
            </p:cNvPr>
            <p:cNvSpPr/>
            <p:nvPr userDrawn="1"/>
          </p:nvSpPr>
          <p:spPr>
            <a:xfrm>
              <a:off x="-762000" y="3016250"/>
              <a:ext cx="609600" cy="38100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" name="Rectangle 28">
              <a:extLst>
                <a:ext uri="{FF2B5EF4-FFF2-40B4-BE49-F238E27FC236}">
                  <a16:creationId xmlns:a16="http://schemas.microsoft.com/office/drawing/2014/main" id="{D1504669-23C5-8187-7D64-BA190AC6EBA2}"/>
                </a:ext>
              </a:extLst>
            </p:cNvPr>
            <p:cNvSpPr/>
            <p:nvPr userDrawn="1"/>
          </p:nvSpPr>
          <p:spPr>
            <a:xfrm>
              <a:off x="-762000" y="4737100"/>
              <a:ext cx="609600" cy="381000"/>
            </a:xfrm>
            <a:prstGeom prst="rect">
              <a:avLst/>
            </a:prstGeom>
            <a:solidFill>
              <a:srgbClr val="E1D6C9"/>
            </a:solidFill>
            <a:ln w="9525">
              <a:solidFill>
                <a:schemeClr val="tx1">
                  <a:lumMod val="65000"/>
                </a:schemeClr>
              </a:solidFill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>
                <a:lnSpc>
                  <a:spcPct val="120000"/>
                </a:lnSpc>
              </a:pPr>
              <a:endParaRPr lang="ko-KR" altLang="en-US" sz="1100" kern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3350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8" r:id="rId9"/>
    <p:sldLayoutId id="2147483797" r:id="rId10"/>
    <p:sldLayoutId id="2147483799" r:id="rId11"/>
  </p:sldLayoutIdLst>
  <p:transition/>
  <p:hf hdr="0" dt="0"/>
  <p:txStyles>
    <p:titleStyle>
      <a:lvl1pPr algn="l" defTabSz="505234" rtl="0" eaLnBrk="1" latinLnBrk="1" hangingPunct="1">
        <a:lnSpc>
          <a:spcPct val="100000"/>
        </a:lnSpc>
        <a:spcBef>
          <a:spcPct val="0"/>
        </a:spcBef>
        <a:buNone/>
        <a:defRPr sz="1769" b="0" kern="1200" baseline="0">
          <a:solidFill>
            <a:schemeClr val="tx1"/>
          </a:solidFill>
          <a:latin typeface="+mj-lt"/>
          <a:ea typeface="+mj-ea"/>
          <a:cs typeface="Arial" pitchFamily="34" charset="0"/>
        </a:defRPr>
      </a:lvl1pPr>
    </p:titleStyle>
    <p:bodyStyle>
      <a:lvl1pPr marL="0" indent="0" algn="l" defTabSz="505234" rtl="0" eaLnBrk="1" latinLnBrk="1" hangingPunct="1">
        <a:lnSpc>
          <a:spcPct val="100000"/>
        </a:lnSpc>
        <a:spcBef>
          <a:spcPct val="0"/>
        </a:spcBef>
        <a:buClr>
          <a:schemeClr val="tx2"/>
        </a:buClr>
        <a:buSzPct val="110000"/>
        <a:buFont typeface="Arial" pitchFamily="34" charset="0"/>
        <a:buNone/>
        <a:defRPr sz="1327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505234" rtl="0" eaLnBrk="1" latinLnBrk="1" hangingPunct="1">
        <a:lnSpc>
          <a:spcPct val="100000"/>
        </a:lnSpc>
        <a:spcBef>
          <a:spcPct val="0"/>
        </a:spcBef>
        <a:buClr>
          <a:schemeClr val="tx2"/>
        </a:buClr>
        <a:buSzPct val="110000"/>
        <a:buFont typeface="Arial" pitchFamily="34" charset="0"/>
        <a:buNone/>
        <a:defRPr sz="118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505234" rtl="0" eaLnBrk="1" latinLnBrk="1" hangingPunct="1">
        <a:lnSpc>
          <a:spcPct val="100000"/>
        </a:lnSpc>
        <a:spcBef>
          <a:spcPct val="0"/>
        </a:spcBef>
        <a:buClr>
          <a:schemeClr val="tx2"/>
        </a:buClr>
        <a:buSzPct val="110000"/>
        <a:buFont typeface="Arial" pitchFamily="34" charset="0"/>
        <a:buNone/>
        <a:defRPr sz="1032" b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505234" rtl="0" eaLnBrk="1" latinLnBrk="1" hangingPunct="1">
        <a:lnSpc>
          <a:spcPct val="100000"/>
        </a:lnSpc>
        <a:spcBef>
          <a:spcPct val="0"/>
        </a:spcBef>
        <a:buClr>
          <a:schemeClr val="tx2"/>
        </a:buClr>
        <a:buSzPct val="110000"/>
        <a:buFont typeface="Arial" pitchFamily="34" charset="0"/>
        <a:buNone/>
        <a:defRPr sz="885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505234" rtl="0" eaLnBrk="1" latinLnBrk="1" hangingPunct="1">
        <a:lnSpc>
          <a:spcPct val="100000"/>
        </a:lnSpc>
        <a:spcBef>
          <a:spcPct val="0"/>
        </a:spcBef>
        <a:buClr>
          <a:schemeClr val="tx2"/>
        </a:buClr>
        <a:buSzPct val="110000"/>
        <a:buFont typeface="Arial" pitchFamily="34" charset="0"/>
        <a:buNone/>
        <a:defRPr sz="811" b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89392" indent="-126309" algn="l" defTabSz="505234" rtl="0" eaLnBrk="1" latinLnBrk="1" hangingPunct="1">
        <a:spcBef>
          <a:spcPct val="20000"/>
        </a:spcBef>
        <a:buFont typeface="Arial" pitchFamily="34" charset="0"/>
        <a:buChar char="•"/>
        <a:defRPr sz="1105" kern="1200">
          <a:solidFill>
            <a:schemeClr val="tx1"/>
          </a:solidFill>
          <a:latin typeface="+mn-lt"/>
          <a:ea typeface="+mn-ea"/>
          <a:cs typeface="+mn-cs"/>
        </a:defRPr>
      </a:lvl6pPr>
      <a:lvl7pPr marL="1642009" indent="-126309" algn="l" defTabSz="505234" rtl="0" eaLnBrk="1" latinLnBrk="1" hangingPunct="1">
        <a:spcBef>
          <a:spcPct val="20000"/>
        </a:spcBef>
        <a:buFont typeface="Arial" pitchFamily="34" charset="0"/>
        <a:buChar char="•"/>
        <a:defRPr sz="1105" kern="1200">
          <a:solidFill>
            <a:schemeClr val="tx1"/>
          </a:solidFill>
          <a:latin typeface="+mn-lt"/>
          <a:ea typeface="+mn-ea"/>
          <a:cs typeface="+mn-cs"/>
        </a:defRPr>
      </a:lvl7pPr>
      <a:lvl8pPr marL="1894626" indent="-126309" algn="l" defTabSz="505234" rtl="0" eaLnBrk="1" latinLnBrk="1" hangingPunct="1">
        <a:spcBef>
          <a:spcPct val="20000"/>
        </a:spcBef>
        <a:buFont typeface="Arial" pitchFamily="34" charset="0"/>
        <a:buChar char="•"/>
        <a:defRPr sz="1105" kern="1200">
          <a:solidFill>
            <a:schemeClr val="tx1"/>
          </a:solidFill>
          <a:latin typeface="+mn-lt"/>
          <a:ea typeface="+mn-ea"/>
          <a:cs typeface="+mn-cs"/>
        </a:defRPr>
      </a:lvl8pPr>
      <a:lvl9pPr marL="2147243" indent="-126309" algn="l" defTabSz="505234" rtl="0" eaLnBrk="1" latinLnBrk="1" hangingPunct="1">
        <a:spcBef>
          <a:spcPct val="20000"/>
        </a:spcBef>
        <a:buFont typeface="Arial" pitchFamily="34" charset="0"/>
        <a:buChar char="•"/>
        <a:defRPr sz="1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1pPr>
      <a:lvl2pPr marL="252617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2pPr>
      <a:lvl3pPr marL="505234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3pPr>
      <a:lvl4pPr marL="757850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4pPr>
      <a:lvl5pPr marL="1010466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5pPr>
      <a:lvl6pPr marL="1263084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6pPr>
      <a:lvl7pPr marL="1515701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7pPr>
      <a:lvl8pPr marL="1768318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8pPr>
      <a:lvl9pPr marL="2020935" algn="l" defTabSz="505234" rtl="0" eaLnBrk="1" latinLnBrk="1" hangingPunct="1">
        <a:defRPr sz="9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>
          <p15:clr>
            <a:srgbClr val="F26B43"/>
          </p15:clr>
        </p15:guide>
        <p15:guide id="2" pos="194">
          <p15:clr>
            <a:srgbClr val="F26B43"/>
          </p15:clr>
        </p15:guide>
        <p15:guide id="3" pos="6046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1253">
          <p15:clr>
            <a:srgbClr val="F26B43"/>
          </p15:clr>
        </p15:guide>
        <p15:guide id="7" orient="horz" pos="103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5.svg"/><Relationship Id="rId7" Type="http://schemas.microsoft.com/office/2007/relationships/hdphoto" Target="../media/hdphoto1.wdp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sv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2.png"/><Relationship Id="rId5" Type="http://schemas.openxmlformats.org/officeDocument/2006/relationships/image" Target="../media/image7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microsoft.com/office/2007/relationships/hdphoto" Target="../media/hdphoto2.wdp"/><Relationship Id="rId7" Type="http://schemas.openxmlformats.org/officeDocument/2006/relationships/image" Target="../media/image24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23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27A29-BFEE-61A2-F3FB-54A9D261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사각형: 둥근 모서리 401">
            <a:extLst>
              <a:ext uri="{FF2B5EF4-FFF2-40B4-BE49-F238E27FC236}">
                <a16:creationId xmlns:a16="http://schemas.microsoft.com/office/drawing/2014/main" id="{CCB488A1-315A-468D-2E90-B72FA38ED2F1}"/>
              </a:ext>
            </a:extLst>
          </p:cNvPr>
          <p:cNvSpPr/>
          <p:nvPr/>
        </p:nvSpPr>
        <p:spPr>
          <a:xfrm>
            <a:off x="384582" y="5341764"/>
            <a:ext cx="5477069" cy="898030"/>
          </a:xfrm>
          <a:prstGeom prst="roundRect">
            <a:avLst/>
          </a:prstGeom>
          <a:solidFill>
            <a:srgbClr val="FDF5F5"/>
          </a:solidFill>
          <a:ln w="9525" cap="flat" cmpd="sng" algn="ctr">
            <a:solidFill>
              <a:srgbClr val="D81921"/>
            </a:solidFill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algn="ctr"/>
            <a:r>
              <a:rPr kumimoji="1" lang="ko-KR" altLang="en-US" sz="1050" kern="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6DCA603B-A6CC-37D0-1D84-9FBBDDA52B95}"/>
              </a:ext>
            </a:extLst>
          </p:cNvPr>
          <p:cNvSpPr/>
          <p:nvPr/>
        </p:nvSpPr>
        <p:spPr>
          <a:xfrm>
            <a:off x="1870551" y="3923904"/>
            <a:ext cx="1119452" cy="592434"/>
          </a:xfrm>
          <a:prstGeom prst="rect">
            <a:avLst/>
          </a:prstGeom>
          <a:solidFill>
            <a:srgbClr val="FAE3E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lnSpc>
                <a:spcPct val="120000"/>
              </a:lnSpc>
            </a:pP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3DB656-86E8-EFD9-419E-FCCD73DB7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기반 외환 이상거래 탐지체계 구축을 위해 데이터 확보부터 </a:t>
            </a:r>
            <a:r>
              <a:rPr lang="en-US" altLang="ko-KR" dirty="0"/>
              <a:t>AI </a:t>
            </a:r>
            <a:r>
              <a:rPr lang="ko-KR" altLang="en-US" dirty="0"/>
              <a:t>연계</a:t>
            </a:r>
            <a:r>
              <a:rPr lang="en-US" altLang="ko-KR" dirty="0"/>
              <a:t>, </a:t>
            </a:r>
            <a:r>
              <a:rPr lang="ko-KR" altLang="en-US" dirty="0"/>
              <a:t>업무 적용</a:t>
            </a:r>
            <a:r>
              <a:rPr lang="en-US" altLang="ko-KR" dirty="0"/>
              <a:t>, </a:t>
            </a:r>
            <a:r>
              <a:rPr lang="ko-KR" altLang="en-US" dirty="0"/>
              <a:t>운영체계까지 단계적으로 구축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7FA8AA8-3A07-752F-0C89-E890F7A02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60000"/>
          <a:lstStyle/>
          <a:p>
            <a:r>
              <a:rPr lang="ko-KR" altLang="en-US" dirty="0"/>
              <a:t>외환이상거래 탐지체계 고도화</a:t>
            </a:r>
          </a:p>
        </p:txBody>
      </p:sp>
      <p:grpSp>
        <p:nvGrpSpPr>
          <p:cNvPr id="210" name="Group 20">
            <a:extLst>
              <a:ext uri="{FF2B5EF4-FFF2-40B4-BE49-F238E27FC236}">
                <a16:creationId xmlns:a16="http://schemas.microsoft.com/office/drawing/2014/main" id="{80DE16BD-B464-FC99-56BA-2304C4D83651}"/>
              </a:ext>
            </a:extLst>
          </p:cNvPr>
          <p:cNvGrpSpPr/>
          <p:nvPr/>
        </p:nvGrpSpPr>
        <p:grpSpPr>
          <a:xfrm>
            <a:off x="307976" y="1629877"/>
            <a:ext cx="5616970" cy="360000"/>
            <a:chOff x="273049" y="1706375"/>
            <a:chExt cx="5616055" cy="360000"/>
          </a:xfrm>
        </p:grpSpPr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91DE49C2-89E5-CCEB-11E6-E00BCF43E6CF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76744" y="1706375"/>
              <a:ext cx="3608665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D200"/>
                </a:buClr>
                <a:buSzPct val="75000"/>
                <a:buFontTx/>
                <a:buNone/>
                <a:defRPr kumimoji="0" sz="1400" b="1" i="0" u="none" strike="noStrike" kern="0" cap="none" spc="0" normalizeH="0" baseline="0">
                  <a:ln>
                    <a:solidFill>
                      <a:srgbClr val="FFFFFF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defRPr>
              </a:lvl1pPr>
              <a:lvl2pPr marL="478940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7879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36819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15758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94698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73637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52576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31516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829544">
                <a:defRPr/>
              </a:pPr>
              <a:r>
                <a:rPr lang="ko-KR" altLang="en-US" kern="1200" dirty="0">
                  <a:solidFill>
                    <a:prstClr val="black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세부 내용</a:t>
              </a:r>
              <a:endParaRPr kumimoji="0" lang="ko-KR" altLang="en-US" sz="1400" b="1" i="0" u="none" strike="noStrike" kern="1200" cap="none" spc="0" normalizeH="0" baseline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cxnSp>
          <p:nvCxnSpPr>
            <p:cNvPr id="212" name="직선 연결선 36">
              <a:extLst>
                <a:ext uri="{FF2B5EF4-FFF2-40B4-BE49-F238E27FC236}">
                  <a16:creationId xmlns:a16="http://schemas.microsoft.com/office/drawing/2014/main" id="{642684A4-06A1-F551-FD89-27EB5F3A15D5}"/>
                </a:ext>
              </a:extLst>
            </p:cNvPr>
            <p:cNvCxnSpPr/>
            <p:nvPr/>
          </p:nvCxnSpPr>
          <p:spPr>
            <a:xfrm>
              <a:off x="273049" y="2066375"/>
              <a:ext cx="5616055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</p:grpSp>
      <p:grpSp>
        <p:nvGrpSpPr>
          <p:cNvPr id="213" name="Group 112">
            <a:extLst>
              <a:ext uri="{FF2B5EF4-FFF2-40B4-BE49-F238E27FC236}">
                <a16:creationId xmlns:a16="http://schemas.microsoft.com/office/drawing/2014/main" id="{474E07A8-7ADB-D8F7-6195-63BCFC4AD6D4}"/>
              </a:ext>
            </a:extLst>
          </p:cNvPr>
          <p:cNvGrpSpPr/>
          <p:nvPr/>
        </p:nvGrpSpPr>
        <p:grpSpPr>
          <a:xfrm>
            <a:off x="6185684" y="1629877"/>
            <a:ext cx="3415910" cy="360000"/>
            <a:chOff x="273049" y="1706375"/>
            <a:chExt cx="5616055" cy="360000"/>
          </a:xfrm>
        </p:grpSpPr>
        <p:sp>
          <p:nvSpPr>
            <p:cNvPr id="214" name="Text Box 3">
              <a:extLst>
                <a:ext uri="{FF2B5EF4-FFF2-40B4-BE49-F238E27FC236}">
                  <a16:creationId xmlns:a16="http://schemas.microsoft.com/office/drawing/2014/main" id="{BC3591C4-5397-BCD4-6FDC-FA617EAB12A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76744" y="1706375"/>
              <a:ext cx="3608665" cy="36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D200"/>
                </a:buClr>
                <a:buSzPct val="75000"/>
                <a:buFontTx/>
                <a:buNone/>
                <a:defRPr kumimoji="0" sz="1400" b="1" i="0" u="none" strike="noStrike" kern="0" cap="none" spc="0" normalizeH="0" baseline="0">
                  <a:ln>
                    <a:solidFill>
                      <a:srgbClr val="FFFFFF">
                        <a:alpha val="0"/>
                      </a:srgb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defRPr>
              </a:lvl1pPr>
              <a:lvl2pPr marL="478940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57879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436819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915758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394698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873637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352576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31516" algn="l" defTabSz="957879" rtl="0" eaLnBrk="1" latinLnBrk="0" hangingPunct="1">
                <a:defRPr sz="1886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29544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FFD200"/>
                </a:buClr>
                <a:buSzPct val="750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solidFill>
                      <a:srgbClr val="FFFFFF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" panose="020B0600000101010101" pitchFamily="50" charset="-127"/>
                  <a:ea typeface="나눔스퀘어" panose="020B0600000101010101" pitchFamily="50" charset="-127"/>
                  <a:cs typeface="Arial"/>
                </a:rPr>
                <a:t>설명</a:t>
              </a:r>
            </a:p>
          </p:txBody>
        </p:sp>
        <p:cxnSp>
          <p:nvCxnSpPr>
            <p:cNvPr id="215" name="직선 연결선 36">
              <a:extLst>
                <a:ext uri="{FF2B5EF4-FFF2-40B4-BE49-F238E27FC236}">
                  <a16:creationId xmlns:a16="http://schemas.microsoft.com/office/drawing/2014/main" id="{C94DAE8E-3D07-B6AA-7148-EB1E1B496039}"/>
                </a:ext>
              </a:extLst>
            </p:cNvPr>
            <p:cNvCxnSpPr/>
            <p:nvPr/>
          </p:nvCxnSpPr>
          <p:spPr>
            <a:xfrm>
              <a:off x="273049" y="2066375"/>
              <a:ext cx="5616055" cy="0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tailEnd type="none"/>
            </a:ln>
            <a:effectLst/>
          </p:spPr>
        </p:cxnSp>
      </p:grpSp>
      <p:sp>
        <p:nvSpPr>
          <p:cNvPr id="367" name="직사각형 10">
            <a:extLst>
              <a:ext uri="{FF2B5EF4-FFF2-40B4-BE49-F238E27FC236}">
                <a16:creationId xmlns:a16="http://schemas.microsoft.com/office/drawing/2014/main" id="{C312625B-394E-B51F-0939-D75FD8D5962B}"/>
              </a:ext>
            </a:extLst>
          </p:cNvPr>
          <p:cNvSpPr/>
          <p:nvPr/>
        </p:nvSpPr>
        <p:spPr>
          <a:xfrm>
            <a:off x="6185684" y="2089041"/>
            <a:ext cx="3412340" cy="3683431"/>
          </a:xfrm>
          <a:prstGeom prst="rect">
            <a:avLst/>
          </a:prstGeom>
        </p:spPr>
        <p:txBody>
          <a:bodyPr wrap="square" lIns="36000" tIns="72000" rIns="36000" bIns="36000" anchor="t">
            <a:spAutoFit/>
          </a:bodyPr>
          <a:lstStyle>
            <a:defPPr>
              <a:defRPr lang="en-US"/>
            </a:defPPr>
            <a:lvl1pPr marL="0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437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873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310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746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183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620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056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1493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defTabSz="914400" fontAlgn="base"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탐지 </a:t>
            </a:r>
            <a:r>
              <a:rPr lang="ko-KR" altLang="en-US" sz="1200" b="1" dirty="0" err="1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쳬계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 구축을 위한 데이터 확보 및 정비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44000" indent="144000" defTabSz="914400" fontAlgn="base">
              <a:spcBef>
                <a:spcPts val="300"/>
              </a:spcBef>
              <a:spcAft>
                <a:spcPts val="500"/>
              </a:spcAft>
              <a:buFontTx/>
              <a:buChar char="-"/>
              <a:defRPr/>
            </a:pP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정상거래내역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이상거래이력 데이터 및 현행 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Rule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확보 및 정비</a:t>
            </a:r>
          </a:p>
          <a:p>
            <a:pPr marL="173038" indent="-173038" defTabSz="914400" fontAlgn="base"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탐지 솔루션 연계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44000" indent="144000" defTabSz="914400" fontAlgn="base">
              <a:spcBef>
                <a:spcPct val="0"/>
              </a:spcBef>
              <a:spcAft>
                <a:spcPts val="500"/>
              </a:spcAft>
              <a:buFontTx/>
              <a:buChar char="-"/>
              <a:defRPr/>
            </a:pP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데이터 송수신 및 탐지 결과 연계</a:t>
            </a:r>
            <a:endParaRPr lang="en-US" altLang="ko-KR" sz="110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73038" indent="-173038" defTabSz="914400" fontAlgn="base"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실시간 탐지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·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검토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·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조치 체계 적용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indent="144000" defTabSz="914400" fontAlgn="base">
              <a:spcBef>
                <a:spcPct val="0"/>
              </a:spcBef>
              <a:spcAft>
                <a:spcPts val="500"/>
              </a:spcAft>
              <a:defRPr/>
            </a:pPr>
            <a:r>
              <a:rPr lang="en-US" altLang="ko-KR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- 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실시간 모니터링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알림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담당자 검토 및 조회</a:t>
            </a:r>
          </a:p>
          <a:p>
            <a:pPr marL="173038" indent="-173038" defTabSz="914400" fontAlgn="base"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탐지 운영체계 구축 및 성능 고도화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71450" indent="171450" defTabSz="914400" fontAlgn="base">
              <a:spcBef>
                <a:spcPct val="0"/>
              </a:spcBef>
              <a:spcAft>
                <a:spcPts val="500"/>
              </a:spcAft>
              <a:buFontTx/>
              <a:buChar char="-"/>
              <a:defRPr/>
            </a:pPr>
            <a:r>
              <a:rPr lang="ko-KR" altLang="en-US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탐지 결과 및 </a:t>
            </a:r>
            <a:r>
              <a:rPr lang="en-US" altLang="ko-KR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Rule </a:t>
            </a:r>
            <a:r>
              <a:rPr lang="ko-KR" altLang="en-US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관리</a:t>
            </a:r>
            <a:r>
              <a:rPr lang="en-US" altLang="ko-KR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모델 성능 관리</a:t>
            </a:r>
            <a:r>
              <a:rPr lang="en-US" altLang="ko-KR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탐지 성능 개선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73038" indent="-173038" defTabSz="914400" fontAlgn="base">
              <a:lnSpc>
                <a:spcPts val="1600"/>
              </a:lnSpc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학습은 최종 확정된 데이터 구조와 업무 프로세스를 기반으로 수행됨으로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단계적으로 데이터 기반을 마련한 후 차세대 데이터 및 프로세스가 안정화 된 이후 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고도화를 추진하는 것이 학습 데이터의 품질과 모델의 정확성 확보에 효과적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</p:txBody>
      </p:sp>
      <p:sp>
        <p:nvSpPr>
          <p:cNvPr id="62" name="제목 1">
            <a:extLst>
              <a:ext uri="{FF2B5EF4-FFF2-40B4-BE49-F238E27FC236}">
                <a16:creationId xmlns:a16="http://schemas.microsoft.com/office/drawing/2014/main" id="{4A43C294-66D6-DE0B-F780-78F544F58F83}"/>
              </a:ext>
            </a:extLst>
          </p:cNvPr>
          <p:cNvSpPr txBox="1">
            <a:spLocks/>
          </p:cNvSpPr>
          <p:nvPr/>
        </p:nvSpPr>
        <p:spPr>
          <a:xfrm>
            <a:off x="307978" y="311151"/>
            <a:ext cx="9290048" cy="45247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50523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ko-KR" altLang="en-US" sz="2400" b="0" kern="1200" spc="-81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defRPr>
            </a:lvl1pPr>
          </a:lstStyle>
          <a:p>
            <a:endParaRPr lang="ko-KR" altLang="en-US"/>
          </a:p>
        </p:txBody>
      </p:sp>
      <p:pic>
        <p:nvPicPr>
          <p:cNvPr id="7" name="그래픽 6" descr="데이터베이스 단색으로 채워진">
            <a:extLst>
              <a:ext uri="{FF2B5EF4-FFF2-40B4-BE49-F238E27FC236}">
                <a16:creationId xmlns:a16="http://schemas.microsoft.com/office/drawing/2014/main" id="{4360B214-5554-EBC4-615E-AB1DBD4E2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107" y="2914234"/>
            <a:ext cx="597859" cy="626860"/>
          </a:xfrm>
          <a:prstGeom prst="rect">
            <a:avLst/>
          </a:prstGeom>
        </p:spPr>
      </p:pic>
      <p:sp>
        <p:nvSpPr>
          <p:cNvPr id="11" name="직사각형 29">
            <a:extLst>
              <a:ext uri="{FF2B5EF4-FFF2-40B4-BE49-F238E27FC236}">
                <a16:creationId xmlns:a16="http://schemas.microsoft.com/office/drawing/2014/main" id="{05B39F8A-089D-4F74-FF7A-78ED91D274A7}"/>
              </a:ext>
            </a:extLst>
          </p:cNvPr>
          <p:cNvSpPr/>
          <p:nvPr/>
        </p:nvSpPr>
        <p:spPr>
          <a:xfrm>
            <a:off x="308890" y="2089041"/>
            <a:ext cx="5616056" cy="4219684"/>
          </a:xfrm>
          <a:prstGeom prst="rect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square" lIns="90000" tIns="46800" rIns="90000" bIns="46800" rtlCol="0" anchor="ctr" anchorCtr="0"/>
          <a:lstStyle/>
          <a:p>
            <a:pPr algn="ctr">
              <a:defRPr/>
            </a:pPr>
            <a:endParaRPr lang="ko-KR" altLang="en-US" sz="1400" b="1" kern="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DEC11FC-C718-1C1E-F15B-FD516F558A8B}"/>
              </a:ext>
            </a:extLst>
          </p:cNvPr>
          <p:cNvGrpSpPr/>
          <p:nvPr/>
        </p:nvGrpSpPr>
        <p:grpSpPr>
          <a:xfrm>
            <a:off x="382555" y="2372399"/>
            <a:ext cx="5477069" cy="341527"/>
            <a:chOff x="418230" y="2169731"/>
            <a:chExt cx="4499280" cy="440119"/>
          </a:xfrm>
        </p:grpSpPr>
        <p:sp>
          <p:nvSpPr>
            <p:cNvPr id="17" name="Rectangle: Top Corners Rounded 190">
              <a:extLst>
                <a:ext uri="{FF2B5EF4-FFF2-40B4-BE49-F238E27FC236}">
                  <a16:creationId xmlns:a16="http://schemas.microsoft.com/office/drawing/2014/main" id="{1775F18B-9A2E-0F14-A981-25393ED2ED0C}"/>
                </a:ext>
              </a:extLst>
            </p:cNvPr>
            <p:cNvSpPr/>
            <p:nvPr/>
          </p:nvSpPr>
          <p:spPr>
            <a:xfrm>
              <a:off x="1543050" y="2181597"/>
              <a:ext cx="1124820" cy="428253"/>
            </a:xfrm>
            <a:prstGeom prst="chevron">
              <a:avLst>
                <a:gd name="adj" fmla="val 20711"/>
              </a:avLst>
            </a:prstGeom>
            <a:solidFill>
              <a:srgbClr val="ED9D9B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9A9A9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/>
                </a:rPr>
                <a:t>    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/>
                </a:rPr>
                <a:t>솔루션 연계</a:t>
              </a:r>
              <a:endParaRPr kumimoji="1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</a:endParaRPr>
            </a:p>
          </p:txBody>
        </p:sp>
        <p:sp>
          <p:nvSpPr>
            <p:cNvPr id="16" name="Rectangle: Top Corners Rounded 188">
              <a:extLst>
                <a:ext uri="{FF2B5EF4-FFF2-40B4-BE49-F238E27FC236}">
                  <a16:creationId xmlns:a16="http://schemas.microsoft.com/office/drawing/2014/main" id="{78ECED04-BF20-F278-507F-1E136EAD5FE8}"/>
                </a:ext>
              </a:extLst>
            </p:cNvPr>
            <p:cNvSpPr/>
            <p:nvPr/>
          </p:nvSpPr>
          <p:spPr>
            <a:xfrm>
              <a:off x="418230" y="2181598"/>
              <a:ext cx="1124820" cy="428250"/>
            </a:xfrm>
            <a:prstGeom prst="homePlate">
              <a:avLst>
                <a:gd name="adj" fmla="val 20711"/>
              </a:avLst>
            </a:prstGeom>
            <a:solidFill>
              <a:srgbClr val="ED9D9B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9A9A9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/>
                </a:rPr>
                <a:t>     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/>
                </a:rPr>
                <a:t>데이터 준비</a:t>
              </a:r>
            </a:p>
          </p:txBody>
        </p:sp>
        <p:sp>
          <p:nvSpPr>
            <p:cNvPr id="18" name="Rectangle: Top Corners Rounded 190">
              <a:extLst>
                <a:ext uri="{FF2B5EF4-FFF2-40B4-BE49-F238E27FC236}">
                  <a16:creationId xmlns:a16="http://schemas.microsoft.com/office/drawing/2014/main" id="{A936F09A-BFD2-C5D8-DAB3-CC108E5B29EA}"/>
                </a:ext>
              </a:extLst>
            </p:cNvPr>
            <p:cNvSpPr/>
            <p:nvPr/>
          </p:nvSpPr>
          <p:spPr>
            <a:xfrm>
              <a:off x="2667870" y="2169731"/>
              <a:ext cx="1124820" cy="428251"/>
            </a:xfrm>
            <a:prstGeom prst="chevron">
              <a:avLst>
                <a:gd name="adj" fmla="val 20711"/>
              </a:avLst>
            </a:prstGeom>
            <a:solidFill>
              <a:srgbClr val="ED9D9B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9A9A9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/>
                </a:rPr>
                <a:t>     업무 적용</a:t>
              </a:r>
              <a:endParaRPr kumimoji="1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</a:endParaRPr>
            </a:p>
          </p:txBody>
        </p:sp>
        <p:sp>
          <p:nvSpPr>
            <p:cNvPr id="19" name="Rectangle: Top Corners Rounded 190">
              <a:extLst>
                <a:ext uri="{FF2B5EF4-FFF2-40B4-BE49-F238E27FC236}">
                  <a16:creationId xmlns:a16="http://schemas.microsoft.com/office/drawing/2014/main" id="{F131F073-A511-5712-0FE4-0BB193FE8490}"/>
                </a:ext>
              </a:extLst>
            </p:cNvPr>
            <p:cNvSpPr/>
            <p:nvPr/>
          </p:nvSpPr>
          <p:spPr>
            <a:xfrm>
              <a:off x="3792690" y="2169731"/>
              <a:ext cx="1124820" cy="428251"/>
            </a:xfrm>
            <a:prstGeom prst="chevron">
              <a:avLst>
                <a:gd name="adj" fmla="val 20711"/>
              </a:avLst>
            </a:prstGeom>
            <a:solidFill>
              <a:srgbClr val="ED9D9B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9A9A9A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429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/>
                </a:rPr>
                <a:t> </a:t>
              </a:r>
              <a:r>
                <a:rPr kumimoji="1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/>
                </a:rPr>
                <a:t>운영 체계</a:t>
              </a:r>
              <a:endPara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0EC6A1E-98E4-0024-053D-E27D93D74E64}"/>
              </a:ext>
            </a:extLst>
          </p:cNvPr>
          <p:cNvSpPr/>
          <p:nvPr/>
        </p:nvSpPr>
        <p:spPr>
          <a:xfrm>
            <a:off x="384582" y="2778814"/>
            <a:ext cx="1291656" cy="2462575"/>
          </a:xfrm>
          <a:prstGeom prst="rect">
            <a:avLst/>
          </a:prstGeom>
          <a:noFill/>
          <a:ln w="3175" algn="ctr">
            <a:solidFill>
              <a:srgbClr val="ED9D9B"/>
            </a:solidFill>
            <a:prstDash val="solid"/>
            <a:round/>
            <a:headEnd/>
            <a:tailEnd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나눔스퀘어"/>
              <a:ea typeface="나눔스퀘어" panose="020B0600000101010101" pitchFamily="50" charset="-127"/>
              <a:cs typeface="Arial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1225E84-128C-783A-BDA8-4F8796594896}"/>
              </a:ext>
            </a:extLst>
          </p:cNvPr>
          <p:cNvSpPr/>
          <p:nvPr/>
        </p:nvSpPr>
        <p:spPr>
          <a:xfrm>
            <a:off x="784884" y="2995225"/>
            <a:ext cx="940649" cy="5153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거래 데이터 확보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9DA9B2-50B5-770A-B326-DAD98B3A428A}"/>
              </a:ext>
            </a:extLst>
          </p:cNvPr>
          <p:cNvSpPr/>
          <p:nvPr/>
        </p:nvSpPr>
        <p:spPr>
          <a:xfrm>
            <a:off x="1751822" y="2778815"/>
            <a:ext cx="1307757" cy="2465748"/>
          </a:xfrm>
          <a:prstGeom prst="rect">
            <a:avLst/>
          </a:prstGeom>
          <a:noFill/>
          <a:ln w="3175" algn="ctr">
            <a:solidFill>
              <a:srgbClr val="ED9D9B"/>
            </a:solidFill>
            <a:prstDash val="solid"/>
            <a:round/>
            <a:headEnd/>
            <a:tailEnd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나눔스퀘어"/>
              <a:ea typeface="나눔스퀘어" panose="020B0600000101010101" pitchFamily="50" charset="-127"/>
              <a:cs typeface="Arial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4464FED-41E9-97EC-0CCF-AD795BAFF92F}"/>
              </a:ext>
            </a:extLst>
          </p:cNvPr>
          <p:cNvSpPr/>
          <p:nvPr/>
        </p:nvSpPr>
        <p:spPr>
          <a:xfrm>
            <a:off x="2336852" y="3962036"/>
            <a:ext cx="675700" cy="48590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>
              <a:lnSpc>
                <a:spcPct val="120000"/>
              </a:lnSpc>
            </a:pPr>
            <a:r>
              <a:rPr lang="en-US" altLang="ko-KR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탐지 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솔루션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FD54B9A-7DDF-23D6-C32F-E37C97B79AF1}"/>
              </a:ext>
            </a:extLst>
          </p:cNvPr>
          <p:cNvSpPr/>
          <p:nvPr/>
        </p:nvSpPr>
        <p:spPr>
          <a:xfrm>
            <a:off x="3143582" y="2795737"/>
            <a:ext cx="1258553" cy="2445652"/>
          </a:xfrm>
          <a:prstGeom prst="rect">
            <a:avLst/>
          </a:prstGeom>
          <a:noFill/>
          <a:ln w="3175" algn="ctr">
            <a:solidFill>
              <a:srgbClr val="ED9D9B"/>
            </a:solidFill>
            <a:prstDash val="solid"/>
            <a:round/>
            <a:headEnd/>
            <a:tailEnd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나눔스퀘어"/>
              <a:ea typeface="나눔스퀘어" panose="020B0600000101010101" pitchFamily="50" charset="-127"/>
              <a:cs typeface="Arial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C0AD58C-3C5A-1F81-5B74-23297A1BBB5C}"/>
              </a:ext>
            </a:extLst>
          </p:cNvPr>
          <p:cNvSpPr/>
          <p:nvPr/>
        </p:nvSpPr>
        <p:spPr>
          <a:xfrm>
            <a:off x="4475738" y="2795737"/>
            <a:ext cx="1369266" cy="2445652"/>
          </a:xfrm>
          <a:prstGeom prst="rect">
            <a:avLst/>
          </a:prstGeom>
          <a:noFill/>
          <a:ln w="3175" algn="ctr">
            <a:solidFill>
              <a:srgbClr val="ED9D9B"/>
            </a:solidFill>
            <a:prstDash val="solid"/>
            <a:round/>
            <a:headEnd/>
            <a:tailEnd/>
          </a:ln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3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0" cap="none" spc="0" normalizeH="0" baseline="0" noProof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나눔스퀘어"/>
              <a:ea typeface="나눔스퀘어" panose="020B0600000101010101" pitchFamily="50" charset="-127"/>
              <a:cs typeface="Arial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D51CB8-A399-94D7-3C18-598941CEAAE7}"/>
              </a:ext>
            </a:extLst>
          </p:cNvPr>
          <p:cNvSpPr/>
          <p:nvPr/>
        </p:nvSpPr>
        <p:spPr>
          <a:xfrm>
            <a:off x="4942673" y="3472831"/>
            <a:ext cx="954139" cy="4725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en-US" altLang="ko-KR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Rule </a:t>
            </a: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관리</a:t>
            </a:r>
            <a:r>
              <a:rPr lang="en-US" altLang="ko-KR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개선</a:t>
            </a:r>
          </a:p>
          <a:p>
            <a:pPr>
              <a:lnSpc>
                <a:spcPct val="120000"/>
              </a:lnSpc>
            </a:pP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추가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수정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폐지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pic>
        <p:nvPicPr>
          <p:cNvPr id="192" name="그림 191">
            <a:extLst>
              <a:ext uri="{FF2B5EF4-FFF2-40B4-BE49-F238E27FC236}">
                <a16:creationId xmlns:a16="http://schemas.microsoft.com/office/drawing/2014/main" id="{48D57C29-EC63-E2AC-66A2-16F07C8174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5021" y="3847736"/>
            <a:ext cx="473635" cy="430577"/>
          </a:xfrm>
          <a:prstGeom prst="rect">
            <a:avLst/>
          </a:prstGeom>
        </p:spPr>
      </p:pic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B83BC106-0428-A3F5-11BA-12644C8A00A3}"/>
              </a:ext>
            </a:extLst>
          </p:cNvPr>
          <p:cNvSpPr/>
          <p:nvPr/>
        </p:nvSpPr>
        <p:spPr>
          <a:xfrm>
            <a:off x="838763" y="3666032"/>
            <a:ext cx="940649" cy="91724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이상거래 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이력확보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20000"/>
              </a:lnSpc>
            </a:pP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이상거래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제제 정보 등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pic>
        <p:nvPicPr>
          <p:cNvPr id="196" name="그림 195">
            <a:extLst>
              <a:ext uri="{FF2B5EF4-FFF2-40B4-BE49-F238E27FC236}">
                <a16:creationId xmlns:a16="http://schemas.microsoft.com/office/drawing/2014/main" id="{5D9257AD-5651-9357-85B7-EB5A46105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57198" y="4621234"/>
            <a:ext cx="445092" cy="498811"/>
          </a:xfrm>
          <a:prstGeom prst="rect">
            <a:avLst/>
          </a:prstGeom>
        </p:spPr>
      </p:pic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7717A225-1E4E-CEBE-7B8E-9934BFA1FD1A}"/>
              </a:ext>
            </a:extLst>
          </p:cNvPr>
          <p:cNvSpPr/>
          <p:nvPr/>
        </p:nvSpPr>
        <p:spPr>
          <a:xfrm>
            <a:off x="809468" y="4640521"/>
            <a:ext cx="923304" cy="54441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현행 탐지 </a:t>
            </a:r>
            <a:r>
              <a:rPr lang="en-US" altLang="ko-KR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Rule </a:t>
            </a: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확보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01" name="Picture 605">
            <a:extLst>
              <a:ext uri="{FF2B5EF4-FFF2-40B4-BE49-F238E27FC236}">
                <a16:creationId xmlns:a16="http://schemas.microsoft.com/office/drawing/2014/main" id="{B3A3B7EF-DE03-6276-5ECB-D80D86AEA39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0092" y1="47465" x2="40092" y2="47465"/>
                        <a14:foregroundMark x1="64055" y1="39631" x2="64055" y2="39631"/>
                        <a14:foregroundMark x1="31336" y1="29954" x2="66359" y2="29032"/>
                        <a14:foregroundMark x1="33180" y1="24424" x2="59447" y2="27189"/>
                        <a14:foregroundMark x1="59447" y1="27189" x2="79263" y2="44700"/>
                        <a14:foregroundMark x1="79263" y1="44700" x2="70968" y2="67742"/>
                        <a14:foregroundMark x1="70968" y1="67742" x2="44240" y2="67742"/>
                        <a14:foregroundMark x1="44240" y1="67742" x2="26267" y2="42857"/>
                        <a14:foregroundMark x1="26267" y1="42857" x2="38710" y2="27650"/>
                        <a14:foregroundMark x1="38710" y1="27650" x2="49309" y2="29032"/>
                        <a14:foregroundMark x1="38249" y1="36406" x2="50691" y2="43318"/>
                        <a14:foregroundMark x1="50691" y1="43318" x2="64516" y2="47005"/>
                        <a14:foregroundMark x1="54378" y1="35484" x2="56682" y2="67742"/>
                        <a14:foregroundMark x1="56682" y1="67742" x2="56682" y2="67281"/>
                        <a14:foregroundMark x1="43779" y1="44240" x2="48387" y2="58986"/>
                        <a14:foregroundMark x1="44240" y1="47005" x2="41014" y2="71889"/>
                        <a14:foregroundMark x1="29032" y1="50691" x2="27189" y2="73733"/>
                        <a14:foregroundMark x1="23041" y1="51152" x2="26728" y2="66820"/>
                      </a14:backgroundRemoval>
                    </a14:imgEffect>
                  </a14:imgLayer>
                </a14:imgProps>
              </a:ext>
            </a:extLst>
          </a:blip>
          <a:srcRect l="9536" t="9390" r="10519" b="10891"/>
          <a:stretch>
            <a:fillRect/>
          </a:stretch>
        </p:blipFill>
        <p:spPr>
          <a:xfrm>
            <a:off x="1973725" y="4050421"/>
            <a:ext cx="377768" cy="31536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B43A1C73-830F-A652-AFCB-10207719C227}"/>
              </a:ext>
            </a:extLst>
          </p:cNvPr>
          <p:cNvSpPr/>
          <p:nvPr/>
        </p:nvSpPr>
        <p:spPr>
          <a:xfrm>
            <a:off x="1848707" y="2897808"/>
            <a:ext cx="1119452" cy="319316"/>
          </a:xfrm>
          <a:prstGeom prst="rect">
            <a:avLst/>
          </a:prstGeom>
          <a:solidFill>
            <a:srgbClr val="D9D9D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외환 거래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39472FEC-3CB2-B04E-550D-6BD4760EA7D6}"/>
              </a:ext>
            </a:extLst>
          </p:cNvPr>
          <p:cNvCxnSpPr>
            <a:cxnSpLocks/>
          </p:cNvCxnSpPr>
          <p:nvPr/>
        </p:nvCxnSpPr>
        <p:spPr>
          <a:xfrm>
            <a:off x="2306761" y="3217124"/>
            <a:ext cx="0" cy="682745"/>
          </a:xfrm>
          <a:prstGeom prst="straightConnector1">
            <a:avLst/>
          </a:prstGeom>
          <a:ln w="9525">
            <a:solidFill>
              <a:srgbClr val="91929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351C6878-8472-325A-2B3E-A9DD7EC75418}"/>
              </a:ext>
            </a:extLst>
          </p:cNvPr>
          <p:cNvSpPr/>
          <p:nvPr/>
        </p:nvSpPr>
        <p:spPr>
          <a:xfrm>
            <a:off x="2478108" y="3475349"/>
            <a:ext cx="569750" cy="22988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>
              <a:lnSpc>
                <a:spcPct val="120000"/>
              </a:lnSpc>
            </a:pP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탐지 결과</a:t>
            </a:r>
            <a:endParaRPr lang="en-US" altLang="ko-KR" sz="9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A986E767-41CC-97C3-8771-C49E9808F4DD}"/>
              </a:ext>
            </a:extLst>
          </p:cNvPr>
          <p:cNvSpPr/>
          <p:nvPr/>
        </p:nvSpPr>
        <p:spPr>
          <a:xfrm>
            <a:off x="1784827" y="3384539"/>
            <a:ext cx="569750" cy="3410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>
              <a:lnSpc>
                <a:spcPct val="120000"/>
              </a:lnSpc>
            </a:pP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데이터 전송</a:t>
            </a:r>
            <a:endParaRPr lang="en-US" altLang="ko-KR" sz="9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51" name="Group 19">
            <a:extLst>
              <a:ext uri="{FF2B5EF4-FFF2-40B4-BE49-F238E27FC236}">
                <a16:creationId xmlns:a16="http://schemas.microsoft.com/office/drawing/2014/main" id="{815799A4-A21C-FEA3-C362-A0C612703329}"/>
              </a:ext>
            </a:extLst>
          </p:cNvPr>
          <p:cNvGrpSpPr>
            <a:grpSpLocks noChangeAspect="1"/>
          </p:cNvGrpSpPr>
          <p:nvPr/>
        </p:nvGrpSpPr>
        <p:grpSpPr>
          <a:xfrm>
            <a:off x="424050" y="2411619"/>
            <a:ext cx="280800" cy="280800"/>
            <a:chOff x="982662" y="3868738"/>
            <a:chExt cx="269875" cy="269875"/>
          </a:xfrm>
          <a:solidFill>
            <a:srgbClr val="ED9D9B"/>
          </a:solidFill>
        </p:grpSpPr>
        <p:sp>
          <p:nvSpPr>
            <p:cNvPr id="252" name="Oval 16">
              <a:extLst>
                <a:ext uri="{FF2B5EF4-FFF2-40B4-BE49-F238E27FC236}">
                  <a16:creationId xmlns:a16="http://schemas.microsoft.com/office/drawing/2014/main" id="{5248EE22-04B6-1C73-8EAE-900410441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" y="3868738"/>
              <a:ext cx="269875" cy="269875"/>
            </a:xfrm>
            <a:prstGeom prst="ellipse">
              <a:avLst/>
            </a:prstGeom>
            <a:grpFill/>
            <a:ln w="1524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카이겐고딕 KR Medium"/>
                <a:cs typeface="Arial"/>
              </a:endParaRPr>
            </a:p>
          </p:txBody>
        </p:sp>
        <p:sp>
          <p:nvSpPr>
            <p:cNvPr id="253" name="Freeform 17">
              <a:extLst>
                <a:ext uri="{FF2B5EF4-FFF2-40B4-BE49-F238E27FC236}">
                  <a16:creationId xmlns:a16="http://schemas.microsoft.com/office/drawing/2014/main" id="{5E2AF32A-D413-1ABD-8FA5-D58AFCD44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925" y="3938588"/>
              <a:ext cx="133350" cy="128587"/>
            </a:xfrm>
            <a:custGeom>
              <a:avLst/>
              <a:gdLst>
                <a:gd name="T0" fmla="*/ 36 w 84"/>
                <a:gd name="T1" fmla="*/ 67 h 81"/>
                <a:gd name="T2" fmla="*/ 7 w 84"/>
                <a:gd name="T3" fmla="*/ 39 h 81"/>
                <a:gd name="T4" fmla="*/ 0 w 84"/>
                <a:gd name="T5" fmla="*/ 45 h 81"/>
                <a:gd name="T6" fmla="*/ 38 w 84"/>
                <a:gd name="T7" fmla="*/ 81 h 81"/>
                <a:gd name="T8" fmla="*/ 84 w 84"/>
                <a:gd name="T9" fmla="*/ 4 h 81"/>
                <a:gd name="T10" fmla="*/ 76 w 84"/>
                <a:gd name="T11" fmla="*/ 0 h 81"/>
                <a:gd name="T12" fmla="*/ 36 w 84"/>
                <a:gd name="T13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1">
                  <a:moveTo>
                    <a:pt x="36" y="67"/>
                  </a:moveTo>
                  <a:lnTo>
                    <a:pt x="7" y="39"/>
                  </a:lnTo>
                  <a:lnTo>
                    <a:pt x="0" y="45"/>
                  </a:lnTo>
                  <a:lnTo>
                    <a:pt x="38" y="81"/>
                  </a:lnTo>
                  <a:lnTo>
                    <a:pt x="84" y="4"/>
                  </a:lnTo>
                  <a:lnTo>
                    <a:pt x="76" y="0"/>
                  </a:lnTo>
                  <a:lnTo>
                    <a:pt x="36" y="67"/>
                  </a:lnTo>
                  <a:close/>
                </a:path>
              </a:pathLst>
            </a:custGeom>
            <a:grpFill/>
            <a:ln w="1524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카이겐고딕 KR Medium"/>
                <a:cs typeface="Arial"/>
              </a:endParaRPr>
            </a:p>
          </p:txBody>
        </p:sp>
      </p:grp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0EAEC2FC-806F-EA05-A4B0-F2B40ABC6810}"/>
              </a:ext>
            </a:extLst>
          </p:cNvPr>
          <p:cNvSpPr/>
          <p:nvPr/>
        </p:nvSpPr>
        <p:spPr>
          <a:xfrm>
            <a:off x="1827935" y="4547789"/>
            <a:ext cx="1319113" cy="78461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72000" indent="-72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데이터 연계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72000" indent="-72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위험도</a:t>
            </a:r>
            <a:r>
              <a:rPr lang="en-US" altLang="ko-KR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결과 송수신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72000" indent="-72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Rule </a:t>
            </a: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관리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25" name="Freeform 292">
            <a:extLst>
              <a:ext uri="{FF2B5EF4-FFF2-40B4-BE49-F238E27FC236}">
                <a16:creationId xmlns:a16="http://schemas.microsoft.com/office/drawing/2014/main" id="{AEB7AE59-BC47-CE85-B5CA-67F12DE39D2D}"/>
              </a:ext>
            </a:extLst>
          </p:cNvPr>
          <p:cNvSpPr>
            <a:spLocks noEditPoints="1"/>
          </p:cNvSpPr>
          <p:nvPr/>
        </p:nvSpPr>
        <p:spPr bwMode="auto">
          <a:xfrm>
            <a:off x="4581803" y="2409382"/>
            <a:ext cx="233987" cy="258352"/>
          </a:xfrm>
          <a:custGeom>
            <a:avLst/>
            <a:gdLst>
              <a:gd name="T0" fmla="*/ 199 w 235"/>
              <a:gd name="T1" fmla="*/ 66 h 235"/>
              <a:gd name="T2" fmla="*/ 213 w 235"/>
              <a:gd name="T3" fmla="*/ 47 h 235"/>
              <a:gd name="T4" fmla="*/ 188 w 235"/>
              <a:gd name="T5" fmla="*/ 22 h 235"/>
              <a:gd name="T6" fmla="*/ 170 w 235"/>
              <a:gd name="T7" fmla="*/ 36 h 235"/>
              <a:gd name="T8" fmla="*/ 139 w 235"/>
              <a:gd name="T9" fmla="*/ 23 h 235"/>
              <a:gd name="T10" fmla="*/ 135 w 235"/>
              <a:gd name="T11" fmla="*/ 0 h 235"/>
              <a:gd name="T12" fmla="*/ 100 w 235"/>
              <a:gd name="T13" fmla="*/ 0 h 235"/>
              <a:gd name="T14" fmla="*/ 97 w 235"/>
              <a:gd name="T15" fmla="*/ 23 h 235"/>
              <a:gd name="T16" fmla="*/ 66 w 235"/>
              <a:gd name="T17" fmla="*/ 36 h 235"/>
              <a:gd name="T18" fmla="*/ 47 w 235"/>
              <a:gd name="T19" fmla="*/ 22 h 235"/>
              <a:gd name="T20" fmla="*/ 22 w 235"/>
              <a:gd name="T21" fmla="*/ 47 h 235"/>
              <a:gd name="T22" fmla="*/ 36 w 235"/>
              <a:gd name="T23" fmla="*/ 66 h 235"/>
              <a:gd name="T24" fmla="*/ 23 w 235"/>
              <a:gd name="T25" fmla="*/ 97 h 235"/>
              <a:gd name="T26" fmla="*/ 0 w 235"/>
              <a:gd name="T27" fmla="*/ 100 h 235"/>
              <a:gd name="T28" fmla="*/ 0 w 235"/>
              <a:gd name="T29" fmla="*/ 135 h 235"/>
              <a:gd name="T30" fmla="*/ 23 w 235"/>
              <a:gd name="T31" fmla="*/ 139 h 235"/>
              <a:gd name="T32" fmla="*/ 36 w 235"/>
              <a:gd name="T33" fmla="*/ 170 h 235"/>
              <a:gd name="T34" fmla="*/ 22 w 235"/>
              <a:gd name="T35" fmla="*/ 188 h 235"/>
              <a:gd name="T36" fmla="*/ 47 w 235"/>
              <a:gd name="T37" fmla="*/ 213 h 235"/>
              <a:gd name="T38" fmla="*/ 66 w 235"/>
              <a:gd name="T39" fmla="*/ 199 h 235"/>
              <a:gd name="T40" fmla="*/ 97 w 235"/>
              <a:gd name="T41" fmla="*/ 212 h 235"/>
              <a:gd name="T42" fmla="*/ 100 w 235"/>
              <a:gd name="T43" fmla="*/ 235 h 235"/>
              <a:gd name="T44" fmla="*/ 135 w 235"/>
              <a:gd name="T45" fmla="*/ 235 h 235"/>
              <a:gd name="T46" fmla="*/ 139 w 235"/>
              <a:gd name="T47" fmla="*/ 212 h 235"/>
              <a:gd name="T48" fmla="*/ 170 w 235"/>
              <a:gd name="T49" fmla="*/ 199 h 235"/>
              <a:gd name="T50" fmla="*/ 188 w 235"/>
              <a:gd name="T51" fmla="*/ 213 h 235"/>
              <a:gd name="T52" fmla="*/ 213 w 235"/>
              <a:gd name="T53" fmla="*/ 188 h 235"/>
              <a:gd name="T54" fmla="*/ 199 w 235"/>
              <a:gd name="T55" fmla="*/ 170 h 235"/>
              <a:gd name="T56" fmla="*/ 212 w 235"/>
              <a:gd name="T57" fmla="*/ 139 h 235"/>
              <a:gd name="T58" fmla="*/ 235 w 235"/>
              <a:gd name="T59" fmla="*/ 135 h 235"/>
              <a:gd name="T60" fmla="*/ 235 w 235"/>
              <a:gd name="T61" fmla="*/ 100 h 235"/>
              <a:gd name="T62" fmla="*/ 212 w 235"/>
              <a:gd name="T63" fmla="*/ 97 h 235"/>
              <a:gd name="T64" fmla="*/ 199 w 235"/>
              <a:gd name="T65" fmla="*/ 66 h 235"/>
              <a:gd name="T66" fmla="*/ 118 w 235"/>
              <a:gd name="T67" fmla="*/ 167 h 235"/>
              <a:gd name="T68" fmla="*/ 68 w 235"/>
              <a:gd name="T69" fmla="*/ 118 h 235"/>
              <a:gd name="T70" fmla="*/ 118 w 235"/>
              <a:gd name="T71" fmla="*/ 68 h 235"/>
              <a:gd name="T72" fmla="*/ 167 w 235"/>
              <a:gd name="T73" fmla="*/ 118 h 235"/>
              <a:gd name="T74" fmla="*/ 118 w 235"/>
              <a:gd name="T75" fmla="*/ 167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35" h="235">
                <a:moveTo>
                  <a:pt x="199" y="66"/>
                </a:moveTo>
                <a:cubicBezTo>
                  <a:pt x="213" y="47"/>
                  <a:pt x="213" y="47"/>
                  <a:pt x="213" y="47"/>
                </a:cubicBezTo>
                <a:cubicBezTo>
                  <a:pt x="188" y="22"/>
                  <a:pt x="188" y="22"/>
                  <a:pt x="188" y="22"/>
                </a:cubicBezTo>
                <a:cubicBezTo>
                  <a:pt x="170" y="36"/>
                  <a:pt x="170" y="36"/>
                  <a:pt x="170" y="36"/>
                </a:cubicBezTo>
                <a:cubicBezTo>
                  <a:pt x="160" y="30"/>
                  <a:pt x="150" y="26"/>
                  <a:pt x="139" y="23"/>
                </a:cubicBezTo>
                <a:cubicBezTo>
                  <a:pt x="135" y="0"/>
                  <a:pt x="135" y="0"/>
                  <a:pt x="135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97" y="23"/>
                  <a:pt x="97" y="23"/>
                  <a:pt x="97" y="23"/>
                </a:cubicBezTo>
                <a:cubicBezTo>
                  <a:pt x="85" y="26"/>
                  <a:pt x="75" y="30"/>
                  <a:pt x="66" y="36"/>
                </a:cubicBezTo>
                <a:cubicBezTo>
                  <a:pt x="47" y="22"/>
                  <a:pt x="47" y="22"/>
                  <a:pt x="47" y="22"/>
                </a:cubicBezTo>
                <a:cubicBezTo>
                  <a:pt x="22" y="47"/>
                  <a:pt x="22" y="47"/>
                  <a:pt x="22" y="47"/>
                </a:cubicBezTo>
                <a:cubicBezTo>
                  <a:pt x="36" y="66"/>
                  <a:pt x="36" y="66"/>
                  <a:pt x="36" y="66"/>
                </a:cubicBezTo>
                <a:cubicBezTo>
                  <a:pt x="30" y="75"/>
                  <a:pt x="26" y="86"/>
                  <a:pt x="23" y="97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135"/>
                  <a:pt x="0" y="135"/>
                  <a:pt x="0" y="135"/>
                </a:cubicBezTo>
                <a:cubicBezTo>
                  <a:pt x="23" y="139"/>
                  <a:pt x="23" y="139"/>
                  <a:pt x="23" y="139"/>
                </a:cubicBezTo>
                <a:cubicBezTo>
                  <a:pt x="26" y="150"/>
                  <a:pt x="30" y="160"/>
                  <a:pt x="36" y="170"/>
                </a:cubicBezTo>
                <a:cubicBezTo>
                  <a:pt x="22" y="188"/>
                  <a:pt x="22" y="188"/>
                  <a:pt x="22" y="188"/>
                </a:cubicBezTo>
                <a:cubicBezTo>
                  <a:pt x="47" y="213"/>
                  <a:pt x="47" y="213"/>
                  <a:pt x="47" y="213"/>
                </a:cubicBezTo>
                <a:cubicBezTo>
                  <a:pt x="66" y="199"/>
                  <a:pt x="66" y="199"/>
                  <a:pt x="66" y="199"/>
                </a:cubicBezTo>
                <a:cubicBezTo>
                  <a:pt x="75" y="205"/>
                  <a:pt x="85" y="210"/>
                  <a:pt x="97" y="212"/>
                </a:cubicBezTo>
                <a:cubicBezTo>
                  <a:pt x="100" y="235"/>
                  <a:pt x="100" y="235"/>
                  <a:pt x="100" y="235"/>
                </a:cubicBezTo>
                <a:cubicBezTo>
                  <a:pt x="135" y="235"/>
                  <a:pt x="135" y="235"/>
                  <a:pt x="135" y="235"/>
                </a:cubicBezTo>
                <a:cubicBezTo>
                  <a:pt x="139" y="212"/>
                  <a:pt x="139" y="212"/>
                  <a:pt x="139" y="212"/>
                </a:cubicBezTo>
                <a:cubicBezTo>
                  <a:pt x="150" y="210"/>
                  <a:pt x="160" y="205"/>
                  <a:pt x="170" y="199"/>
                </a:cubicBezTo>
                <a:cubicBezTo>
                  <a:pt x="188" y="213"/>
                  <a:pt x="188" y="213"/>
                  <a:pt x="188" y="213"/>
                </a:cubicBezTo>
                <a:cubicBezTo>
                  <a:pt x="213" y="188"/>
                  <a:pt x="213" y="188"/>
                  <a:pt x="213" y="188"/>
                </a:cubicBezTo>
                <a:cubicBezTo>
                  <a:pt x="199" y="170"/>
                  <a:pt x="199" y="170"/>
                  <a:pt x="199" y="170"/>
                </a:cubicBezTo>
                <a:cubicBezTo>
                  <a:pt x="205" y="160"/>
                  <a:pt x="210" y="150"/>
                  <a:pt x="212" y="139"/>
                </a:cubicBezTo>
                <a:cubicBezTo>
                  <a:pt x="235" y="135"/>
                  <a:pt x="235" y="135"/>
                  <a:pt x="235" y="135"/>
                </a:cubicBezTo>
                <a:cubicBezTo>
                  <a:pt x="235" y="100"/>
                  <a:pt x="235" y="100"/>
                  <a:pt x="235" y="100"/>
                </a:cubicBezTo>
                <a:cubicBezTo>
                  <a:pt x="212" y="97"/>
                  <a:pt x="212" y="97"/>
                  <a:pt x="212" y="97"/>
                </a:cubicBezTo>
                <a:cubicBezTo>
                  <a:pt x="210" y="86"/>
                  <a:pt x="205" y="75"/>
                  <a:pt x="199" y="66"/>
                </a:cubicBezTo>
                <a:close/>
                <a:moveTo>
                  <a:pt x="118" y="167"/>
                </a:moveTo>
                <a:cubicBezTo>
                  <a:pt x="90" y="167"/>
                  <a:pt x="68" y="145"/>
                  <a:pt x="68" y="118"/>
                </a:cubicBezTo>
                <a:cubicBezTo>
                  <a:pt x="68" y="90"/>
                  <a:pt x="90" y="68"/>
                  <a:pt x="118" y="68"/>
                </a:cubicBezTo>
                <a:cubicBezTo>
                  <a:pt x="145" y="68"/>
                  <a:pt x="167" y="90"/>
                  <a:pt x="167" y="118"/>
                </a:cubicBezTo>
                <a:cubicBezTo>
                  <a:pt x="167" y="145"/>
                  <a:pt x="145" y="167"/>
                  <a:pt x="118" y="167"/>
                </a:cubicBezTo>
                <a:close/>
              </a:path>
            </a:pathLst>
          </a:cu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28" name="그룹 831">
            <a:extLst>
              <a:ext uri="{FF2B5EF4-FFF2-40B4-BE49-F238E27FC236}">
                <a16:creationId xmlns:a16="http://schemas.microsoft.com/office/drawing/2014/main" id="{B13EAB62-67D3-62AE-0D12-14DF09FBBDC9}"/>
              </a:ext>
            </a:extLst>
          </p:cNvPr>
          <p:cNvGrpSpPr/>
          <p:nvPr/>
        </p:nvGrpSpPr>
        <p:grpSpPr>
          <a:xfrm>
            <a:off x="3236351" y="2424548"/>
            <a:ext cx="278138" cy="214405"/>
            <a:chOff x="3038475" y="4322763"/>
            <a:chExt cx="528638" cy="431801"/>
          </a:xfrm>
          <a:solidFill>
            <a:schemeClr val="bg1"/>
          </a:solidFill>
        </p:grpSpPr>
        <p:sp>
          <p:nvSpPr>
            <p:cNvPr id="329" name="Freeform 27">
              <a:extLst>
                <a:ext uri="{FF2B5EF4-FFF2-40B4-BE49-F238E27FC236}">
                  <a16:creationId xmlns:a16="http://schemas.microsoft.com/office/drawing/2014/main" id="{A272319D-1544-62FB-5B9F-80F5D09E7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200" y="4394201"/>
              <a:ext cx="150813" cy="165100"/>
            </a:xfrm>
            <a:custGeom>
              <a:avLst/>
              <a:gdLst>
                <a:gd name="T0" fmla="*/ 40 w 40"/>
                <a:gd name="T1" fmla="*/ 20 h 44"/>
                <a:gd name="T2" fmla="*/ 20 w 40"/>
                <a:gd name="T3" fmla="*/ 0 h 44"/>
                <a:gd name="T4" fmla="*/ 0 w 40"/>
                <a:gd name="T5" fmla="*/ 20 h 44"/>
                <a:gd name="T6" fmla="*/ 0 w 40"/>
                <a:gd name="T7" fmla="*/ 22 h 44"/>
                <a:gd name="T8" fmla="*/ 0 w 40"/>
                <a:gd name="T9" fmla="*/ 22 h 44"/>
                <a:gd name="T10" fmla="*/ 0 w 40"/>
                <a:gd name="T11" fmla="*/ 22 h 44"/>
                <a:gd name="T12" fmla="*/ 0 w 40"/>
                <a:gd name="T13" fmla="*/ 24 h 44"/>
                <a:gd name="T14" fmla="*/ 20 w 40"/>
                <a:gd name="T15" fmla="*/ 44 h 44"/>
                <a:gd name="T16" fmla="*/ 40 w 40"/>
                <a:gd name="T17" fmla="*/ 24 h 44"/>
                <a:gd name="T18" fmla="*/ 40 w 40"/>
                <a:gd name="T19" fmla="*/ 24 h 44"/>
                <a:gd name="T20" fmla="*/ 40 w 40"/>
                <a:gd name="T21" fmla="*/ 23 h 44"/>
                <a:gd name="T22" fmla="*/ 40 w 40"/>
                <a:gd name="T23" fmla="*/ 23 h 44"/>
                <a:gd name="T24" fmla="*/ 40 w 40"/>
                <a:gd name="T25" fmla="*/ 2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" h="44">
                  <a:moveTo>
                    <a:pt x="40" y="20"/>
                  </a:moveTo>
                  <a:cubicBezTo>
                    <a:pt x="40" y="9"/>
                    <a:pt x="31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35"/>
                    <a:pt x="9" y="44"/>
                    <a:pt x="20" y="44"/>
                  </a:cubicBezTo>
                  <a:cubicBezTo>
                    <a:pt x="31" y="44"/>
                    <a:pt x="40" y="35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lnTo>
                    <a:pt x="40" y="20"/>
                  </a:lnTo>
                  <a:close/>
                </a:path>
              </a:pathLst>
            </a:custGeom>
            <a:grpFill/>
            <a:ln w="31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30" name="Freeform 28">
              <a:extLst>
                <a:ext uri="{FF2B5EF4-FFF2-40B4-BE49-F238E27FC236}">
                  <a16:creationId xmlns:a16="http://schemas.microsoft.com/office/drawing/2014/main" id="{B3B15281-2F1D-96D6-81AE-21389137E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563" y="4322763"/>
              <a:ext cx="138113" cy="150813"/>
            </a:xfrm>
            <a:custGeom>
              <a:avLst/>
              <a:gdLst>
                <a:gd name="T0" fmla="*/ 37 w 37"/>
                <a:gd name="T1" fmla="*/ 18 h 40"/>
                <a:gd name="T2" fmla="*/ 18 w 37"/>
                <a:gd name="T3" fmla="*/ 0 h 40"/>
                <a:gd name="T4" fmla="*/ 0 w 37"/>
                <a:gd name="T5" fmla="*/ 18 h 40"/>
                <a:gd name="T6" fmla="*/ 0 w 37"/>
                <a:gd name="T7" fmla="*/ 20 h 40"/>
                <a:gd name="T8" fmla="*/ 0 w 37"/>
                <a:gd name="T9" fmla="*/ 20 h 40"/>
                <a:gd name="T10" fmla="*/ 0 w 37"/>
                <a:gd name="T11" fmla="*/ 20 h 40"/>
                <a:gd name="T12" fmla="*/ 0 w 37"/>
                <a:gd name="T13" fmla="*/ 22 h 40"/>
                <a:gd name="T14" fmla="*/ 18 w 37"/>
                <a:gd name="T15" fmla="*/ 40 h 40"/>
                <a:gd name="T16" fmla="*/ 37 w 37"/>
                <a:gd name="T17" fmla="*/ 22 h 40"/>
                <a:gd name="T18" fmla="*/ 37 w 37"/>
                <a:gd name="T19" fmla="*/ 21 h 40"/>
                <a:gd name="T20" fmla="*/ 37 w 37"/>
                <a:gd name="T21" fmla="*/ 21 h 40"/>
                <a:gd name="T22" fmla="*/ 37 w 37"/>
                <a:gd name="T23" fmla="*/ 21 h 40"/>
                <a:gd name="T24" fmla="*/ 37 w 37"/>
                <a:gd name="T25" fmla="*/ 1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" h="40">
                  <a:moveTo>
                    <a:pt x="37" y="18"/>
                  </a:moveTo>
                  <a:cubicBezTo>
                    <a:pt x="37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2"/>
                    <a:pt x="8" y="40"/>
                    <a:pt x="18" y="40"/>
                  </a:cubicBezTo>
                  <a:cubicBezTo>
                    <a:pt x="28" y="40"/>
                    <a:pt x="37" y="32"/>
                    <a:pt x="37" y="22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7" y="21"/>
                    <a:pt x="37" y="21"/>
                    <a:pt x="37" y="21"/>
                  </a:cubicBezTo>
                  <a:lnTo>
                    <a:pt x="37" y="18"/>
                  </a:lnTo>
                  <a:close/>
                </a:path>
              </a:pathLst>
            </a:custGeom>
            <a:grpFill/>
            <a:ln w="31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31" name="Freeform 34">
              <a:extLst>
                <a:ext uri="{FF2B5EF4-FFF2-40B4-BE49-F238E27FC236}">
                  <a16:creationId xmlns:a16="http://schemas.microsoft.com/office/drawing/2014/main" id="{2C868574-1863-E99B-937E-252996141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475" y="4556126"/>
              <a:ext cx="322263" cy="198438"/>
            </a:xfrm>
            <a:custGeom>
              <a:avLst/>
              <a:gdLst>
                <a:gd name="T0" fmla="*/ 60 w 86"/>
                <a:gd name="T1" fmla="*/ 0 h 53"/>
                <a:gd name="T2" fmla="*/ 43 w 86"/>
                <a:gd name="T3" fmla="*/ 7 h 53"/>
                <a:gd name="T4" fmla="*/ 27 w 86"/>
                <a:gd name="T5" fmla="*/ 0 h 53"/>
                <a:gd name="T6" fmla="*/ 0 w 86"/>
                <a:gd name="T7" fmla="*/ 36 h 53"/>
                <a:gd name="T8" fmla="*/ 0 w 86"/>
                <a:gd name="T9" fmla="*/ 50 h 53"/>
                <a:gd name="T10" fmla="*/ 4 w 86"/>
                <a:gd name="T11" fmla="*/ 53 h 53"/>
                <a:gd name="T12" fmla="*/ 82 w 86"/>
                <a:gd name="T13" fmla="*/ 53 h 53"/>
                <a:gd name="T14" fmla="*/ 86 w 86"/>
                <a:gd name="T15" fmla="*/ 50 h 53"/>
                <a:gd name="T16" fmla="*/ 86 w 86"/>
                <a:gd name="T17" fmla="*/ 36 h 53"/>
                <a:gd name="T18" fmla="*/ 60 w 86"/>
                <a:gd name="T19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53">
                  <a:moveTo>
                    <a:pt x="60" y="0"/>
                  </a:moveTo>
                  <a:cubicBezTo>
                    <a:pt x="55" y="4"/>
                    <a:pt x="49" y="7"/>
                    <a:pt x="43" y="7"/>
                  </a:cubicBezTo>
                  <a:cubicBezTo>
                    <a:pt x="37" y="7"/>
                    <a:pt x="31" y="4"/>
                    <a:pt x="27" y="0"/>
                  </a:cubicBezTo>
                  <a:cubicBezTo>
                    <a:pt x="10" y="6"/>
                    <a:pt x="0" y="19"/>
                    <a:pt x="0" y="36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2"/>
                    <a:pt x="2" y="53"/>
                    <a:pt x="4" y="53"/>
                  </a:cubicBezTo>
                  <a:cubicBezTo>
                    <a:pt x="82" y="53"/>
                    <a:pt x="82" y="53"/>
                    <a:pt x="82" y="53"/>
                  </a:cubicBezTo>
                  <a:cubicBezTo>
                    <a:pt x="84" y="53"/>
                    <a:pt x="86" y="52"/>
                    <a:pt x="86" y="50"/>
                  </a:cubicBezTo>
                  <a:cubicBezTo>
                    <a:pt x="86" y="36"/>
                    <a:pt x="86" y="36"/>
                    <a:pt x="86" y="36"/>
                  </a:cubicBezTo>
                  <a:cubicBezTo>
                    <a:pt x="86" y="19"/>
                    <a:pt x="76" y="6"/>
                    <a:pt x="60" y="0"/>
                  </a:cubicBezTo>
                  <a:close/>
                </a:path>
              </a:pathLst>
            </a:custGeom>
            <a:grpFill/>
            <a:ln w="31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32" name="Freeform 38">
              <a:extLst>
                <a:ext uri="{FF2B5EF4-FFF2-40B4-BE49-F238E27FC236}">
                  <a16:creationId xmlns:a16="http://schemas.microsoft.com/office/drawing/2014/main" id="{093CEAE3-A24C-39F6-DCB9-3A292E1A0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063" y="4476751"/>
              <a:ext cx="273050" cy="176213"/>
            </a:xfrm>
            <a:custGeom>
              <a:avLst/>
              <a:gdLst>
                <a:gd name="T0" fmla="*/ 48 w 73"/>
                <a:gd name="T1" fmla="*/ 0 h 47"/>
                <a:gd name="T2" fmla="*/ 45 w 73"/>
                <a:gd name="T3" fmla="*/ 1 h 47"/>
                <a:gd name="T4" fmla="*/ 35 w 73"/>
                <a:gd name="T5" fmla="*/ 13 h 47"/>
                <a:gd name="T6" fmla="*/ 26 w 73"/>
                <a:gd name="T7" fmla="*/ 1 h 47"/>
                <a:gd name="T8" fmla="*/ 23 w 73"/>
                <a:gd name="T9" fmla="*/ 0 h 47"/>
                <a:gd name="T10" fmla="*/ 0 w 73"/>
                <a:gd name="T11" fmla="*/ 20 h 47"/>
                <a:gd name="T12" fmla="*/ 21 w 73"/>
                <a:gd name="T13" fmla="*/ 47 h 47"/>
                <a:gd name="T14" fmla="*/ 29 w 73"/>
                <a:gd name="T15" fmla="*/ 47 h 47"/>
                <a:gd name="T16" fmla="*/ 31 w 73"/>
                <a:gd name="T17" fmla="*/ 35 h 47"/>
                <a:gd name="T18" fmla="*/ 32 w 73"/>
                <a:gd name="T19" fmla="*/ 34 h 47"/>
                <a:gd name="T20" fmla="*/ 28 w 73"/>
                <a:gd name="T21" fmla="*/ 30 h 47"/>
                <a:gd name="T22" fmla="*/ 28 w 73"/>
                <a:gd name="T23" fmla="*/ 27 h 47"/>
                <a:gd name="T24" fmla="*/ 34 w 73"/>
                <a:gd name="T25" fmla="*/ 19 h 47"/>
                <a:gd name="T26" fmla="*/ 38 w 73"/>
                <a:gd name="T27" fmla="*/ 19 h 47"/>
                <a:gd name="T28" fmla="*/ 44 w 73"/>
                <a:gd name="T29" fmla="*/ 27 h 47"/>
                <a:gd name="T30" fmla="*/ 44 w 73"/>
                <a:gd name="T31" fmla="*/ 30 h 47"/>
                <a:gd name="T32" fmla="*/ 40 w 73"/>
                <a:gd name="T33" fmla="*/ 34 h 47"/>
                <a:gd name="T34" fmla="*/ 41 w 73"/>
                <a:gd name="T35" fmla="*/ 35 h 47"/>
                <a:gd name="T36" fmla="*/ 43 w 73"/>
                <a:gd name="T37" fmla="*/ 47 h 47"/>
                <a:gd name="T38" fmla="*/ 70 w 73"/>
                <a:gd name="T39" fmla="*/ 47 h 47"/>
                <a:gd name="T40" fmla="*/ 73 w 73"/>
                <a:gd name="T41" fmla="*/ 44 h 47"/>
                <a:gd name="T42" fmla="*/ 73 w 73"/>
                <a:gd name="T43" fmla="*/ 32 h 47"/>
                <a:gd name="T44" fmla="*/ 48 w 73"/>
                <a:gd name="T4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73" h="47">
                  <a:moveTo>
                    <a:pt x="48" y="0"/>
                  </a:moveTo>
                  <a:cubicBezTo>
                    <a:pt x="47" y="0"/>
                    <a:pt x="46" y="1"/>
                    <a:pt x="45" y="1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5" y="1"/>
                    <a:pt x="24" y="0"/>
                    <a:pt x="23" y="0"/>
                  </a:cubicBezTo>
                  <a:cubicBezTo>
                    <a:pt x="11" y="4"/>
                    <a:pt x="3" y="11"/>
                    <a:pt x="0" y="20"/>
                  </a:cubicBezTo>
                  <a:cubicBezTo>
                    <a:pt x="11" y="26"/>
                    <a:pt x="18" y="35"/>
                    <a:pt x="21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28" y="30"/>
                    <a:pt x="28" y="30"/>
                    <a:pt x="28" y="30"/>
                  </a:cubicBezTo>
                  <a:cubicBezTo>
                    <a:pt x="27" y="29"/>
                    <a:pt x="27" y="28"/>
                    <a:pt x="28" y="27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8"/>
                    <a:pt x="37" y="18"/>
                    <a:pt x="38" y="19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4" y="28"/>
                    <a:pt x="44" y="29"/>
                    <a:pt x="44" y="30"/>
                  </a:cubicBezTo>
                  <a:cubicBezTo>
                    <a:pt x="40" y="34"/>
                    <a:pt x="40" y="34"/>
                    <a:pt x="40" y="34"/>
                  </a:cubicBezTo>
                  <a:cubicBezTo>
                    <a:pt x="40" y="34"/>
                    <a:pt x="41" y="35"/>
                    <a:pt x="41" y="35"/>
                  </a:cubicBezTo>
                  <a:cubicBezTo>
                    <a:pt x="43" y="47"/>
                    <a:pt x="43" y="47"/>
                    <a:pt x="43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2" y="47"/>
                    <a:pt x="73" y="46"/>
                    <a:pt x="73" y="44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3" y="16"/>
                    <a:pt x="64" y="5"/>
                    <a:pt x="48" y="0"/>
                  </a:cubicBezTo>
                  <a:close/>
                </a:path>
              </a:pathLst>
            </a:custGeom>
            <a:grpFill/>
            <a:ln w="317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pic>
        <p:nvPicPr>
          <p:cNvPr id="336" name="그림 335">
            <a:extLst>
              <a:ext uri="{FF2B5EF4-FFF2-40B4-BE49-F238E27FC236}">
                <a16:creationId xmlns:a16="http://schemas.microsoft.com/office/drawing/2014/main" id="{79DDD3CD-F4A2-EB35-DF1C-EDC4ED19FC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793419" y="2383756"/>
            <a:ext cx="304876" cy="331224"/>
          </a:xfrm>
          <a:prstGeom prst="rect">
            <a:avLst/>
          </a:prstGeom>
        </p:spPr>
      </p:pic>
      <p:cxnSp>
        <p:nvCxnSpPr>
          <p:cNvPr id="338" name="직선 화살표 연결선 337">
            <a:extLst>
              <a:ext uri="{FF2B5EF4-FFF2-40B4-BE49-F238E27FC236}">
                <a16:creationId xmlns:a16="http://schemas.microsoft.com/office/drawing/2014/main" id="{D3F5DA40-7AB1-0FB1-5999-FBF53AEAB675}"/>
              </a:ext>
            </a:extLst>
          </p:cNvPr>
          <p:cNvCxnSpPr>
            <a:cxnSpLocks/>
          </p:cNvCxnSpPr>
          <p:nvPr/>
        </p:nvCxnSpPr>
        <p:spPr>
          <a:xfrm flipH="1" flipV="1">
            <a:off x="2444483" y="3222729"/>
            <a:ext cx="6306" cy="645598"/>
          </a:xfrm>
          <a:prstGeom prst="straightConnector1">
            <a:avLst/>
          </a:prstGeom>
          <a:ln w="9525">
            <a:solidFill>
              <a:srgbClr val="D8192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직사각형 345">
            <a:extLst>
              <a:ext uri="{FF2B5EF4-FFF2-40B4-BE49-F238E27FC236}">
                <a16:creationId xmlns:a16="http://schemas.microsoft.com/office/drawing/2014/main" id="{AD2808FE-D564-9294-9DA4-3C1C9DD9A342}"/>
              </a:ext>
            </a:extLst>
          </p:cNvPr>
          <p:cNvSpPr/>
          <p:nvPr/>
        </p:nvSpPr>
        <p:spPr>
          <a:xfrm>
            <a:off x="3727377" y="2857111"/>
            <a:ext cx="775314" cy="46111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실시간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모니터링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48" name="직사각형 347">
            <a:extLst>
              <a:ext uri="{FF2B5EF4-FFF2-40B4-BE49-F238E27FC236}">
                <a16:creationId xmlns:a16="http://schemas.microsoft.com/office/drawing/2014/main" id="{3280889C-BB3F-18BF-4BA1-09A4216BFDD1}"/>
              </a:ext>
            </a:extLst>
          </p:cNvPr>
          <p:cNvSpPr/>
          <p:nvPr/>
        </p:nvSpPr>
        <p:spPr>
          <a:xfrm>
            <a:off x="3718280" y="3447871"/>
            <a:ext cx="775314" cy="46976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이상거래 알림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E2C602FC-2954-B04F-22D6-4B66D7888D01}"/>
              </a:ext>
            </a:extLst>
          </p:cNvPr>
          <p:cNvSpPr/>
          <p:nvPr/>
        </p:nvSpPr>
        <p:spPr>
          <a:xfrm>
            <a:off x="3685323" y="4117103"/>
            <a:ext cx="852606" cy="36564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담당자 검토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63B85235-CB6E-17EE-210F-34C33639A625}"/>
              </a:ext>
            </a:extLst>
          </p:cNvPr>
          <p:cNvSpPr/>
          <p:nvPr/>
        </p:nvSpPr>
        <p:spPr>
          <a:xfrm>
            <a:off x="3671395" y="4674678"/>
            <a:ext cx="775314" cy="46976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조치 및 결과 관리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54" name="그림 353">
            <a:extLst>
              <a:ext uri="{FF2B5EF4-FFF2-40B4-BE49-F238E27FC236}">
                <a16:creationId xmlns:a16="http://schemas.microsoft.com/office/drawing/2014/main" id="{E57606D8-66B5-1B55-F54A-C98BAB1183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182783" y="2883756"/>
            <a:ext cx="451367" cy="483608"/>
          </a:xfrm>
          <a:prstGeom prst="rect">
            <a:avLst/>
          </a:prstGeom>
        </p:spPr>
      </p:pic>
      <p:pic>
        <p:nvPicPr>
          <p:cNvPr id="356" name="그림 355">
            <a:extLst>
              <a:ext uri="{FF2B5EF4-FFF2-40B4-BE49-F238E27FC236}">
                <a16:creationId xmlns:a16="http://schemas.microsoft.com/office/drawing/2014/main" id="{42C16ED1-2965-AB28-D0F9-9C860E11EC8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46161" y="3482033"/>
            <a:ext cx="517540" cy="421135"/>
          </a:xfrm>
          <a:prstGeom prst="rect">
            <a:avLst/>
          </a:prstGeom>
        </p:spPr>
      </p:pic>
      <p:grpSp>
        <p:nvGrpSpPr>
          <p:cNvPr id="358" name="Group 18">
            <a:extLst>
              <a:ext uri="{FF2B5EF4-FFF2-40B4-BE49-F238E27FC236}">
                <a16:creationId xmlns:a16="http://schemas.microsoft.com/office/drawing/2014/main" id="{FA7612CC-6AFD-C4BA-2F55-F65974166104}"/>
              </a:ext>
            </a:extLst>
          </p:cNvPr>
          <p:cNvGrpSpPr/>
          <p:nvPr/>
        </p:nvGrpSpPr>
        <p:grpSpPr>
          <a:xfrm>
            <a:off x="3186255" y="4037799"/>
            <a:ext cx="440566" cy="528845"/>
            <a:chOff x="8256738" y="2248692"/>
            <a:chExt cx="530178" cy="666769"/>
          </a:xfrm>
        </p:grpSpPr>
        <p:sp>
          <p:nvSpPr>
            <p:cNvPr id="360" name="Freeform 21">
              <a:extLst>
                <a:ext uri="{FF2B5EF4-FFF2-40B4-BE49-F238E27FC236}">
                  <a16:creationId xmlns:a16="http://schemas.microsoft.com/office/drawing/2014/main" id="{70141F6E-9895-7569-C18E-A6401E79C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6768" y="2546472"/>
              <a:ext cx="64088" cy="100986"/>
            </a:xfrm>
            <a:custGeom>
              <a:avLst/>
              <a:gdLst>
                <a:gd name="T0" fmla="*/ 0 w 42"/>
                <a:gd name="T1" fmla="*/ 2 h 66"/>
                <a:gd name="T2" fmla="*/ 5 w 42"/>
                <a:gd name="T3" fmla="*/ 66 h 66"/>
                <a:gd name="T4" fmla="*/ 42 w 42"/>
                <a:gd name="T5" fmla="*/ 44 h 66"/>
                <a:gd name="T6" fmla="*/ 3 w 42"/>
                <a:gd name="T7" fmla="*/ 0 h 66"/>
                <a:gd name="T8" fmla="*/ 0 w 42"/>
                <a:gd name="T9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66">
                  <a:moveTo>
                    <a:pt x="0" y="2"/>
                  </a:moveTo>
                  <a:cubicBezTo>
                    <a:pt x="0" y="10"/>
                    <a:pt x="2" y="35"/>
                    <a:pt x="5" y="66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3" y="0"/>
                    <a:pt x="3" y="0"/>
                    <a:pt x="3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61" name="Freeform 22">
              <a:extLst>
                <a:ext uri="{FF2B5EF4-FFF2-40B4-BE49-F238E27FC236}">
                  <a16:creationId xmlns:a16="http://schemas.microsoft.com/office/drawing/2014/main" id="{522CB3CC-7651-3549-F820-799D9F85F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0856" y="2546472"/>
              <a:ext cx="66030" cy="100986"/>
            </a:xfrm>
            <a:custGeom>
              <a:avLst/>
              <a:gdLst>
                <a:gd name="T0" fmla="*/ 43 w 43"/>
                <a:gd name="T1" fmla="*/ 2 h 66"/>
                <a:gd name="T2" fmla="*/ 37 w 43"/>
                <a:gd name="T3" fmla="*/ 66 h 66"/>
                <a:gd name="T4" fmla="*/ 0 w 43"/>
                <a:gd name="T5" fmla="*/ 44 h 66"/>
                <a:gd name="T6" fmla="*/ 40 w 43"/>
                <a:gd name="T7" fmla="*/ 0 h 66"/>
                <a:gd name="T8" fmla="*/ 43 w 43"/>
                <a:gd name="T9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66">
                  <a:moveTo>
                    <a:pt x="43" y="2"/>
                  </a:moveTo>
                  <a:cubicBezTo>
                    <a:pt x="43" y="10"/>
                    <a:pt x="41" y="35"/>
                    <a:pt x="37" y="66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40" y="0"/>
                    <a:pt x="40" y="0"/>
                    <a:pt x="40" y="0"/>
                  </a:cubicBezTo>
                  <a:lnTo>
                    <a:pt x="43" y="2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62" name="Freeform 23">
              <a:extLst>
                <a:ext uri="{FF2B5EF4-FFF2-40B4-BE49-F238E27FC236}">
                  <a16:creationId xmlns:a16="http://schemas.microsoft.com/office/drawing/2014/main" id="{F0CA77C9-E593-6E50-94BC-E3CE8F37D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1300" y="2499216"/>
              <a:ext cx="121054" cy="114581"/>
            </a:xfrm>
            <a:custGeom>
              <a:avLst/>
              <a:gdLst>
                <a:gd name="T0" fmla="*/ 92 w 187"/>
                <a:gd name="T1" fmla="*/ 0 h 177"/>
                <a:gd name="T2" fmla="*/ 0 w 187"/>
                <a:gd name="T3" fmla="*/ 0 h 177"/>
                <a:gd name="T4" fmla="*/ 0 w 187"/>
                <a:gd name="T5" fmla="*/ 73 h 177"/>
                <a:gd name="T6" fmla="*/ 92 w 187"/>
                <a:gd name="T7" fmla="*/ 177 h 177"/>
                <a:gd name="T8" fmla="*/ 187 w 187"/>
                <a:gd name="T9" fmla="*/ 73 h 177"/>
                <a:gd name="T10" fmla="*/ 187 w 187"/>
                <a:gd name="T11" fmla="*/ 0 h 177"/>
                <a:gd name="T12" fmla="*/ 92 w 187"/>
                <a:gd name="T1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7" h="177">
                  <a:moveTo>
                    <a:pt x="92" y="0"/>
                  </a:moveTo>
                  <a:lnTo>
                    <a:pt x="0" y="0"/>
                  </a:lnTo>
                  <a:lnTo>
                    <a:pt x="0" y="73"/>
                  </a:lnTo>
                  <a:lnTo>
                    <a:pt x="92" y="177"/>
                  </a:lnTo>
                  <a:lnTo>
                    <a:pt x="187" y="73"/>
                  </a:lnTo>
                  <a:lnTo>
                    <a:pt x="187" y="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E0AC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63" name="Freeform 24">
              <a:extLst>
                <a:ext uri="{FF2B5EF4-FFF2-40B4-BE49-F238E27FC236}">
                  <a16:creationId xmlns:a16="http://schemas.microsoft.com/office/drawing/2014/main" id="{727AA135-C89F-D53F-7C59-F630C4288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6738" y="2571072"/>
              <a:ext cx="238224" cy="258292"/>
            </a:xfrm>
            <a:custGeom>
              <a:avLst/>
              <a:gdLst>
                <a:gd name="T0" fmla="*/ 105 w 156"/>
                <a:gd name="T1" fmla="*/ 55 h 169"/>
                <a:gd name="T2" fmla="*/ 120 w 156"/>
                <a:gd name="T3" fmla="*/ 50 h 169"/>
                <a:gd name="T4" fmla="*/ 103 w 156"/>
                <a:gd name="T5" fmla="*/ 45 h 169"/>
                <a:gd name="T6" fmla="*/ 97 w 156"/>
                <a:gd name="T7" fmla="*/ 0 h 169"/>
                <a:gd name="T8" fmla="*/ 79 w 156"/>
                <a:gd name="T9" fmla="*/ 7 h 169"/>
                <a:gd name="T10" fmla="*/ 66 w 156"/>
                <a:gd name="T11" fmla="*/ 13 h 169"/>
                <a:gd name="T12" fmla="*/ 32 w 156"/>
                <a:gd name="T13" fmla="*/ 43 h 169"/>
                <a:gd name="T14" fmla="*/ 0 w 156"/>
                <a:gd name="T15" fmla="*/ 169 h 169"/>
                <a:gd name="T16" fmla="*/ 56 w 156"/>
                <a:gd name="T17" fmla="*/ 169 h 169"/>
                <a:gd name="T18" fmla="*/ 56 w 156"/>
                <a:gd name="T19" fmla="*/ 169 h 169"/>
                <a:gd name="T20" fmla="*/ 117 w 156"/>
                <a:gd name="T21" fmla="*/ 169 h 169"/>
                <a:gd name="T22" fmla="*/ 156 w 156"/>
                <a:gd name="T23" fmla="*/ 169 h 169"/>
                <a:gd name="T24" fmla="*/ 105 w 156"/>
                <a:gd name="T25" fmla="*/ 55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6" h="169">
                  <a:moveTo>
                    <a:pt x="105" y="55"/>
                  </a:moveTo>
                  <a:cubicBezTo>
                    <a:pt x="120" y="50"/>
                    <a:pt x="120" y="50"/>
                    <a:pt x="120" y="50"/>
                  </a:cubicBezTo>
                  <a:cubicBezTo>
                    <a:pt x="103" y="45"/>
                    <a:pt x="103" y="45"/>
                    <a:pt x="103" y="45"/>
                  </a:cubicBezTo>
                  <a:cubicBezTo>
                    <a:pt x="100" y="26"/>
                    <a:pt x="98" y="11"/>
                    <a:pt x="97" y="0"/>
                  </a:cubicBezTo>
                  <a:cubicBezTo>
                    <a:pt x="79" y="7"/>
                    <a:pt x="79" y="7"/>
                    <a:pt x="79" y="7"/>
                  </a:cubicBezTo>
                  <a:cubicBezTo>
                    <a:pt x="75" y="10"/>
                    <a:pt x="70" y="11"/>
                    <a:pt x="66" y="13"/>
                  </a:cubicBezTo>
                  <a:cubicBezTo>
                    <a:pt x="51" y="20"/>
                    <a:pt x="40" y="28"/>
                    <a:pt x="32" y="43"/>
                  </a:cubicBezTo>
                  <a:cubicBezTo>
                    <a:pt x="21" y="68"/>
                    <a:pt x="6" y="127"/>
                    <a:pt x="0" y="169"/>
                  </a:cubicBezTo>
                  <a:cubicBezTo>
                    <a:pt x="56" y="169"/>
                    <a:pt x="56" y="169"/>
                    <a:pt x="56" y="169"/>
                  </a:cubicBezTo>
                  <a:cubicBezTo>
                    <a:pt x="56" y="169"/>
                    <a:pt x="56" y="169"/>
                    <a:pt x="56" y="169"/>
                  </a:cubicBezTo>
                  <a:cubicBezTo>
                    <a:pt x="117" y="169"/>
                    <a:pt x="117" y="169"/>
                    <a:pt x="117" y="169"/>
                  </a:cubicBezTo>
                  <a:cubicBezTo>
                    <a:pt x="156" y="169"/>
                    <a:pt x="156" y="169"/>
                    <a:pt x="156" y="169"/>
                  </a:cubicBezTo>
                  <a:cubicBezTo>
                    <a:pt x="128" y="140"/>
                    <a:pt x="113" y="94"/>
                    <a:pt x="105" y="55"/>
                  </a:cubicBezTo>
                  <a:close/>
                </a:path>
              </a:pathLst>
            </a:custGeom>
            <a:solidFill>
              <a:srgbClr val="1E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64" name="Freeform 25">
              <a:extLst>
                <a:ext uri="{FF2B5EF4-FFF2-40B4-BE49-F238E27FC236}">
                  <a16:creationId xmlns:a16="http://schemas.microsoft.com/office/drawing/2014/main" id="{915977D1-FF71-FE38-3549-B1E45A490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8692" y="2571072"/>
              <a:ext cx="238224" cy="258292"/>
            </a:xfrm>
            <a:custGeom>
              <a:avLst/>
              <a:gdLst>
                <a:gd name="T0" fmla="*/ 123 w 156"/>
                <a:gd name="T1" fmla="*/ 43 h 169"/>
                <a:gd name="T2" fmla="*/ 90 w 156"/>
                <a:gd name="T3" fmla="*/ 13 h 169"/>
                <a:gd name="T4" fmla="*/ 76 w 156"/>
                <a:gd name="T5" fmla="*/ 7 h 169"/>
                <a:gd name="T6" fmla="*/ 59 w 156"/>
                <a:gd name="T7" fmla="*/ 0 h 169"/>
                <a:gd name="T8" fmla="*/ 53 w 156"/>
                <a:gd name="T9" fmla="*/ 45 h 169"/>
                <a:gd name="T10" fmla="*/ 36 w 156"/>
                <a:gd name="T11" fmla="*/ 50 h 169"/>
                <a:gd name="T12" fmla="*/ 51 w 156"/>
                <a:gd name="T13" fmla="*/ 55 h 169"/>
                <a:gd name="T14" fmla="*/ 0 w 156"/>
                <a:gd name="T15" fmla="*/ 169 h 169"/>
                <a:gd name="T16" fmla="*/ 38 w 156"/>
                <a:gd name="T17" fmla="*/ 169 h 169"/>
                <a:gd name="T18" fmla="*/ 99 w 156"/>
                <a:gd name="T19" fmla="*/ 169 h 169"/>
                <a:gd name="T20" fmla="*/ 100 w 156"/>
                <a:gd name="T21" fmla="*/ 169 h 169"/>
                <a:gd name="T22" fmla="*/ 156 w 156"/>
                <a:gd name="T23" fmla="*/ 169 h 169"/>
                <a:gd name="T24" fmla="*/ 123 w 156"/>
                <a:gd name="T25" fmla="*/ 4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6" h="169">
                  <a:moveTo>
                    <a:pt x="123" y="43"/>
                  </a:moveTo>
                  <a:cubicBezTo>
                    <a:pt x="116" y="28"/>
                    <a:pt x="104" y="20"/>
                    <a:pt x="90" y="13"/>
                  </a:cubicBezTo>
                  <a:cubicBezTo>
                    <a:pt x="85" y="11"/>
                    <a:pt x="81" y="10"/>
                    <a:pt x="76" y="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11"/>
                    <a:pt x="56" y="26"/>
                    <a:pt x="53" y="45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42" y="94"/>
                    <a:pt x="27" y="140"/>
                    <a:pt x="0" y="169"/>
                  </a:cubicBezTo>
                  <a:cubicBezTo>
                    <a:pt x="38" y="169"/>
                    <a:pt x="38" y="169"/>
                    <a:pt x="38" y="169"/>
                  </a:cubicBezTo>
                  <a:cubicBezTo>
                    <a:pt x="99" y="169"/>
                    <a:pt x="99" y="169"/>
                    <a:pt x="99" y="169"/>
                  </a:cubicBezTo>
                  <a:cubicBezTo>
                    <a:pt x="100" y="169"/>
                    <a:pt x="100" y="169"/>
                    <a:pt x="100" y="169"/>
                  </a:cubicBezTo>
                  <a:cubicBezTo>
                    <a:pt x="156" y="169"/>
                    <a:pt x="156" y="169"/>
                    <a:pt x="156" y="169"/>
                  </a:cubicBezTo>
                  <a:cubicBezTo>
                    <a:pt x="150" y="127"/>
                    <a:pt x="135" y="68"/>
                    <a:pt x="123" y="43"/>
                  </a:cubicBezTo>
                  <a:close/>
                </a:path>
              </a:pathLst>
            </a:custGeom>
            <a:solidFill>
              <a:srgbClr val="1E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65" name="Freeform 26">
              <a:extLst>
                <a:ext uri="{FF2B5EF4-FFF2-40B4-BE49-F238E27FC236}">
                  <a16:creationId xmlns:a16="http://schemas.microsoft.com/office/drawing/2014/main" id="{2645F188-A5B4-8F01-9F79-DE6C9712D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5918" y="2378809"/>
              <a:ext cx="39488" cy="71856"/>
            </a:xfrm>
            <a:custGeom>
              <a:avLst/>
              <a:gdLst>
                <a:gd name="T0" fmla="*/ 23 w 26"/>
                <a:gd name="T1" fmla="*/ 9 h 47"/>
                <a:gd name="T2" fmla="*/ 8 w 26"/>
                <a:gd name="T3" fmla="*/ 11 h 47"/>
                <a:gd name="T4" fmla="*/ 26 w 26"/>
                <a:gd name="T5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47">
                  <a:moveTo>
                    <a:pt x="23" y="9"/>
                  </a:moveTo>
                  <a:cubicBezTo>
                    <a:pt x="23" y="9"/>
                    <a:pt x="15" y="0"/>
                    <a:pt x="8" y="11"/>
                  </a:cubicBezTo>
                  <a:cubicBezTo>
                    <a:pt x="0" y="22"/>
                    <a:pt x="14" y="47"/>
                    <a:pt x="26" y="46"/>
                  </a:cubicBezTo>
                </a:path>
              </a:pathLst>
            </a:custGeom>
            <a:solidFill>
              <a:srgbClr val="EFC6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66" name="Freeform 27">
              <a:extLst>
                <a:ext uri="{FF2B5EF4-FFF2-40B4-BE49-F238E27FC236}">
                  <a16:creationId xmlns:a16="http://schemas.microsoft.com/office/drawing/2014/main" id="{E7B405B5-2E29-145F-BC84-89FA4F51C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6306" y="2378809"/>
              <a:ext cx="40136" cy="71856"/>
            </a:xfrm>
            <a:custGeom>
              <a:avLst/>
              <a:gdLst>
                <a:gd name="T0" fmla="*/ 4 w 26"/>
                <a:gd name="T1" fmla="*/ 9 h 47"/>
                <a:gd name="T2" fmla="*/ 19 w 26"/>
                <a:gd name="T3" fmla="*/ 11 h 47"/>
                <a:gd name="T4" fmla="*/ 0 w 26"/>
                <a:gd name="T5" fmla="*/ 46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" h="47">
                  <a:moveTo>
                    <a:pt x="4" y="9"/>
                  </a:moveTo>
                  <a:cubicBezTo>
                    <a:pt x="4" y="9"/>
                    <a:pt x="12" y="0"/>
                    <a:pt x="19" y="11"/>
                  </a:cubicBezTo>
                  <a:cubicBezTo>
                    <a:pt x="26" y="22"/>
                    <a:pt x="13" y="47"/>
                    <a:pt x="0" y="46"/>
                  </a:cubicBezTo>
                </a:path>
              </a:pathLst>
            </a:custGeom>
            <a:solidFill>
              <a:srgbClr val="E0AC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68" name="Freeform 28">
              <a:extLst>
                <a:ext uri="{FF2B5EF4-FFF2-40B4-BE49-F238E27FC236}">
                  <a16:creationId xmlns:a16="http://schemas.microsoft.com/office/drawing/2014/main" id="{B4ED7AFB-CDC5-BB0D-17A2-EDC27EDF0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4537" y="2613797"/>
              <a:ext cx="56320" cy="215567"/>
            </a:xfrm>
            <a:custGeom>
              <a:avLst/>
              <a:gdLst>
                <a:gd name="T0" fmla="*/ 27 w 37"/>
                <a:gd name="T1" fmla="*/ 6 h 141"/>
                <a:gd name="T2" fmla="*/ 0 w 37"/>
                <a:gd name="T3" fmla="*/ 22 h 141"/>
                <a:gd name="T4" fmla="*/ 20 w 37"/>
                <a:gd name="T5" fmla="*/ 118 h 141"/>
                <a:gd name="T6" fmla="*/ 30 w 37"/>
                <a:gd name="T7" fmla="*/ 141 h 141"/>
                <a:gd name="T8" fmla="*/ 37 w 37"/>
                <a:gd name="T9" fmla="*/ 141 h 141"/>
                <a:gd name="T10" fmla="*/ 37 w 37"/>
                <a:gd name="T11" fmla="*/ 118 h 141"/>
                <a:gd name="T12" fmla="*/ 37 w 37"/>
                <a:gd name="T13" fmla="*/ 49 h 141"/>
                <a:gd name="T14" fmla="*/ 37 w 37"/>
                <a:gd name="T15" fmla="*/ 0 h 141"/>
                <a:gd name="T16" fmla="*/ 37 w 37"/>
                <a:gd name="T17" fmla="*/ 0 h 141"/>
                <a:gd name="T18" fmla="*/ 27 w 37"/>
                <a:gd name="T19" fmla="*/ 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141">
                  <a:moveTo>
                    <a:pt x="27" y="6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4" y="52"/>
                    <a:pt x="11" y="89"/>
                    <a:pt x="20" y="118"/>
                  </a:cubicBezTo>
                  <a:cubicBezTo>
                    <a:pt x="23" y="126"/>
                    <a:pt x="26" y="134"/>
                    <a:pt x="30" y="141"/>
                  </a:cubicBezTo>
                  <a:cubicBezTo>
                    <a:pt x="37" y="141"/>
                    <a:pt x="37" y="141"/>
                    <a:pt x="37" y="141"/>
                  </a:cubicBezTo>
                  <a:cubicBezTo>
                    <a:pt x="37" y="118"/>
                    <a:pt x="37" y="118"/>
                    <a:pt x="37" y="118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27" y="6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69" name="Freeform 29">
              <a:extLst>
                <a:ext uri="{FF2B5EF4-FFF2-40B4-BE49-F238E27FC236}">
                  <a16:creationId xmlns:a16="http://schemas.microsoft.com/office/drawing/2014/main" id="{86DEA988-5CC2-A70C-7675-9311E5ACB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0856" y="2613797"/>
              <a:ext cx="56967" cy="215567"/>
            </a:xfrm>
            <a:custGeom>
              <a:avLst/>
              <a:gdLst>
                <a:gd name="T0" fmla="*/ 11 w 37"/>
                <a:gd name="T1" fmla="*/ 6 h 141"/>
                <a:gd name="T2" fmla="*/ 0 w 37"/>
                <a:gd name="T3" fmla="*/ 0 h 141"/>
                <a:gd name="T4" fmla="*/ 0 w 37"/>
                <a:gd name="T5" fmla="*/ 0 h 141"/>
                <a:gd name="T6" fmla="*/ 0 w 37"/>
                <a:gd name="T7" fmla="*/ 49 h 141"/>
                <a:gd name="T8" fmla="*/ 0 w 37"/>
                <a:gd name="T9" fmla="*/ 118 h 141"/>
                <a:gd name="T10" fmla="*/ 0 w 37"/>
                <a:gd name="T11" fmla="*/ 141 h 141"/>
                <a:gd name="T12" fmla="*/ 8 w 37"/>
                <a:gd name="T13" fmla="*/ 141 h 141"/>
                <a:gd name="T14" fmla="*/ 17 w 37"/>
                <a:gd name="T15" fmla="*/ 118 h 141"/>
                <a:gd name="T16" fmla="*/ 37 w 37"/>
                <a:gd name="T17" fmla="*/ 22 h 141"/>
                <a:gd name="T18" fmla="*/ 11 w 37"/>
                <a:gd name="T19" fmla="*/ 6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" h="141">
                  <a:moveTo>
                    <a:pt x="11" y="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12" y="134"/>
                    <a:pt x="15" y="126"/>
                    <a:pt x="17" y="118"/>
                  </a:cubicBezTo>
                  <a:cubicBezTo>
                    <a:pt x="27" y="89"/>
                    <a:pt x="33" y="52"/>
                    <a:pt x="37" y="22"/>
                  </a:cubicBezTo>
                  <a:lnTo>
                    <a:pt x="11" y="6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70" name="Freeform 30">
              <a:extLst>
                <a:ext uri="{FF2B5EF4-FFF2-40B4-BE49-F238E27FC236}">
                  <a16:creationId xmlns:a16="http://schemas.microsoft.com/office/drawing/2014/main" id="{F9657A0B-7D30-6895-31D2-BB1E3AF54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4962" y="2613797"/>
              <a:ext cx="53730" cy="215567"/>
            </a:xfrm>
            <a:custGeom>
              <a:avLst/>
              <a:gdLst>
                <a:gd name="T0" fmla="*/ 35 w 35"/>
                <a:gd name="T1" fmla="*/ 10 h 141"/>
                <a:gd name="T2" fmla="*/ 17 w 35"/>
                <a:gd name="T3" fmla="*/ 0 h 141"/>
                <a:gd name="T4" fmla="*/ 0 w 35"/>
                <a:gd name="T5" fmla="*/ 10 h 141"/>
                <a:gd name="T6" fmla="*/ 9 w 35"/>
                <a:gd name="T7" fmla="*/ 36 h 141"/>
                <a:gd name="T8" fmla="*/ 0 w 35"/>
                <a:gd name="T9" fmla="*/ 118 h 141"/>
                <a:gd name="T10" fmla="*/ 10 w 35"/>
                <a:gd name="T11" fmla="*/ 141 h 141"/>
                <a:gd name="T12" fmla="*/ 17 w 35"/>
                <a:gd name="T13" fmla="*/ 141 h 141"/>
                <a:gd name="T14" fmla="*/ 25 w 35"/>
                <a:gd name="T15" fmla="*/ 141 h 141"/>
                <a:gd name="T16" fmla="*/ 34 w 35"/>
                <a:gd name="T17" fmla="*/ 118 h 141"/>
                <a:gd name="T18" fmla="*/ 26 w 35"/>
                <a:gd name="T19" fmla="*/ 36 h 141"/>
                <a:gd name="T20" fmla="*/ 35 w 35"/>
                <a:gd name="T21" fmla="*/ 1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" h="141">
                  <a:moveTo>
                    <a:pt x="35" y="1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18"/>
                    <a:pt x="4" y="133"/>
                    <a:pt x="10" y="141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25" y="141"/>
                    <a:pt x="25" y="141"/>
                    <a:pt x="25" y="141"/>
                  </a:cubicBezTo>
                  <a:cubicBezTo>
                    <a:pt x="31" y="133"/>
                    <a:pt x="34" y="118"/>
                    <a:pt x="34" y="118"/>
                  </a:cubicBezTo>
                  <a:cubicBezTo>
                    <a:pt x="26" y="36"/>
                    <a:pt x="26" y="36"/>
                    <a:pt x="26" y="36"/>
                  </a:cubicBezTo>
                  <a:lnTo>
                    <a:pt x="35" y="10"/>
                  </a:lnTo>
                  <a:close/>
                </a:path>
              </a:pathLst>
            </a:custGeom>
            <a:solidFill>
              <a:srgbClr val="1E27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71" name="Freeform 31">
              <a:extLst>
                <a:ext uri="{FF2B5EF4-FFF2-40B4-BE49-F238E27FC236}">
                  <a16:creationId xmlns:a16="http://schemas.microsoft.com/office/drawing/2014/main" id="{62AF7FF4-D2D5-65C6-FBEB-FA8F469AC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4981" y="2549709"/>
              <a:ext cx="105518" cy="279655"/>
            </a:xfrm>
            <a:custGeom>
              <a:avLst/>
              <a:gdLst>
                <a:gd name="T0" fmla="*/ 39 w 69"/>
                <a:gd name="T1" fmla="*/ 64 h 183"/>
                <a:gd name="T2" fmla="*/ 34 w 69"/>
                <a:gd name="T3" fmla="*/ 0 h 183"/>
                <a:gd name="T4" fmla="*/ 33 w 69"/>
                <a:gd name="T5" fmla="*/ 0 h 183"/>
                <a:gd name="T6" fmla="*/ 0 w 69"/>
                <a:gd name="T7" fmla="*/ 14 h 183"/>
                <a:gd name="T8" fmla="*/ 6 w 69"/>
                <a:gd name="T9" fmla="*/ 59 h 183"/>
                <a:gd name="T10" fmla="*/ 23 w 69"/>
                <a:gd name="T11" fmla="*/ 64 h 183"/>
                <a:gd name="T12" fmla="*/ 8 w 69"/>
                <a:gd name="T13" fmla="*/ 69 h 183"/>
                <a:gd name="T14" fmla="*/ 59 w 69"/>
                <a:gd name="T15" fmla="*/ 183 h 183"/>
                <a:gd name="T16" fmla="*/ 69 w 69"/>
                <a:gd name="T17" fmla="*/ 183 h 183"/>
                <a:gd name="T18" fmla="*/ 39 w 69"/>
                <a:gd name="T19" fmla="*/ 64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83">
                  <a:moveTo>
                    <a:pt x="39" y="64"/>
                  </a:moveTo>
                  <a:cubicBezTo>
                    <a:pt x="36" y="33"/>
                    <a:pt x="34" y="8"/>
                    <a:pt x="34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25"/>
                    <a:pt x="3" y="40"/>
                    <a:pt x="6" y="59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16" y="108"/>
                    <a:pt x="31" y="154"/>
                    <a:pt x="59" y="183"/>
                  </a:cubicBezTo>
                  <a:cubicBezTo>
                    <a:pt x="69" y="183"/>
                    <a:pt x="69" y="183"/>
                    <a:pt x="69" y="183"/>
                  </a:cubicBezTo>
                  <a:cubicBezTo>
                    <a:pt x="53" y="152"/>
                    <a:pt x="45" y="103"/>
                    <a:pt x="39" y="64"/>
                  </a:cubicBezTo>
                  <a:close/>
                </a:path>
              </a:pathLst>
            </a:custGeom>
            <a:solidFill>
              <a:srgbClr val="2F3A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72" name="Freeform 32">
              <a:extLst>
                <a:ext uri="{FF2B5EF4-FFF2-40B4-BE49-F238E27FC236}">
                  <a16:creationId xmlns:a16="http://schemas.microsoft.com/office/drawing/2014/main" id="{9B3DB18C-E814-6532-753A-C3460F538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3155" y="2549709"/>
              <a:ext cx="105518" cy="279655"/>
            </a:xfrm>
            <a:custGeom>
              <a:avLst/>
              <a:gdLst>
                <a:gd name="T0" fmla="*/ 46 w 69"/>
                <a:gd name="T1" fmla="*/ 64 h 183"/>
                <a:gd name="T2" fmla="*/ 63 w 69"/>
                <a:gd name="T3" fmla="*/ 59 h 183"/>
                <a:gd name="T4" fmla="*/ 69 w 69"/>
                <a:gd name="T5" fmla="*/ 14 h 183"/>
                <a:gd name="T6" fmla="*/ 36 w 69"/>
                <a:gd name="T7" fmla="*/ 0 h 183"/>
                <a:gd name="T8" fmla="*/ 35 w 69"/>
                <a:gd name="T9" fmla="*/ 0 h 183"/>
                <a:gd name="T10" fmla="*/ 29 w 69"/>
                <a:gd name="T11" fmla="*/ 64 h 183"/>
                <a:gd name="T12" fmla="*/ 0 w 69"/>
                <a:gd name="T13" fmla="*/ 183 h 183"/>
                <a:gd name="T14" fmla="*/ 10 w 69"/>
                <a:gd name="T15" fmla="*/ 183 h 183"/>
                <a:gd name="T16" fmla="*/ 61 w 69"/>
                <a:gd name="T17" fmla="*/ 69 h 183"/>
                <a:gd name="T18" fmla="*/ 46 w 69"/>
                <a:gd name="T19" fmla="*/ 64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183">
                  <a:moveTo>
                    <a:pt x="46" y="64"/>
                  </a:moveTo>
                  <a:cubicBezTo>
                    <a:pt x="63" y="59"/>
                    <a:pt x="63" y="59"/>
                    <a:pt x="63" y="59"/>
                  </a:cubicBezTo>
                  <a:cubicBezTo>
                    <a:pt x="66" y="40"/>
                    <a:pt x="68" y="25"/>
                    <a:pt x="69" y="14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8"/>
                    <a:pt x="33" y="33"/>
                    <a:pt x="29" y="64"/>
                  </a:cubicBezTo>
                  <a:cubicBezTo>
                    <a:pt x="24" y="103"/>
                    <a:pt x="15" y="152"/>
                    <a:pt x="0" y="183"/>
                  </a:cubicBezTo>
                  <a:cubicBezTo>
                    <a:pt x="10" y="183"/>
                    <a:pt x="10" y="183"/>
                    <a:pt x="10" y="183"/>
                  </a:cubicBezTo>
                  <a:cubicBezTo>
                    <a:pt x="37" y="154"/>
                    <a:pt x="52" y="108"/>
                    <a:pt x="61" y="69"/>
                  </a:cubicBezTo>
                  <a:lnTo>
                    <a:pt x="46" y="64"/>
                  </a:lnTo>
                  <a:close/>
                </a:path>
              </a:pathLst>
            </a:custGeom>
            <a:solidFill>
              <a:srgbClr val="2F3A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73" name="Freeform 33">
              <a:extLst>
                <a:ext uri="{FF2B5EF4-FFF2-40B4-BE49-F238E27FC236}">
                  <a16:creationId xmlns:a16="http://schemas.microsoft.com/office/drawing/2014/main" id="{E6506FB9-4A5E-7D21-7465-99617C372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3106" y="2268112"/>
              <a:ext cx="197441" cy="281597"/>
            </a:xfrm>
            <a:custGeom>
              <a:avLst/>
              <a:gdLst>
                <a:gd name="T0" fmla="*/ 95 w 129"/>
                <a:gd name="T1" fmla="*/ 7 h 184"/>
                <a:gd name="T2" fmla="*/ 64 w 129"/>
                <a:gd name="T3" fmla="*/ 0 h 184"/>
                <a:gd name="T4" fmla="*/ 33 w 129"/>
                <a:gd name="T5" fmla="*/ 7 h 184"/>
                <a:gd name="T6" fmla="*/ 1 w 129"/>
                <a:gd name="T7" fmla="*/ 65 h 184"/>
                <a:gd name="T8" fmla="*/ 2 w 129"/>
                <a:gd name="T9" fmla="*/ 80 h 184"/>
                <a:gd name="T10" fmla="*/ 17 w 129"/>
                <a:gd name="T11" fmla="*/ 153 h 184"/>
                <a:gd name="T12" fmla="*/ 44 w 129"/>
                <a:gd name="T13" fmla="*/ 178 h 184"/>
                <a:gd name="T14" fmla="*/ 64 w 129"/>
                <a:gd name="T15" fmla="*/ 184 h 184"/>
                <a:gd name="T16" fmla="*/ 84 w 129"/>
                <a:gd name="T17" fmla="*/ 178 h 184"/>
                <a:gd name="T18" fmla="*/ 112 w 129"/>
                <a:gd name="T19" fmla="*/ 153 h 184"/>
                <a:gd name="T20" fmla="*/ 127 w 129"/>
                <a:gd name="T21" fmla="*/ 80 h 184"/>
                <a:gd name="T22" fmla="*/ 128 w 129"/>
                <a:gd name="T23" fmla="*/ 65 h 184"/>
                <a:gd name="T24" fmla="*/ 95 w 129"/>
                <a:gd name="T25" fmla="*/ 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" h="184">
                  <a:moveTo>
                    <a:pt x="95" y="7"/>
                  </a:moveTo>
                  <a:cubicBezTo>
                    <a:pt x="87" y="3"/>
                    <a:pt x="77" y="0"/>
                    <a:pt x="64" y="0"/>
                  </a:cubicBezTo>
                  <a:cubicBezTo>
                    <a:pt x="52" y="0"/>
                    <a:pt x="42" y="3"/>
                    <a:pt x="33" y="7"/>
                  </a:cubicBezTo>
                  <a:cubicBezTo>
                    <a:pt x="12" y="18"/>
                    <a:pt x="0" y="41"/>
                    <a:pt x="1" y="65"/>
                  </a:cubicBezTo>
                  <a:cubicBezTo>
                    <a:pt x="1" y="69"/>
                    <a:pt x="1" y="74"/>
                    <a:pt x="2" y="80"/>
                  </a:cubicBezTo>
                  <a:cubicBezTo>
                    <a:pt x="3" y="105"/>
                    <a:pt x="7" y="138"/>
                    <a:pt x="17" y="153"/>
                  </a:cubicBezTo>
                  <a:cubicBezTo>
                    <a:pt x="25" y="164"/>
                    <a:pt x="35" y="172"/>
                    <a:pt x="44" y="178"/>
                  </a:cubicBezTo>
                  <a:cubicBezTo>
                    <a:pt x="50" y="182"/>
                    <a:pt x="57" y="184"/>
                    <a:pt x="64" y="184"/>
                  </a:cubicBezTo>
                  <a:cubicBezTo>
                    <a:pt x="71" y="184"/>
                    <a:pt x="78" y="182"/>
                    <a:pt x="84" y="178"/>
                  </a:cubicBezTo>
                  <a:cubicBezTo>
                    <a:pt x="94" y="172"/>
                    <a:pt x="104" y="164"/>
                    <a:pt x="112" y="153"/>
                  </a:cubicBezTo>
                  <a:cubicBezTo>
                    <a:pt x="121" y="138"/>
                    <a:pt x="125" y="105"/>
                    <a:pt x="127" y="80"/>
                  </a:cubicBezTo>
                  <a:cubicBezTo>
                    <a:pt x="128" y="74"/>
                    <a:pt x="128" y="69"/>
                    <a:pt x="128" y="65"/>
                  </a:cubicBezTo>
                  <a:cubicBezTo>
                    <a:pt x="129" y="41"/>
                    <a:pt x="117" y="18"/>
                    <a:pt x="95" y="7"/>
                  </a:cubicBezTo>
                  <a:close/>
                </a:path>
              </a:pathLst>
            </a:custGeom>
            <a:solidFill>
              <a:srgbClr val="F9D8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74" name="Freeform 34">
              <a:extLst>
                <a:ext uri="{FF2B5EF4-FFF2-40B4-BE49-F238E27FC236}">
                  <a16:creationId xmlns:a16="http://schemas.microsoft.com/office/drawing/2014/main" id="{402EED1A-2F61-D4E7-6CBD-FD56AFC3B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8149" y="2248692"/>
              <a:ext cx="266060" cy="185142"/>
            </a:xfrm>
            <a:custGeom>
              <a:avLst/>
              <a:gdLst>
                <a:gd name="T0" fmla="*/ 87 w 174"/>
                <a:gd name="T1" fmla="*/ 2 h 121"/>
                <a:gd name="T2" fmla="*/ 13 w 174"/>
                <a:gd name="T3" fmla="*/ 97 h 121"/>
                <a:gd name="T4" fmla="*/ 20 w 174"/>
                <a:gd name="T5" fmla="*/ 94 h 121"/>
                <a:gd name="T6" fmla="*/ 26 w 174"/>
                <a:gd name="T7" fmla="*/ 121 h 121"/>
                <a:gd name="T8" fmla="*/ 31 w 174"/>
                <a:gd name="T9" fmla="*/ 98 h 121"/>
                <a:gd name="T10" fmla="*/ 74 w 174"/>
                <a:gd name="T11" fmla="*/ 41 h 121"/>
                <a:gd name="T12" fmla="*/ 87 w 174"/>
                <a:gd name="T13" fmla="*/ 82 h 121"/>
                <a:gd name="T14" fmla="*/ 103 w 174"/>
                <a:gd name="T15" fmla="*/ 94 h 121"/>
                <a:gd name="T16" fmla="*/ 94 w 174"/>
                <a:gd name="T17" fmla="*/ 49 h 121"/>
                <a:gd name="T18" fmla="*/ 143 w 174"/>
                <a:gd name="T19" fmla="*/ 98 h 121"/>
                <a:gd name="T20" fmla="*/ 147 w 174"/>
                <a:gd name="T21" fmla="*/ 121 h 121"/>
                <a:gd name="T22" fmla="*/ 153 w 174"/>
                <a:gd name="T23" fmla="*/ 94 h 121"/>
                <a:gd name="T24" fmla="*/ 160 w 174"/>
                <a:gd name="T25" fmla="*/ 97 h 121"/>
                <a:gd name="T26" fmla="*/ 87 w 174"/>
                <a:gd name="T27" fmla="*/ 2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4" h="121">
                  <a:moveTo>
                    <a:pt x="87" y="2"/>
                  </a:moveTo>
                  <a:cubicBezTo>
                    <a:pt x="0" y="0"/>
                    <a:pt x="13" y="97"/>
                    <a:pt x="13" y="97"/>
                  </a:cubicBezTo>
                  <a:cubicBezTo>
                    <a:pt x="16" y="94"/>
                    <a:pt x="20" y="94"/>
                    <a:pt x="20" y="94"/>
                  </a:cubicBezTo>
                  <a:cubicBezTo>
                    <a:pt x="17" y="104"/>
                    <a:pt x="26" y="121"/>
                    <a:pt x="26" y="121"/>
                  </a:cubicBezTo>
                  <a:cubicBezTo>
                    <a:pt x="25" y="112"/>
                    <a:pt x="31" y="98"/>
                    <a:pt x="31" y="98"/>
                  </a:cubicBezTo>
                  <a:cubicBezTo>
                    <a:pt x="31" y="98"/>
                    <a:pt x="69" y="92"/>
                    <a:pt x="74" y="41"/>
                  </a:cubicBezTo>
                  <a:cubicBezTo>
                    <a:pt x="74" y="41"/>
                    <a:pt x="73" y="65"/>
                    <a:pt x="87" y="82"/>
                  </a:cubicBezTo>
                  <a:cubicBezTo>
                    <a:pt x="91" y="87"/>
                    <a:pt x="96" y="91"/>
                    <a:pt x="103" y="94"/>
                  </a:cubicBezTo>
                  <a:cubicBezTo>
                    <a:pt x="103" y="94"/>
                    <a:pt x="90" y="60"/>
                    <a:pt x="94" y="49"/>
                  </a:cubicBezTo>
                  <a:cubicBezTo>
                    <a:pt x="94" y="49"/>
                    <a:pt x="107" y="89"/>
                    <a:pt x="143" y="98"/>
                  </a:cubicBezTo>
                  <a:cubicBezTo>
                    <a:pt x="143" y="98"/>
                    <a:pt x="148" y="112"/>
                    <a:pt x="147" y="121"/>
                  </a:cubicBezTo>
                  <a:cubicBezTo>
                    <a:pt x="147" y="121"/>
                    <a:pt x="156" y="104"/>
                    <a:pt x="153" y="94"/>
                  </a:cubicBezTo>
                  <a:cubicBezTo>
                    <a:pt x="153" y="94"/>
                    <a:pt x="157" y="94"/>
                    <a:pt x="160" y="97"/>
                  </a:cubicBezTo>
                  <a:cubicBezTo>
                    <a:pt x="160" y="97"/>
                    <a:pt x="174" y="0"/>
                    <a:pt x="87" y="2"/>
                  </a:cubicBezTo>
                  <a:close/>
                </a:path>
              </a:pathLst>
            </a:custGeom>
            <a:solidFill>
              <a:srgbClr val="7A6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75" name="Freeform 64">
              <a:extLst>
                <a:ext uri="{FF2B5EF4-FFF2-40B4-BE49-F238E27FC236}">
                  <a16:creationId xmlns:a16="http://schemas.microsoft.com/office/drawing/2014/main" id="{1444B367-A052-7BC5-B7D8-4CE480415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8082" y="2708957"/>
              <a:ext cx="301017" cy="180610"/>
            </a:xfrm>
            <a:custGeom>
              <a:avLst/>
              <a:gdLst>
                <a:gd name="T0" fmla="*/ 185 w 197"/>
                <a:gd name="T1" fmla="*/ 107 h 118"/>
                <a:gd name="T2" fmla="*/ 172 w 197"/>
                <a:gd name="T3" fmla="*/ 118 h 118"/>
                <a:gd name="T4" fmla="*/ 26 w 197"/>
                <a:gd name="T5" fmla="*/ 118 h 118"/>
                <a:gd name="T6" fmla="*/ 13 w 197"/>
                <a:gd name="T7" fmla="*/ 107 h 118"/>
                <a:gd name="T8" fmla="*/ 1 w 197"/>
                <a:gd name="T9" fmla="*/ 11 h 118"/>
                <a:gd name="T10" fmla="*/ 11 w 197"/>
                <a:gd name="T11" fmla="*/ 0 h 118"/>
                <a:gd name="T12" fmla="*/ 187 w 197"/>
                <a:gd name="T13" fmla="*/ 0 h 118"/>
                <a:gd name="T14" fmla="*/ 197 w 197"/>
                <a:gd name="T15" fmla="*/ 11 h 118"/>
                <a:gd name="T16" fmla="*/ 185 w 197"/>
                <a:gd name="T17" fmla="*/ 10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7" h="118">
                  <a:moveTo>
                    <a:pt x="185" y="107"/>
                  </a:moveTo>
                  <a:cubicBezTo>
                    <a:pt x="184" y="113"/>
                    <a:pt x="178" y="118"/>
                    <a:pt x="172" y="118"/>
                  </a:cubicBezTo>
                  <a:cubicBezTo>
                    <a:pt x="26" y="118"/>
                    <a:pt x="26" y="118"/>
                    <a:pt x="26" y="118"/>
                  </a:cubicBezTo>
                  <a:cubicBezTo>
                    <a:pt x="20" y="118"/>
                    <a:pt x="14" y="113"/>
                    <a:pt x="13" y="107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87" y="0"/>
                    <a:pt x="187" y="0"/>
                    <a:pt x="187" y="0"/>
                  </a:cubicBezTo>
                  <a:cubicBezTo>
                    <a:pt x="193" y="0"/>
                    <a:pt x="197" y="5"/>
                    <a:pt x="197" y="11"/>
                  </a:cubicBezTo>
                  <a:lnTo>
                    <a:pt x="185" y="107"/>
                  </a:ln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76" name="Freeform 65">
              <a:extLst>
                <a:ext uri="{FF2B5EF4-FFF2-40B4-BE49-F238E27FC236}">
                  <a16:creationId xmlns:a16="http://schemas.microsoft.com/office/drawing/2014/main" id="{5EF9DF7C-867A-A574-5142-696155D3A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2546" y="2889567"/>
              <a:ext cx="336621" cy="25894"/>
            </a:xfrm>
            <a:custGeom>
              <a:avLst/>
              <a:gdLst>
                <a:gd name="T0" fmla="*/ 220 w 220"/>
                <a:gd name="T1" fmla="*/ 14 h 17"/>
                <a:gd name="T2" fmla="*/ 217 w 220"/>
                <a:gd name="T3" fmla="*/ 17 h 17"/>
                <a:gd name="T4" fmla="*/ 4 w 220"/>
                <a:gd name="T5" fmla="*/ 17 h 17"/>
                <a:gd name="T6" fmla="*/ 0 w 220"/>
                <a:gd name="T7" fmla="*/ 14 h 17"/>
                <a:gd name="T8" fmla="*/ 0 w 220"/>
                <a:gd name="T9" fmla="*/ 3 h 17"/>
                <a:gd name="T10" fmla="*/ 4 w 220"/>
                <a:gd name="T11" fmla="*/ 0 h 17"/>
                <a:gd name="T12" fmla="*/ 217 w 220"/>
                <a:gd name="T13" fmla="*/ 0 h 17"/>
                <a:gd name="T14" fmla="*/ 220 w 220"/>
                <a:gd name="T15" fmla="*/ 3 h 17"/>
                <a:gd name="T16" fmla="*/ 220 w 220"/>
                <a:gd name="T17" fmla="*/ 14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0" h="17">
                  <a:moveTo>
                    <a:pt x="220" y="14"/>
                  </a:moveTo>
                  <a:cubicBezTo>
                    <a:pt x="220" y="16"/>
                    <a:pt x="219" y="17"/>
                    <a:pt x="217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2" y="17"/>
                    <a:pt x="0" y="16"/>
                    <a:pt x="0" y="1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19" y="0"/>
                    <a:pt x="220" y="2"/>
                    <a:pt x="220" y="3"/>
                  </a:cubicBezTo>
                  <a:lnTo>
                    <a:pt x="220" y="14"/>
                  </a:lnTo>
                  <a:close/>
                </a:path>
              </a:pathLst>
            </a:custGeom>
            <a:solidFill>
              <a:sysClr val="window" lastClr="FFFFFF">
                <a:lumMod val="7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  <p:sp>
          <p:nvSpPr>
            <p:cNvPr id="377" name="Oval 66">
              <a:extLst>
                <a:ext uri="{FF2B5EF4-FFF2-40B4-BE49-F238E27FC236}">
                  <a16:creationId xmlns:a16="http://schemas.microsoft.com/office/drawing/2014/main" id="{A4E3C748-9C1B-CB14-522B-C74C2F82A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9136" y="2778871"/>
              <a:ext cx="59556" cy="60204"/>
            </a:xfrm>
            <a:prstGeom prst="ellipse">
              <a:avLst/>
            </a:prstGeom>
            <a:solidFill>
              <a:sysClr val="window" lastClr="FFFFFF">
                <a:lumMod val="75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</a:endParaRPr>
            </a:p>
          </p:txBody>
        </p:sp>
      </p:grpSp>
      <p:pic>
        <p:nvPicPr>
          <p:cNvPr id="379" name="그림 378">
            <a:extLst>
              <a:ext uri="{FF2B5EF4-FFF2-40B4-BE49-F238E27FC236}">
                <a16:creationId xmlns:a16="http://schemas.microsoft.com/office/drawing/2014/main" id="{6BF15AC2-0423-7AB8-2451-8A17202521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75925" y="4704740"/>
            <a:ext cx="419428" cy="491037"/>
          </a:xfrm>
          <a:prstGeom prst="rect">
            <a:avLst/>
          </a:prstGeom>
        </p:spPr>
      </p:pic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1E0F9A59-6BE8-8B45-3A78-365694588DCC}"/>
              </a:ext>
            </a:extLst>
          </p:cNvPr>
          <p:cNvSpPr/>
          <p:nvPr/>
        </p:nvSpPr>
        <p:spPr>
          <a:xfrm>
            <a:off x="4959872" y="2858988"/>
            <a:ext cx="907912" cy="44469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탐지 결과 관리</a:t>
            </a:r>
            <a:endParaRPr lang="en-US" altLang="ko-KR" sz="11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이력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통계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pic>
        <p:nvPicPr>
          <p:cNvPr id="383" name="그림 382">
            <a:extLst>
              <a:ext uri="{FF2B5EF4-FFF2-40B4-BE49-F238E27FC236}">
                <a16:creationId xmlns:a16="http://schemas.microsoft.com/office/drawing/2014/main" id="{074C1CC4-92CF-8E00-18FB-478E1A6032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4537929" y="3563635"/>
            <a:ext cx="371526" cy="476316"/>
          </a:xfrm>
          <a:prstGeom prst="rect">
            <a:avLst/>
          </a:prstGeom>
        </p:spPr>
      </p:pic>
      <p:sp>
        <p:nvSpPr>
          <p:cNvPr id="385" name="직사각형 384">
            <a:extLst>
              <a:ext uri="{FF2B5EF4-FFF2-40B4-BE49-F238E27FC236}">
                <a16:creationId xmlns:a16="http://schemas.microsoft.com/office/drawing/2014/main" id="{AF40FB41-F4AC-5AA4-423A-8A2B73A8044E}"/>
              </a:ext>
            </a:extLst>
          </p:cNvPr>
          <p:cNvSpPr/>
          <p:nvPr/>
        </p:nvSpPr>
        <p:spPr>
          <a:xfrm>
            <a:off x="5014013" y="4110678"/>
            <a:ext cx="922207" cy="47259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모델 성능</a:t>
            </a:r>
            <a:r>
              <a:rPr lang="en-US" altLang="ko-KR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관리</a:t>
            </a:r>
            <a:endParaRPr lang="en-US" altLang="ko-KR" sz="9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87" name="그림 386">
            <a:extLst>
              <a:ext uri="{FF2B5EF4-FFF2-40B4-BE49-F238E27FC236}">
                <a16:creationId xmlns:a16="http://schemas.microsoft.com/office/drawing/2014/main" id="{00130B37-A335-106F-3376-59C21743A6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03481" y="4164125"/>
            <a:ext cx="352474" cy="447737"/>
          </a:xfrm>
          <a:prstGeom prst="rect">
            <a:avLst/>
          </a:prstGeom>
        </p:spPr>
      </p:pic>
      <p:sp>
        <p:nvSpPr>
          <p:cNvPr id="389" name="직사각형 388">
            <a:extLst>
              <a:ext uri="{FF2B5EF4-FFF2-40B4-BE49-F238E27FC236}">
                <a16:creationId xmlns:a16="http://schemas.microsoft.com/office/drawing/2014/main" id="{7A0DDC9D-B6AF-509B-BE51-819D134F7A29}"/>
              </a:ext>
            </a:extLst>
          </p:cNvPr>
          <p:cNvSpPr/>
          <p:nvPr/>
        </p:nvSpPr>
        <p:spPr>
          <a:xfrm>
            <a:off x="5028715" y="4854582"/>
            <a:ext cx="922207" cy="3233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지속 개선</a:t>
            </a:r>
            <a:endParaRPr lang="en-US" altLang="ko-KR" sz="9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91" name="그림 390">
            <a:extLst>
              <a:ext uri="{FF2B5EF4-FFF2-40B4-BE49-F238E27FC236}">
                <a16:creationId xmlns:a16="http://schemas.microsoft.com/office/drawing/2014/main" id="{D36A3AF7-4F4D-6319-BF63-FA9542CA0C3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22415" y="2926040"/>
            <a:ext cx="404086" cy="371586"/>
          </a:xfrm>
          <a:prstGeom prst="rect">
            <a:avLst/>
          </a:prstGeom>
        </p:spPr>
      </p:pic>
      <p:pic>
        <p:nvPicPr>
          <p:cNvPr id="393" name="그림 392">
            <a:extLst>
              <a:ext uri="{FF2B5EF4-FFF2-40B4-BE49-F238E27FC236}">
                <a16:creationId xmlns:a16="http://schemas.microsoft.com/office/drawing/2014/main" id="{27B33286-1DD5-1286-D7E5-B8E0457E4FE6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4564077" y="4781654"/>
            <a:ext cx="414714" cy="396283"/>
          </a:xfrm>
          <a:prstGeom prst="rect">
            <a:avLst/>
          </a:prstGeom>
        </p:spPr>
      </p:pic>
      <p:sp>
        <p:nvSpPr>
          <p:cNvPr id="408" name="직사각형 407">
            <a:extLst>
              <a:ext uri="{FF2B5EF4-FFF2-40B4-BE49-F238E27FC236}">
                <a16:creationId xmlns:a16="http://schemas.microsoft.com/office/drawing/2014/main" id="{A7265D3C-AE47-CED4-DEA1-490B77CF2D67}"/>
              </a:ext>
            </a:extLst>
          </p:cNvPr>
          <p:cNvSpPr/>
          <p:nvPr/>
        </p:nvSpPr>
        <p:spPr>
          <a:xfrm>
            <a:off x="467934" y="5413160"/>
            <a:ext cx="816760" cy="2589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rgbClr val="D81921"/>
                </a:solidFill>
                <a:latin typeface="+mn-ea"/>
              </a:rPr>
              <a:t>데이터 준비</a:t>
            </a:r>
            <a:endParaRPr lang="en-US" altLang="ko-KR" sz="900" b="1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rgbClr val="D81921"/>
              </a:solidFill>
              <a:latin typeface="+mn-ea"/>
            </a:endParaRPr>
          </a:p>
        </p:txBody>
      </p:sp>
      <p:sp>
        <p:nvSpPr>
          <p:cNvPr id="410" name="직사각형 409">
            <a:extLst>
              <a:ext uri="{FF2B5EF4-FFF2-40B4-BE49-F238E27FC236}">
                <a16:creationId xmlns:a16="http://schemas.microsoft.com/office/drawing/2014/main" id="{A8C8C39C-ABF4-CB96-8335-7DA068F569AB}"/>
              </a:ext>
            </a:extLst>
          </p:cNvPr>
          <p:cNvSpPr/>
          <p:nvPr/>
        </p:nvSpPr>
        <p:spPr>
          <a:xfrm>
            <a:off x="773029" y="5669868"/>
            <a:ext cx="849532" cy="44441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학습 데이터 확보 및 준비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12" name="직사각형 411">
            <a:extLst>
              <a:ext uri="{FF2B5EF4-FFF2-40B4-BE49-F238E27FC236}">
                <a16:creationId xmlns:a16="http://schemas.microsoft.com/office/drawing/2014/main" id="{DBBA3840-5406-6BCC-5EAB-5A7C399F5BDC}"/>
              </a:ext>
            </a:extLst>
          </p:cNvPr>
          <p:cNvSpPr/>
          <p:nvPr/>
        </p:nvSpPr>
        <p:spPr>
          <a:xfrm>
            <a:off x="1810657" y="5400869"/>
            <a:ext cx="816760" cy="2589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rgbClr val="D81921"/>
                </a:solidFill>
                <a:latin typeface="+mn-ea"/>
              </a:rPr>
              <a:t>환경 준비</a:t>
            </a:r>
            <a:endParaRPr lang="en-US" altLang="ko-KR" sz="900" b="1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rgbClr val="D81921"/>
              </a:solidFill>
              <a:latin typeface="+mn-ea"/>
            </a:endParaRPr>
          </a:p>
        </p:txBody>
      </p:sp>
      <p:sp>
        <p:nvSpPr>
          <p:cNvPr id="414" name="직사각형 413">
            <a:extLst>
              <a:ext uri="{FF2B5EF4-FFF2-40B4-BE49-F238E27FC236}">
                <a16:creationId xmlns:a16="http://schemas.microsoft.com/office/drawing/2014/main" id="{FC32D3D8-FD44-C85F-F966-DEEE14B0F04C}"/>
              </a:ext>
            </a:extLst>
          </p:cNvPr>
          <p:cNvSpPr/>
          <p:nvPr/>
        </p:nvSpPr>
        <p:spPr>
          <a:xfrm>
            <a:off x="3246930" y="5383656"/>
            <a:ext cx="816760" cy="2589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rgbClr val="D81921"/>
                </a:solidFill>
                <a:latin typeface="+mn-ea"/>
              </a:rPr>
              <a:t>시범운영</a:t>
            </a:r>
            <a:endParaRPr lang="en-US" altLang="ko-KR" sz="900" b="1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rgbClr val="D81921"/>
              </a:solidFill>
              <a:latin typeface="+mn-ea"/>
            </a:endParaRPr>
          </a:p>
        </p:txBody>
      </p:sp>
      <p:sp>
        <p:nvSpPr>
          <p:cNvPr id="416" name="직사각형 415">
            <a:extLst>
              <a:ext uri="{FF2B5EF4-FFF2-40B4-BE49-F238E27FC236}">
                <a16:creationId xmlns:a16="http://schemas.microsoft.com/office/drawing/2014/main" id="{EEC16C46-888C-1CBA-2DC9-E7A6487E4F29}"/>
              </a:ext>
            </a:extLst>
          </p:cNvPr>
          <p:cNvSpPr/>
          <p:nvPr/>
        </p:nvSpPr>
        <p:spPr>
          <a:xfrm>
            <a:off x="4781603" y="5388124"/>
            <a:ext cx="470910" cy="2589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100" b="1" dirty="0" err="1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rgbClr val="D81921"/>
                </a:solidFill>
                <a:latin typeface="+mn-ea"/>
              </a:rPr>
              <a:t>실운영</a:t>
            </a:r>
            <a:endParaRPr lang="en-US" altLang="ko-KR" sz="900" b="1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rgbClr val="D81921"/>
              </a:solidFill>
              <a:latin typeface="+mn-ea"/>
            </a:endParaRPr>
          </a:p>
        </p:txBody>
      </p:sp>
      <p:sp>
        <p:nvSpPr>
          <p:cNvPr id="418" name="직사각형 417">
            <a:extLst>
              <a:ext uri="{FF2B5EF4-FFF2-40B4-BE49-F238E27FC236}">
                <a16:creationId xmlns:a16="http://schemas.microsoft.com/office/drawing/2014/main" id="{ED11EACA-6C4B-49BC-263D-B5B28ADBAC1C}"/>
              </a:ext>
            </a:extLst>
          </p:cNvPr>
          <p:cNvSpPr/>
          <p:nvPr/>
        </p:nvSpPr>
        <p:spPr>
          <a:xfrm>
            <a:off x="2351493" y="5705360"/>
            <a:ext cx="758926" cy="45734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환경 구성 및 연계 테스트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20" name="직사각형 419">
            <a:extLst>
              <a:ext uri="{FF2B5EF4-FFF2-40B4-BE49-F238E27FC236}">
                <a16:creationId xmlns:a16="http://schemas.microsoft.com/office/drawing/2014/main" id="{50378B3F-8240-6D43-9F52-12B99A43E589}"/>
              </a:ext>
            </a:extLst>
          </p:cNvPr>
          <p:cNvSpPr/>
          <p:nvPr/>
        </p:nvSpPr>
        <p:spPr>
          <a:xfrm>
            <a:off x="3692825" y="5664840"/>
            <a:ext cx="889944" cy="5852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파일럿 운영 및 모델 검증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약 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2~3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개월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552400C0-D71B-EE40-BF4B-91FB73DEE8CC}"/>
              </a:ext>
            </a:extLst>
          </p:cNvPr>
          <p:cNvSpPr/>
          <p:nvPr/>
        </p:nvSpPr>
        <p:spPr>
          <a:xfrm>
            <a:off x="5186071" y="5589266"/>
            <a:ext cx="816760" cy="39933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운영전환 및 안정화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30" name="화살표: 아래쪽 429">
            <a:extLst>
              <a:ext uri="{FF2B5EF4-FFF2-40B4-BE49-F238E27FC236}">
                <a16:creationId xmlns:a16="http://schemas.microsoft.com/office/drawing/2014/main" id="{14C74A38-B0F0-390F-BA35-21AD8269F57F}"/>
              </a:ext>
            </a:extLst>
          </p:cNvPr>
          <p:cNvSpPr/>
          <p:nvPr/>
        </p:nvSpPr>
        <p:spPr>
          <a:xfrm>
            <a:off x="3709495" y="3321666"/>
            <a:ext cx="197517" cy="140390"/>
          </a:xfrm>
          <a:prstGeom prst="downArrow">
            <a:avLst/>
          </a:prstGeom>
          <a:solidFill>
            <a:srgbClr val="BFBFBF"/>
          </a:solidFill>
          <a:ln w="9525" cap="flat" cmpd="sng" algn="ctr">
            <a:noFill/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/>
            </a:endParaRPr>
          </a:p>
        </p:txBody>
      </p:sp>
      <p:sp>
        <p:nvSpPr>
          <p:cNvPr id="432" name="Arrow: Down 47">
            <a:extLst>
              <a:ext uri="{FF2B5EF4-FFF2-40B4-BE49-F238E27FC236}">
                <a16:creationId xmlns:a16="http://schemas.microsoft.com/office/drawing/2014/main" id="{AA57100D-9464-2311-A4CB-1F4565A8353D}"/>
              </a:ext>
            </a:extLst>
          </p:cNvPr>
          <p:cNvSpPr/>
          <p:nvPr/>
        </p:nvSpPr>
        <p:spPr>
          <a:xfrm rot="5400000" flipV="1">
            <a:off x="1515537" y="5721119"/>
            <a:ext cx="203418" cy="213279"/>
          </a:xfrm>
          <a:prstGeom prst="downArrow">
            <a:avLst>
              <a:gd name="adj1" fmla="val 50000"/>
              <a:gd name="adj2" fmla="val 50446"/>
            </a:avLst>
          </a:prstGeom>
          <a:gradFill>
            <a:gsLst>
              <a:gs pos="7000">
                <a:srgbClr val="D81921"/>
              </a:gs>
              <a:gs pos="0">
                <a:srgbClr val="FFFFFF"/>
              </a:gs>
              <a:gs pos="100000">
                <a:srgbClr val="ED9D9B"/>
              </a:gs>
            </a:gsLst>
            <a:lin ang="5400000" scaled="0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err="1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카이겐고딕 KR Medium"/>
              <a:cs typeface="Arial"/>
            </a:endParaRPr>
          </a:p>
        </p:txBody>
      </p:sp>
      <p:sp>
        <p:nvSpPr>
          <p:cNvPr id="434" name="Arrow: Down 47">
            <a:extLst>
              <a:ext uri="{FF2B5EF4-FFF2-40B4-BE49-F238E27FC236}">
                <a16:creationId xmlns:a16="http://schemas.microsoft.com/office/drawing/2014/main" id="{64219912-DE72-CE7D-96DE-760791A3285C}"/>
              </a:ext>
            </a:extLst>
          </p:cNvPr>
          <p:cNvSpPr/>
          <p:nvPr/>
        </p:nvSpPr>
        <p:spPr>
          <a:xfrm rot="5400000" flipV="1">
            <a:off x="3057840" y="5729575"/>
            <a:ext cx="203418" cy="213279"/>
          </a:xfrm>
          <a:prstGeom prst="downArrow">
            <a:avLst>
              <a:gd name="adj1" fmla="val 50000"/>
              <a:gd name="adj2" fmla="val 50446"/>
            </a:avLst>
          </a:prstGeom>
          <a:gradFill>
            <a:gsLst>
              <a:gs pos="7000">
                <a:srgbClr val="D81921"/>
              </a:gs>
              <a:gs pos="0">
                <a:srgbClr val="FFFFFF"/>
              </a:gs>
              <a:gs pos="100000">
                <a:srgbClr val="ED9D9B"/>
              </a:gs>
            </a:gsLst>
            <a:lin ang="5400000" scaled="0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err="1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카이겐고딕 KR Medium"/>
              <a:cs typeface="Arial"/>
            </a:endParaRPr>
          </a:p>
        </p:txBody>
      </p:sp>
      <p:sp>
        <p:nvSpPr>
          <p:cNvPr id="436" name="Arrow: Down 47">
            <a:extLst>
              <a:ext uri="{FF2B5EF4-FFF2-40B4-BE49-F238E27FC236}">
                <a16:creationId xmlns:a16="http://schemas.microsoft.com/office/drawing/2014/main" id="{5CCAB020-50F4-6695-9A14-B78D4A8F28FC}"/>
              </a:ext>
            </a:extLst>
          </p:cNvPr>
          <p:cNvSpPr/>
          <p:nvPr/>
        </p:nvSpPr>
        <p:spPr>
          <a:xfrm rot="5400000" flipV="1">
            <a:off x="4522918" y="5738508"/>
            <a:ext cx="203418" cy="213279"/>
          </a:xfrm>
          <a:prstGeom prst="downArrow">
            <a:avLst>
              <a:gd name="adj1" fmla="val 50000"/>
              <a:gd name="adj2" fmla="val 50446"/>
            </a:avLst>
          </a:prstGeom>
          <a:gradFill>
            <a:gsLst>
              <a:gs pos="7000">
                <a:srgbClr val="D81921"/>
              </a:gs>
              <a:gs pos="0">
                <a:srgbClr val="FFFFFF"/>
              </a:gs>
              <a:gs pos="100000">
                <a:srgbClr val="ED9D9B"/>
              </a:gs>
            </a:gsLst>
            <a:lin ang="5400000" scaled="0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 err="1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카이겐고딕 KR Medium"/>
              <a:cs typeface="Arial"/>
            </a:endParaRPr>
          </a:p>
        </p:txBody>
      </p:sp>
      <p:pic>
        <p:nvPicPr>
          <p:cNvPr id="438" name="그래픽 437" descr="데이터베이스 단색으로 채워진">
            <a:extLst>
              <a:ext uri="{FF2B5EF4-FFF2-40B4-BE49-F238E27FC236}">
                <a16:creationId xmlns:a16="http://schemas.microsoft.com/office/drawing/2014/main" id="{89807701-3C1F-13BB-141F-B7B22A42C1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6664" y="5705359"/>
            <a:ext cx="404771" cy="373430"/>
          </a:xfrm>
          <a:prstGeom prst="rect">
            <a:avLst/>
          </a:prstGeom>
        </p:spPr>
      </p:pic>
      <p:grpSp>
        <p:nvGrpSpPr>
          <p:cNvPr id="439" name="Group 19">
            <a:extLst>
              <a:ext uri="{FF2B5EF4-FFF2-40B4-BE49-F238E27FC236}">
                <a16:creationId xmlns:a16="http://schemas.microsoft.com/office/drawing/2014/main" id="{43CE7875-A233-86A0-379F-F4520A2F7A86}"/>
              </a:ext>
            </a:extLst>
          </p:cNvPr>
          <p:cNvGrpSpPr>
            <a:grpSpLocks noChangeAspect="1"/>
          </p:cNvGrpSpPr>
          <p:nvPr/>
        </p:nvGrpSpPr>
        <p:grpSpPr>
          <a:xfrm>
            <a:off x="580291" y="5881680"/>
            <a:ext cx="155087" cy="155086"/>
            <a:chOff x="982662" y="3868738"/>
            <a:chExt cx="269875" cy="269875"/>
          </a:xfrm>
        </p:grpSpPr>
        <p:sp>
          <p:nvSpPr>
            <p:cNvPr id="440" name="Oval 16">
              <a:extLst>
                <a:ext uri="{FF2B5EF4-FFF2-40B4-BE49-F238E27FC236}">
                  <a16:creationId xmlns:a16="http://schemas.microsoft.com/office/drawing/2014/main" id="{0C421470-CE29-C8BB-41ED-3DD3CF8E6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" y="3868738"/>
              <a:ext cx="269875" cy="269875"/>
            </a:xfrm>
            <a:prstGeom prst="ellipse">
              <a:avLst/>
            </a:prstGeom>
            <a:solidFill>
              <a:srgbClr val="D8192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카이겐고딕 KR Medium"/>
              </a:endParaRPr>
            </a:p>
          </p:txBody>
        </p:sp>
        <p:sp>
          <p:nvSpPr>
            <p:cNvPr id="441" name="Freeform 17">
              <a:extLst>
                <a:ext uri="{FF2B5EF4-FFF2-40B4-BE49-F238E27FC236}">
                  <a16:creationId xmlns:a16="http://schemas.microsoft.com/office/drawing/2014/main" id="{23B62F00-166B-3135-7C7B-290648C6C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918" y="3938588"/>
              <a:ext cx="133349" cy="128586"/>
            </a:xfrm>
            <a:custGeom>
              <a:avLst/>
              <a:gdLst>
                <a:gd name="T0" fmla="*/ 36 w 84"/>
                <a:gd name="T1" fmla="*/ 67 h 81"/>
                <a:gd name="T2" fmla="*/ 7 w 84"/>
                <a:gd name="T3" fmla="*/ 39 h 81"/>
                <a:gd name="T4" fmla="*/ 0 w 84"/>
                <a:gd name="T5" fmla="*/ 45 h 81"/>
                <a:gd name="T6" fmla="*/ 38 w 84"/>
                <a:gd name="T7" fmla="*/ 81 h 81"/>
                <a:gd name="T8" fmla="*/ 84 w 84"/>
                <a:gd name="T9" fmla="*/ 4 h 81"/>
                <a:gd name="T10" fmla="*/ 76 w 84"/>
                <a:gd name="T11" fmla="*/ 0 h 81"/>
                <a:gd name="T12" fmla="*/ 36 w 84"/>
                <a:gd name="T13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1">
                  <a:moveTo>
                    <a:pt x="36" y="67"/>
                  </a:moveTo>
                  <a:lnTo>
                    <a:pt x="7" y="39"/>
                  </a:lnTo>
                  <a:lnTo>
                    <a:pt x="0" y="45"/>
                  </a:lnTo>
                  <a:lnTo>
                    <a:pt x="38" y="81"/>
                  </a:lnTo>
                  <a:lnTo>
                    <a:pt x="84" y="4"/>
                  </a:lnTo>
                  <a:lnTo>
                    <a:pt x="76" y="0"/>
                  </a:lnTo>
                  <a:lnTo>
                    <a:pt x="36" y="67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카이겐고딕 KR Medium"/>
              </a:endParaRPr>
            </a:p>
          </p:txBody>
        </p:sp>
      </p:grpSp>
      <p:grpSp>
        <p:nvGrpSpPr>
          <p:cNvPr id="450" name="그룹 449">
            <a:extLst>
              <a:ext uri="{FF2B5EF4-FFF2-40B4-BE49-F238E27FC236}">
                <a16:creationId xmlns:a16="http://schemas.microsoft.com/office/drawing/2014/main" id="{435E535E-9F8B-A6A2-386C-1B1F85BD0C71}"/>
              </a:ext>
            </a:extLst>
          </p:cNvPr>
          <p:cNvGrpSpPr/>
          <p:nvPr/>
        </p:nvGrpSpPr>
        <p:grpSpPr>
          <a:xfrm>
            <a:off x="1806372" y="5720130"/>
            <a:ext cx="561383" cy="377948"/>
            <a:chOff x="6855019" y="5318719"/>
            <a:chExt cx="561383" cy="377948"/>
          </a:xfrm>
        </p:grpSpPr>
        <p:pic>
          <p:nvPicPr>
            <p:cNvPr id="443" name="그림 442">
              <a:extLst>
                <a:ext uri="{FF2B5EF4-FFF2-40B4-BE49-F238E27FC236}">
                  <a16:creationId xmlns:a16="http://schemas.microsoft.com/office/drawing/2014/main" id="{CCADEE59-2387-CE66-024A-E1711CFF7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55019" y="5318719"/>
              <a:ext cx="435133" cy="330493"/>
            </a:xfrm>
            <a:prstGeom prst="rect">
              <a:avLst/>
            </a:prstGeom>
          </p:spPr>
        </p:pic>
        <p:sp>
          <p:nvSpPr>
            <p:cNvPr id="445" name="직사각형 444">
              <a:extLst>
                <a:ext uri="{FF2B5EF4-FFF2-40B4-BE49-F238E27FC236}">
                  <a16:creationId xmlns:a16="http://schemas.microsoft.com/office/drawing/2014/main" id="{A1C721B8-C360-6980-68F7-CA702D9E8C64}"/>
                </a:ext>
              </a:extLst>
            </p:cNvPr>
            <p:cNvSpPr/>
            <p:nvPr/>
          </p:nvSpPr>
          <p:spPr>
            <a:xfrm>
              <a:off x="6888887" y="5348979"/>
              <a:ext cx="378000" cy="1944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Arial"/>
              </a:endParaRPr>
            </a:p>
          </p:txBody>
        </p:sp>
        <p:sp>
          <p:nvSpPr>
            <p:cNvPr id="447" name="Freeform 292">
              <a:extLst>
                <a:ext uri="{FF2B5EF4-FFF2-40B4-BE49-F238E27FC236}">
                  <a16:creationId xmlns:a16="http://schemas.microsoft.com/office/drawing/2014/main" id="{D062E3FB-6174-8E78-2782-11BEF5DE35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6464" y="5346384"/>
              <a:ext cx="211737" cy="194401"/>
            </a:xfrm>
            <a:custGeom>
              <a:avLst/>
              <a:gdLst>
                <a:gd name="T0" fmla="*/ 199 w 235"/>
                <a:gd name="T1" fmla="*/ 66 h 235"/>
                <a:gd name="T2" fmla="*/ 213 w 235"/>
                <a:gd name="T3" fmla="*/ 47 h 235"/>
                <a:gd name="T4" fmla="*/ 188 w 235"/>
                <a:gd name="T5" fmla="*/ 22 h 235"/>
                <a:gd name="T6" fmla="*/ 170 w 235"/>
                <a:gd name="T7" fmla="*/ 36 h 235"/>
                <a:gd name="T8" fmla="*/ 139 w 235"/>
                <a:gd name="T9" fmla="*/ 23 h 235"/>
                <a:gd name="T10" fmla="*/ 135 w 235"/>
                <a:gd name="T11" fmla="*/ 0 h 235"/>
                <a:gd name="T12" fmla="*/ 100 w 235"/>
                <a:gd name="T13" fmla="*/ 0 h 235"/>
                <a:gd name="T14" fmla="*/ 97 w 235"/>
                <a:gd name="T15" fmla="*/ 23 h 235"/>
                <a:gd name="T16" fmla="*/ 66 w 235"/>
                <a:gd name="T17" fmla="*/ 36 h 235"/>
                <a:gd name="T18" fmla="*/ 47 w 235"/>
                <a:gd name="T19" fmla="*/ 22 h 235"/>
                <a:gd name="T20" fmla="*/ 22 w 235"/>
                <a:gd name="T21" fmla="*/ 47 h 235"/>
                <a:gd name="T22" fmla="*/ 36 w 235"/>
                <a:gd name="T23" fmla="*/ 66 h 235"/>
                <a:gd name="T24" fmla="*/ 23 w 235"/>
                <a:gd name="T25" fmla="*/ 97 h 235"/>
                <a:gd name="T26" fmla="*/ 0 w 235"/>
                <a:gd name="T27" fmla="*/ 100 h 235"/>
                <a:gd name="T28" fmla="*/ 0 w 235"/>
                <a:gd name="T29" fmla="*/ 135 h 235"/>
                <a:gd name="T30" fmla="*/ 23 w 235"/>
                <a:gd name="T31" fmla="*/ 139 h 235"/>
                <a:gd name="T32" fmla="*/ 36 w 235"/>
                <a:gd name="T33" fmla="*/ 170 h 235"/>
                <a:gd name="T34" fmla="*/ 22 w 235"/>
                <a:gd name="T35" fmla="*/ 188 h 235"/>
                <a:gd name="T36" fmla="*/ 47 w 235"/>
                <a:gd name="T37" fmla="*/ 213 h 235"/>
                <a:gd name="T38" fmla="*/ 66 w 235"/>
                <a:gd name="T39" fmla="*/ 199 h 235"/>
                <a:gd name="T40" fmla="*/ 97 w 235"/>
                <a:gd name="T41" fmla="*/ 212 h 235"/>
                <a:gd name="T42" fmla="*/ 100 w 235"/>
                <a:gd name="T43" fmla="*/ 235 h 235"/>
                <a:gd name="T44" fmla="*/ 135 w 235"/>
                <a:gd name="T45" fmla="*/ 235 h 235"/>
                <a:gd name="T46" fmla="*/ 139 w 235"/>
                <a:gd name="T47" fmla="*/ 212 h 235"/>
                <a:gd name="T48" fmla="*/ 170 w 235"/>
                <a:gd name="T49" fmla="*/ 199 h 235"/>
                <a:gd name="T50" fmla="*/ 188 w 235"/>
                <a:gd name="T51" fmla="*/ 213 h 235"/>
                <a:gd name="T52" fmla="*/ 213 w 235"/>
                <a:gd name="T53" fmla="*/ 188 h 235"/>
                <a:gd name="T54" fmla="*/ 199 w 235"/>
                <a:gd name="T55" fmla="*/ 170 h 235"/>
                <a:gd name="T56" fmla="*/ 212 w 235"/>
                <a:gd name="T57" fmla="*/ 139 h 235"/>
                <a:gd name="T58" fmla="*/ 235 w 235"/>
                <a:gd name="T59" fmla="*/ 135 h 235"/>
                <a:gd name="T60" fmla="*/ 235 w 235"/>
                <a:gd name="T61" fmla="*/ 100 h 235"/>
                <a:gd name="T62" fmla="*/ 212 w 235"/>
                <a:gd name="T63" fmla="*/ 97 h 235"/>
                <a:gd name="T64" fmla="*/ 199 w 235"/>
                <a:gd name="T65" fmla="*/ 66 h 235"/>
                <a:gd name="T66" fmla="*/ 118 w 235"/>
                <a:gd name="T67" fmla="*/ 167 h 235"/>
                <a:gd name="T68" fmla="*/ 68 w 235"/>
                <a:gd name="T69" fmla="*/ 118 h 235"/>
                <a:gd name="T70" fmla="*/ 118 w 235"/>
                <a:gd name="T71" fmla="*/ 68 h 235"/>
                <a:gd name="T72" fmla="*/ 167 w 235"/>
                <a:gd name="T73" fmla="*/ 118 h 235"/>
                <a:gd name="T74" fmla="*/ 118 w 235"/>
                <a:gd name="T75" fmla="*/ 16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5" h="235">
                  <a:moveTo>
                    <a:pt x="199" y="66"/>
                  </a:moveTo>
                  <a:cubicBezTo>
                    <a:pt x="213" y="47"/>
                    <a:pt x="213" y="47"/>
                    <a:pt x="213" y="47"/>
                  </a:cubicBezTo>
                  <a:cubicBezTo>
                    <a:pt x="188" y="22"/>
                    <a:pt x="188" y="22"/>
                    <a:pt x="188" y="22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60" y="30"/>
                    <a:pt x="150" y="26"/>
                    <a:pt x="139" y="23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23"/>
                    <a:pt x="97" y="23"/>
                    <a:pt x="97" y="23"/>
                  </a:cubicBezTo>
                  <a:cubicBezTo>
                    <a:pt x="85" y="26"/>
                    <a:pt x="75" y="30"/>
                    <a:pt x="66" y="36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0" y="75"/>
                    <a:pt x="26" y="86"/>
                    <a:pt x="23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23" y="139"/>
                    <a:pt x="23" y="139"/>
                    <a:pt x="23" y="139"/>
                  </a:cubicBezTo>
                  <a:cubicBezTo>
                    <a:pt x="26" y="150"/>
                    <a:pt x="30" y="160"/>
                    <a:pt x="36" y="170"/>
                  </a:cubicBezTo>
                  <a:cubicBezTo>
                    <a:pt x="22" y="188"/>
                    <a:pt x="22" y="188"/>
                    <a:pt x="22" y="188"/>
                  </a:cubicBezTo>
                  <a:cubicBezTo>
                    <a:pt x="47" y="213"/>
                    <a:pt x="47" y="213"/>
                    <a:pt x="47" y="213"/>
                  </a:cubicBezTo>
                  <a:cubicBezTo>
                    <a:pt x="66" y="199"/>
                    <a:pt x="66" y="199"/>
                    <a:pt x="66" y="199"/>
                  </a:cubicBezTo>
                  <a:cubicBezTo>
                    <a:pt x="75" y="205"/>
                    <a:pt x="85" y="210"/>
                    <a:pt x="97" y="212"/>
                  </a:cubicBezTo>
                  <a:cubicBezTo>
                    <a:pt x="100" y="235"/>
                    <a:pt x="100" y="235"/>
                    <a:pt x="100" y="235"/>
                  </a:cubicBezTo>
                  <a:cubicBezTo>
                    <a:pt x="135" y="235"/>
                    <a:pt x="135" y="235"/>
                    <a:pt x="135" y="235"/>
                  </a:cubicBezTo>
                  <a:cubicBezTo>
                    <a:pt x="139" y="212"/>
                    <a:pt x="139" y="212"/>
                    <a:pt x="139" y="212"/>
                  </a:cubicBezTo>
                  <a:cubicBezTo>
                    <a:pt x="150" y="210"/>
                    <a:pt x="160" y="205"/>
                    <a:pt x="170" y="199"/>
                  </a:cubicBezTo>
                  <a:cubicBezTo>
                    <a:pt x="188" y="213"/>
                    <a:pt x="188" y="213"/>
                    <a:pt x="188" y="213"/>
                  </a:cubicBezTo>
                  <a:cubicBezTo>
                    <a:pt x="213" y="188"/>
                    <a:pt x="213" y="188"/>
                    <a:pt x="213" y="188"/>
                  </a:cubicBezTo>
                  <a:cubicBezTo>
                    <a:pt x="199" y="170"/>
                    <a:pt x="199" y="170"/>
                    <a:pt x="199" y="170"/>
                  </a:cubicBezTo>
                  <a:cubicBezTo>
                    <a:pt x="205" y="160"/>
                    <a:pt x="210" y="150"/>
                    <a:pt x="212" y="139"/>
                  </a:cubicBezTo>
                  <a:cubicBezTo>
                    <a:pt x="235" y="135"/>
                    <a:pt x="235" y="135"/>
                    <a:pt x="235" y="135"/>
                  </a:cubicBezTo>
                  <a:cubicBezTo>
                    <a:pt x="235" y="100"/>
                    <a:pt x="235" y="100"/>
                    <a:pt x="235" y="100"/>
                  </a:cubicBezTo>
                  <a:cubicBezTo>
                    <a:pt x="212" y="97"/>
                    <a:pt x="212" y="97"/>
                    <a:pt x="212" y="97"/>
                  </a:cubicBezTo>
                  <a:cubicBezTo>
                    <a:pt x="210" y="86"/>
                    <a:pt x="205" y="75"/>
                    <a:pt x="199" y="66"/>
                  </a:cubicBezTo>
                  <a:close/>
                  <a:moveTo>
                    <a:pt x="118" y="167"/>
                  </a:moveTo>
                  <a:cubicBezTo>
                    <a:pt x="90" y="167"/>
                    <a:pt x="68" y="145"/>
                    <a:pt x="68" y="118"/>
                  </a:cubicBezTo>
                  <a:cubicBezTo>
                    <a:pt x="68" y="90"/>
                    <a:pt x="90" y="68"/>
                    <a:pt x="118" y="68"/>
                  </a:cubicBezTo>
                  <a:cubicBezTo>
                    <a:pt x="145" y="68"/>
                    <a:pt x="167" y="90"/>
                    <a:pt x="167" y="118"/>
                  </a:cubicBezTo>
                  <a:cubicBezTo>
                    <a:pt x="167" y="145"/>
                    <a:pt x="145" y="167"/>
                    <a:pt x="118" y="167"/>
                  </a:cubicBezTo>
                  <a:close/>
                </a:path>
              </a:pathLst>
            </a:custGeom>
            <a:solidFill>
              <a:srgbClr val="D8192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49" name="그림 448">
              <a:extLst>
                <a:ext uri="{FF2B5EF4-FFF2-40B4-BE49-F238E27FC236}">
                  <a16:creationId xmlns:a16="http://schemas.microsoft.com/office/drawing/2014/main" id="{05B00784-8D14-3975-F1AA-0F8AE235C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/>
          </p:blipFill>
          <p:spPr>
            <a:xfrm>
              <a:off x="7185107" y="5440232"/>
              <a:ext cx="231295" cy="256435"/>
            </a:xfrm>
            <a:prstGeom prst="rect">
              <a:avLst/>
            </a:prstGeom>
            <a:solidFill>
              <a:schemeClr val="tx1"/>
            </a:solidFill>
          </p:spPr>
        </p:pic>
      </p:grpSp>
      <p:pic>
        <p:nvPicPr>
          <p:cNvPr id="452" name="그림 451">
            <a:extLst>
              <a:ext uri="{FF2B5EF4-FFF2-40B4-BE49-F238E27FC236}">
                <a16:creationId xmlns:a16="http://schemas.microsoft.com/office/drawing/2014/main" id="{DC2EB8E5-9307-2609-E0D5-B0CAE6E3315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3305826" y="5642347"/>
            <a:ext cx="395749" cy="481952"/>
          </a:xfrm>
          <a:prstGeom prst="rect">
            <a:avLst/>
          </a:prstGeom>
        </p:spPr>
      </p:pic>
      <p:sp>
        <p:nvSpPr>
          <p:cNvPr id="456" name="화살표: 아래쪽 455">
            <a:extLst>
              <a:ext uri="{FF2B5EF4-FFF2-40B4-BE49-F238E27FC236}">
                <a16:creationId xmlns:a16="http://schemas.microsoft.com/office/drawing/2014/main" id="{3F71E1B3-711D-D0CC-5BF9-98B1582B72B5}"/>
              </a:ext>
            </a:extLst>
          </p:cNvPr>
          <p:cNvSpPr/>
          <p:nvPr/>
        </p:nvSpPr>
        <p:spPr>
          <a:xfrm>
            <a:off x="3718280" y="3949984"/>
            <a:ext cx="197517" cy="140390"/>
          </a:xfrm>
          <a:prstGeom prst="downArrow">
            <a:avLst/>
          </a:prstGeom>
          <a:solidFill>
            <a:srgbClr val="BFBFBF"/>
          </a:solidFill>
          <a:ln w="9525" cap="flat" cmpd="sng" algn="ctr">
            <a:noFill/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/>
            </a:endParaRPr>
          </a:p>
        </p:txBody>
      </p:sp>
      <p:sp>
        <p:nvSpPr>
          <p:cNvPr id="458" name="화살표: 아래쪽 457">
            <a:extLst>
              <a:ext uri="{FF2B5EF4-FFF2-40B4-BE49-F238E27FC236}">
                <a16:creationId xmlns:a16="http://schemas.microsoft.com/office/drawing/2014/main" id="{A3582ADA-222E-CE92-A429-43279E9851D9}"/>
              </a:ext>
            </a:extLst>
          </p:cNvPr>
          <p:cNvSpPr/>
          <p:nvPr/>
        </p:nvSpPr>
        <p:spPr>
          <a:xfrm>
            <a:off x="3727377" y="4498716"/>
            <a:ext cx="197517" cy="140390"/>
          </a:xfrm>
          <a:prstGeom prst="downArrow">
            <a:avLst/>
          </a:prstGeom>
          <a:solidFill>
            <a:srgbClr val="BFBFBF"/>
          </a:solidFill>
          <a:ln w="9525" cap="flat" cmpd="sng" algn="ctr">
            <a:noFill/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/>
            </a:endParaRPr>
          </a:p>
        </p:txBody>
      </p:sp>
      <p:sp>
        <p:nvSpPr>
          <p:cNvPr id="460" name="화살표: 아래쪽 459">
            <a:extLst>
              <a:ext uri="{FF2B5EF4-FFF2-40B4-BE49-F238E27FC236}">
                <a16:creationId xmlns:a16="http://schemas.microsoft.com/office/drawing/2014/main" id="{3C1856DC-CDDE-8202-E11E-597DEFAAEE83}"/>
              </a:ext>
            </a:extLst>
          </p:cNvPr>
          <p:cNvSpPr/>
          <p:nvPr/>
        </p:nvSpPr>
        <p:spPr>
          <a:xfrm>
            <a:off x="5014013" y="4602019"/>
            <a:ext cx="197517" cy="140390"/>
          </a:xfrm>
          <a:prstGeom prst="downArrow">
            <a:avLst/>
          </a:prstGeom>
          <a:solidFill>
            <a:srgbClr val="BFBFBF"/>
          </a:solidFill>
          <a:ln w="9525" cap="flat" cmpd="sng" algn="ctr">
            <a:noFill/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/>
            </a:endParaRPr>
          </a:p>
        </p:txBody>
      </p:sp>
      <p:sp>
        <p:nvSpPr>
          <p:cNvPr id="462" name="화살표: 아래쪽 461">
            <a:extLst>
              <a:ext uri="{FF2B5EF4-FFF2-40B4-BE49-F238E27FC236}">
                <a16:creationId xmlns:a16="http://schemas.microsoft.com/office/drawing/2014/main" id="{747B598B-B547-329F-12A9-F084F8553549}"/>
              </a:ext>
            </a:extLst>
          </p:cNvPr>
          <p:cNvSpPr/>
          <p:nvPr/>
        </p:nvSpPr>
        <p:spPr>
          <a:xfrm>
            <a:off x="5014013" y="3948368"/>
            <a:ext cx="197517" cy="140390"/>
          </a:xfrm>
          <a:prstGeom prst="downArrow">
            <a:avLst/>
          </a:prstGeom>
          <a:solidFill>
            <a:srgbClr val="BFBFBF"/>
          </a:solidFill>
          <a:ln w="9525" cap="flat" cmpd="sng" algn="ctr">
            <a:noFill/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/>
            </a:endParaRPr>
          </a:p>
        </p:txBody>
      </p:sp>
      <p:sp>
        <p:nvSpPr>
          <p:cNvPr id="464" name="화살표: 아래쪽 463">
            <a:extLst>
              <a:ext uri="{FF2B5EF4-FFF2-40B4-BE49-F238E27FC236}">
                <a16:creationId xmlns:a16="http://schemas.microsoft.com/office/drawing/2014/main" id="{323B2C07-0757-C03B-CB47-9E40ECCF7684}"/>
              </a:ext>
            </a:extLst>
          </p:cNvPr>
          <p:cNvSpPr/>
          <p:nvPr/>
        </p:nvSpPr>
        <p:spPr>
          <a:xfrm>
            <a:off x="4988554" y="3326849"/>
            <a:ext cx="197517" cy="140390"/>
          </a:xfrm>
          <a:prstGeom prst="downArrow">
            <a:avLst/>
          </a:prstGeom>
          <a:solidFill>
            <a:srgbClr val="BFBFBF"/>
          </a:solidFill>
          <a:ln w="9525" cap="flat" cmpd="sng" algn="ctr">
            <a:noFill/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/>
            </a:endParaRPr>
          </a:p>
        </p:txBody>
      </p:sp>
      <p:pic>
        <p:nvPicPr>
          <p:cNvPr id="466" name="그림 465">
            <a:extLst>
              <a:ext uri="{FF2B5EF4-FFF2-40B4-BE49-F238E27FC236}">
                <a16:creationId xmlns:a16="http://schemas.microsoft.com/office/drawing/2014/main" id="{9AFCD4C7-1B51-163D-A7E1-86A6CC6F0523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/>
        </p:blipFill>
        <p:spPr>
          <a:xfrm>
            <a:off x="4701623" y="5674885"/>
            <a:ext cx="423713" cy="358859"/>
          </a:xfrm>
          <a:prstGeom prst="rect">
            <a:avLst/>
          </a:prstGeom>
        </p:spPr>
      </p:pic>
      <p:grpSp>
        <p:nvGrpSpPr>
          <p:cNvPr id="471" name="그룹 1167">
            <a:extLst>
              <a:ext uri="{FF2B5EF4-FFF2-40B4-BE49-F238E27FC236}">
                <a16:creationId xmlns:a16="http://schemas.microsoft.com/office/drawing/2014/main" id="{EA299B70-9D77-CCD0-54EA-AACDE7535537}"/>
              </a:ext>
            </a:extLst>
          </p:cNvPr>
          <p:cNvGrpSpPr/>
          <p:nvPr/>
        </p:nvGrpSpPr>
        <p:grpSpPr>
          <a:xfrm>
            <a:off x="4959758" y="5892073"/>
            <a:ext cx="240268" cy="263992"/>
            <a:chOff x="5556250" y="2638425"/>
            <a:chExt cx="985838" cy="1147763"/>
          </a:xfrm>
          <a:solidFill>
            <a:srgbClr val="D81921"/>
          </a:solidFill>
        </p:grpSpPr>
        <p:sp>
          <p:nvSpPr>
            <p:cNvPr id="472" name="Rectangle 48">
              <a:extLst>
                <a:ext uri="{FF2B5EF4-FFF2-40B4-BE49-F238E27FC236}">
                  <a16:creationId xmlns:a16="http://schemas.microsoft.com/office/drawing/2014/main" id="{AD1180C4-89D1-6D5C-9017-6E3B7E10F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50" y="3527425"/>
              <a:ext cx="228600" cy="2587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73" name="Rectangle 49">
              <a:extLst>
                <a:ext uri="{FF2B5EF4-FFF2-40B4-BE49-F238E27FC236}">
                  <a16:creationId xmlns:a16="http://schemas.microsoft.com/office/drawing/2014/main" id="{AEB1C337-777F-903F-149E-E13364772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4075" y="3365500"/>
              <a:ext cx="228600" cy="4206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74" name="Rectangle 50">
              <a:extLst>
                <a:ext uri="{FF2B5EF4-FFF2-40B4-BE49-F238E27FC236}">
                  <a16:creationId xmlns:a16="http://schemas.microsoft.com/office/drawing/2014/main" id="{54A40B5A-B123-2D48-6C28-66A8A2C1C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6663" y="3128963"/>
              <a:ext cx="225425" cy="657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475" name="Freeform 51">
              <a:extLst>
                <a:ext uri="{FF2B5EF4-FFF2-40B4-BE49-F238E27FC236}">
                  <a16:creationId xmlns:a16="http://schemas.microsoft.com/office/drawing/2014/main" id="{4E670E76-142A-286D-E798-7D26B9978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6413" y="2638425"/>
              <a:ext cx="839787" cy="704850"/>
            </a:xfrm>
            <a:custGeom>
              <a:avLst/>
              <a:gdLst>
                <a:gd name="T0" fmla="*/ 224 w 224"/>
                <a:gd name="T1" fmla="*/ 90 h 188"/>
                <a:gd name="T2" fmla="*/ 203 w 224"/>
                <a:gd name="T3" fmla="*/ 0 h 188"/>
                <a:gd name="T4" fmla="*/ 117 w 224"/>
                <a:gd name="T5" fmla="*/ 33 h 188"/>
                <a:gd name="T6" fmla="*/ 141 w 224"/>
                <a:gd name="T7" fmla="*/ 46 h 188"/>
                <a:gd name="T8" fmla="*/ 0 w 224"/>
                <a:gd name="T9" fmla="*/ 181 h 188"/>
                <a:gd name="T10" fmla="*/ 197 w 224"/>
                <a:gd name="T11" fmla="*/ 76 h 188"/>
                <a:gd name="T12" fmla="*/ 224 w 224"/>
                <a:gd name="T13" fmla="*/ 9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" h="188">
                  <a:moveTo>
                    <a:pt x="224" y="90"/>
                  </a:moveTo>
                  <a:cubicBezTo>
                    <a:pt x="203" y="0"/>
                    <a:pt x="203" y="0"/>
                    <a:pt x="203" y="0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41" y="46"/>
                    <a:pt x="141" y="46"/>
                    <a:pt x="141" y="46"/>
                  </a:cubicBezTo>
                  <a:cubicBezTo>
                    <a:pt x="109" y="108"/>
                    <a:pt x="59" y="154"/>
                    <a:pt x="0" y="181"/>
                  </a:cubicBezTo>
                  <a:cubicBezTo>
                    <a:pt x="79" y="188"/>
                    <a:pt x="157" y="148"/>
                    <a:pt x="197" y="76"/>
                  </a:cubicBezTo>
                  <a:lnTo>
                    <a:pt x="22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C25849-E8B3-D43F-4873-BB4644CADFE8}"/>
              </a:ext>
            </a:extLst>
          </p:cNvPr>
          <p:cNvSpPr/>
          <p:nvPr/>
        </p:nvSpPr>
        <p:spPr>
          <a:xfrm>
            <a:off x="383850" y="2093898"/>
            <a:ext cx="1290087" cy="246719"/>
          </a:xfrm>
          <a:prstGeom prst="rect">
            <a:avLst/>
          </a:prstGeom>
          <a:solidFill>
            <a:srgbClr val="D81921"/>
          </a:solidFill>
          <a:ln w="9525" cap="flat" cmpd="sng" algn="ctr">
            <a:solidFill>
              <a:srgbClr val="ED9D9B"/>
            </a:solidFill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algn="ctr"/>
            <a:r>
              <a:rPr lang="en-US" altLang="ko-KR" sz="1200" b="1" kern="0" dirty="0">
                <a:latin typeface="+mn-ea"/>
              </a:rPr>
              <a:t>AI </a:t>
            </a:r>
            <a:r>
              <a:rPr lang="ko-KR" altLang="en-US" sz="1200" b="1" kern="0" dirty="0">
                <a:latin typeface="+mn-ea"/>
              </a:rPr>
              <a:t>적용 기반 마련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6BE53F-6F7E-5F40-D7E4-5D1362AE14A2}"/>
              </a:ext>
            </a:extLst>
          </p:cNvPr>
          <p:cNvSpPr/>
          <p:nvPr/>
        </p:nvSpPr>
        <p:spPr>
          <a:xfrm>
            <a:off x="1751822" y="2088286"/>
            <a:ext cx="4093182" cy="246720"/>
          </a:xfrm>
          <a:prstGeom prst="rect">
            <a:avLst/>
          </a:prstGeom>
          <a:solidFill>
            <a:srgbClr val="D81921"/>
          </a:solidFill>
          <a:ln w="9525" cap="flat" cmpd="sng" algn="ctr">
            <a:solidFill>
              <a:srgbClr val="ED9D9B"/>
            </a:solidFill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algn="ctr"/>
            <a:r>
              <a:rPr lang="en-US" altLang="ko-KR" sz="1200" b="1" kern="0" dirty="0">
                <a:latin typeface="+mn-ea"/>
              </a:rPr>
              <a:t>AI </a:t>
            </a:r>
            <a:r>
              <a:rPr lang="ko-KR" altLang="en-US" sz="1200" b="1" kern="0" dirty="0">
                <a:latin typeface="+mn-ea"/>
              </a:rPr>
              <a:t>탐지체계 고도화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84BD043-1AC1-BB4B-4AD9-4E9645912F03}"/>
              </a:ext>
            </a:extLst>
          </p:cNvPr>
          <p:cNvSpPr txBox="1">
            <a:spLocks/>
          </p:cNvSpPr>
          <p:nvPr/>
        </p:nvSpPr>
        <p:spPr>
          <a:xfrm>
            <a:off x="341311" y="78147"/>
            <a:ext cx="3132000" cy="208800"/>
          </a:xfrm>
          <a:prstGeom prst="rect">
            <a:avLst/>
          </a:prstGeom>
        </p:spPr>
        <p:txBody>
          <a:bodyPr vert="horz" lIns="216000" tIns="0" rIns="0" bIns="0" rtlCol="0" anchor="ctr" anchorCtr="0">
            <a:noAutofit/>
          </a:bodyPr>
          <a:lstStyle>
            <a:defPPr>
              <a:defRPr lang="en-US"/>
            </a:defPPr>
            <a:lvl1pPr marR="0" lvl="0" indent="0" defTabSz="505234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-81" normalizeH="0" baseline="0">
                <a:ln>
                  <a:solidFill>
                    <a:srgbClr val="D81921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ko-KR" altLang="en-US" dirty="0"/>
              <a:t>외환 이상거래 리스크 대응강화</a:t>
            </a:r>
          </a:p>
        </p:txBody>
      </p:sp>
    </p:spTree>
    <p:extLst>
      <p:ext uri="{BB962C8B-B14F-4D97-AF65-F5344CB8AC3E}">
        <p14:creationId xmlns:p14="http://schemas.microsoft.com/office/powerpoint/2010/main" val="200587310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1EC83-3A63-8A4B-F4D3-04D4F5F4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7B16A6D-AD9C-0EC8-A135-A8E647E48A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2792" y="6309996"/>
            <a:ext cx="9363075" cy="144000"/>
          </a:xfrm>
        </p:spPr>
        <p:txBody>
          <a:bodyPr/>
          <a:lstStyle/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614627C-08FF-1655-F770-B4E70339C7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</a:t>
            </a:r>
            <a:r>
              <a:rPr lang="ko-KR" altLang="en-US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 학습 및 모델 적용</a:t>
            </a:r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CA60C73-D381-3A32-ADAF-BB67381D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솔루션을 연계하여 </a:t>
            </a:r>
            <a:r>
              <a:rPr lang="en-US" altLang="ko-KR" dirty="0"/>
              <a:t>AI </a:t>
            </a:r>
            <a:r>
              <a:rPr lang="ko-KR" altLang="en-US" dirty="0"/>
              <a:t>이상거래 탐지 시스템 구축</a:t>
            </a:r>
          </a:p>
        </p:txBody>
      </p:sp>
      <p:sp>
        <p:nvSpPr>
          <p:cNvPr id="2" name="직사각형 29">
            <a:extLst>
              <a:ext uri="{FF2B5EF4-FFF2-40B4-BE49-F238E27FC236}">
                <a16:creationId xmlns:a16="http://schemas.microsoft.com/office/drawing/2014/main" id="{1287F40D-31F3-A6DA-4A96-E61C515F54BA}"/>
              </a:ext>
            </a:extLst>
          </p:cNvPr>
          <p:cNvSpPr/>
          <p:nvPr/>
        </p:nvSpPr>
        <p:spPr>
          <a:xfrm>
            <a:off x="297779" y="1932747"/>
            <a:ext cx="5616056" cy="4376034"/>
          </a:xfrm>
          <a:prstGeom prst="rect">
            <a:avLst/>
          </a:prstGeom>
          <a:noFill/>
          <a:ln w="317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/>
        </p:spPr>
        <p:txBody>
          <a:bodyPr wrap="square" lIns="90000" tIns="46800" rIns="90000" bIns="468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/>
              <a:ea typeface="나눔스퀘어"/>
              <a:cs typeface="Arial"/>
            </a:endParaRPr>
          </a:p>
        </p:txBody>
      </p:sp>
      <p:sp>
        <p:nvSpPr>
          <p:cNvPr id="14" name="직사각형 10">
            <a:extLst>
              <a:ext uri="{FF2B5EF4-FFF2-40B4-BE49-F238E27FC236}">
                <a16:creationId xmlns:a16="http://schemas.microsoft.com/office/drawing/2014/main" id="{B4CB6FA2-3D5D-1AB9-1CAA-A4C434942FAD}"/>
              </a:ext>
            </a:extLst>
          </p:cNvPr>
          <p:cNvSpPr/>
          <p:nvPr/>
        </p:nvSpPr>
        <p:spPr>
          <a:xfrm>
            <a:off x="6174573" y="1708818"/>
            <a:ext cx="3412340" cy="2535360"/>
          </a:xfrm>
          <a:prstGeom prst="rect">
            <a:avLst/>
          </a:prstGeom>
        </p:spPr>
        <p:txBody>
          <a:bodyPr wrap="square" lIns="36000" tIns="72000" rIns="36000" bIns="36000" anchor="t">
            <a:spAutoFit/>
          </a:bodyPr>
          <a:lstStyle>
            <a:defPPr>
              <a:defRPr lang="en-US"/>
            </a:defPPr>
            <a:lvl1pPr marL="0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437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873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310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746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183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620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056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1493" algn="l" defTabSz="1042873" rtl="0" eaLnBrk="1" latinLnBrk="0" hangingPunct="1">
              <a:defRPr sz="205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038" indent="-173038" defTabSz="914400" fontAlgn="base"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정상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·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이상 거래 데이터를 활용한 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학습 기반 마련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44000" indent="144000" defTabSz="914400" fontAlgn="base">
              <a:spcBef>
                <a:spcPts val="300"/>
              </a:spcBef>
              <a:spcAft>
                <a:spcPts val="500"/>
              </a:spcAft>
              <a:buFontTx/>
              <a:buChar char="-"/>
              <a:defRPr/>
            </a:pP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정상 거래 데이터와 최종 이상거래 판정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(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라벨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) 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데이터를 확보하여 지도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·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비지도 학습에 활용</a:t>
            </a:r>
          </a:p>
          <a:p>
            <a:pPr marL="173038" indent="-173038" defTabSz="914400" fontAlgn="base"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기존 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Rule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및 고객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·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거래 특성을 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Feature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로 정의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44000" indent="144000" defTabSz="914400" fontAlgn="base">
              <a:spcBef>
                <a:spcPct val="0"/>
              </a:spcBef>
              <a:spcAft>
                <a:spcPts val="500"/>
              </a:spcAft>
              <a:buFontTx/>
              <a:buChar char="-"/>
              <a:defRPr/>
            </a:pP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현행 탐지 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Rule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을 분석하여 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Rule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기반 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Feature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후보 도출</a:t>
            </a:r>
            <a:endParaRPr lang="en-US" altLang="ko-KR" sz="110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44000" indent="144000" defTabSz="914400" fontAlgn="base">
              <a:spcBef>
                <a:spcPct val="0"/>
              </a:spcBef>
              <a:spcAft>
                <a:spcPts val="500"/>
              </a:spcAft>
              <a:buFontTx/>
              <a:buChar char="-"/>
              <a:defRPr/>
            </a:pP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고객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거래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국가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금액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사유코드 등 주요 특성을 정의하여 </a:t>
            </a:r>
            <a:r>
              <a:rPr lang="en-US" altLang="ko-KR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</a:t>
            </a:r>
            <a:r>
              <a:rPr lang="ko-KR" altLang="en-US" sz="11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학습에 필요한 변수 확정</a:t>
            </a:r>
            <a:endParaRPr lang="en-US" altLang="ko-KR" sz="110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73038" indent="-173038" defTabSz="914400" fontAlgn="base"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학습 데이터셋 구성 및 탐지모델 적용 방안 수립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defTabSz="914400" fontAlgn="base">
              <a:spcBef>
                <a:spcPct val="0"/>
              </a:spcBef>
              <a:spcAft>
                <a:spcPts val="500"/>
              </a:spcAft>
              <a:defRPr/>
            </a:pPr>
            <a:r>
              <a:rPr lang="en-US" altLang="ko-KR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    -  </a:t>
            </a:r>
            <a:r>
              <a:rPr lang="ko-KR" altLang="en-US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데이터를 정제</a:t>
            </a:r>
            <a:r>
              <a:rPr lang="en-US" altLang="ko-KR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·</a:t>
            </a:r>
            <a:r>
              <a:rPr lang="ko-KR" altLang="en-US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가공하여 </a:t>
            </a:r>
            <a:r>
              <a:rPr lang="en-US" altLang="ko-KR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</a:t>
            </a:r>
            <a:r>
              <a:rPr lang="ko-KR" altLang="en-US" sz="120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학습용 데이터셋 구성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  <a:p>
            <a:pPr marL="173038" indent="-173038" defTabSz="914400" fontAlgn="base">
              <a:spcBef>
                <a:spcPct val="0"/>
              </a:spcBef>
              <a:spcAft>
                <a:spcPts val="5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외부 업체 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AI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기술</a:t>
            </a:r>
            <a:r>
              <a:rPr lang="en-US" altLang="ko-KR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, </a:t>
            </a:r>
            <a:r>
              <a:rPr lang="ko-KR" altLang="en-US" sz="1200" b="1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</a:rPr>
              <a:t>솔루션 검토</a:t>
            </a:r>
            <a:endParaRPr lang="en-US" altLang="ko-KR" sz="1200" b="1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</a:endParaRPr>
          </a:p>
        </p:txBody>
      </p:sp>
      <p:sp>
        <p:nvSpPr>
          <p:cNvPr id="15" name="직사각형 13">
            <a:extLst>
              <a:ext uri="{FF2B5EF4-FFF2-40B4-BE49-F238E27FC236}">
                <a16:creationId xmlns:a16="http://schemas.microsoft.com/office/drawing/2014/main" id="{28A785B1-0028-B2E5-7A9E-09E13C61D242}"/>
              </a:ext>
            </a:extLst>
          </p:cNvPr>
          <p:cNvSpPr/>
          <p:nvPr/>
        </p:nvSpPr>
        <p:spPr>
          <a:xfrm>
            <a:off x="6319798" y="4700006"/>
            <a:ext cx="3278227" cy="1592016"/>
          </a:xfrm>
          <a:prstGeom prst="rect">
            <a:avLst/>
          </a:prstGeom>
          <a:solidFill>
            <a:srgbClr val="E1D6C9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※  Feature : </a:t>
            </a:r>
            <a:r>
              <a:rPr lang="ko-KR" altLang="en-US" sz="10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고객</a:t>
            </a:r>
            <a:r>
              <a:rPr lang="en-US" altLang="ko-KR" sz="10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거래 데이터를 분석하기 위해 생성한 변수</a:t>
            </a:r>
            <a:endParaRPr lang="en-US" altLang="ko-KR" sz="1000" b="1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고객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업종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국가별 평균 거래금액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기간별 거래빈도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(1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개월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3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개월 등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  <a:p>
            <a:pPr marL="144000" indent="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거래목적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사유코드 등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  <a:p>
            <a:pPr marL="144000" indent="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상대 국가 변경 빈도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거래금액 증감률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…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AC816B0-D025-95F0-B7B4-1018F600D7A7}"/>
              </a:ext>
            </a:extLst>
          </p:cNvPr>
          <p:cNvGrpSpPr/>
          <p:nvPr/>
        </p:nvGrpSpPr>
        <p:grpSpPr>
          <a:xfrm>
            <a:off x="350241" y="2064728"/>
            <a:ext cx="5516303" cy="4174594"/>
            <a:chOff x="383821" y="2144369"/>
            <a:chExt cx="5466939" cy="4550109"/>
          </a:xfrm>
        </p:grpSpPr>
        <p:sp>
          <p:nvSpPr>
            <p:cNvPr id="17" name="Arrow: Pentagon 204">
              <a:extLst>
                <a:ext uri="{FF2B5EF4-FFF2-40B4-BE49-F238E27FC236}">
                  <a16:creationId xmlns:a16="http://schemas.microsoft.com/office/drawing/2014/main" id="{53D2E974-6234-1EC4-5C6A-47B417D808D4}"/>
                </a:ext>
              </a:extLst>
            </p:cNvPr>
            <p:cNvSpPr/>
            <p:nvPr/>
          </p:nvSpPr>
          <p:spPr>
            <a:xfrm>
              <a:off x="385483" y="2144369"/>
              <a:ext cx="5465277" cy="831913"/>
            </a:xfrm>
            <a:prstGeom prst="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0" tIns="36000" rIns="0" bIns="36000" rtlCol="0" anchor="b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함초롬돋움" panose="020B0604000101010101" pitchFamily="50" charset="-127"/>
              </a:endParaRPr>
            </a:p>
          </p:txBody>
        </p:sp>
        <p:sp>
          <p:nvSpPr>
            <p:cNvPr id="18" name="Arrow: Pentagon 204">
              <a:extLst>
                <a:ext uri="{FF2B5EF4-FFF2-40B4-BE49-F238E27FC236}">
                  <a16:creationId xmlns:a16="http://schemas.microsoft.com/office/drawing/2014/main" id="{B8173F8B-8BA9-28F6-EE17-9FE72AC4525C}"/>
                </a:ext>
              </a:extLst>
            </p:cNvPr>
            <p:cNvSpPr/>
            <p:nvPr/>
          </p:nvSpPr>
          <p:spPr>
            <a:xfrm>
              <a:off x="383822" y="3049806"/>
              <a:ext cx="5465277" cy="831913"/>
            </a:xfrm>
            <a:prstGeom prst="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0" tIns="36000" rIns="0" bIns="36000" rtlCol="0" anchor="b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함초롬돋움" panose="020B0604000101010101" pitchFamily="50" charset="-127"/>
              </a:endParaRPr>
            </a:p>
          </p:txBody>
        </p:sp>
        <p:sp>
          <p:nvSpPr>
            <p:cNvPr id="19" name="Arrow: Pentagon 204">
              <a:extLst>
                <a:ext uri="{FF2B5EF4-FFF2-40B4-BE49-F238E27FC236}">
                  <a16:creationId xmlns:a16="http://schemas.microsoft.com/office/drawing/2014/main" id="{4AA8E8DD-DA66-F838-89EE-75E4363919F8}"/>
                </a:ext>
              </a:extLst>
            </p:cNvPr>
            <p:cNvSpPr/>
            <p:nvPr/>
          </p:nvSpPr>
          <p:spPr>
            <a:xfrm>
              <a:off x="383822" y="3955243"/>
              <a:ext cx="5465277" cy="831913"/>
            </a:xfrm>
            <a:prstGeom prst="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0" tIns="36000" rIns="0" bIns="36000" rtlCol="0" anchor="b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함초롬돋움" panose="020B0604000101010101" pitchFamily="50" charset="-127"/>
              </a:endParaRPr>
            </a:p>
          </p:txBody>
        </p:sp>
        <p:sp>
          <p:nvSpPr>
            <p:cNvPr id="20" name="Arrow: Pentagon 204">
              <a:extLst>
                <a:ext uri="{FF2B5EF4-FFF2-40B4-BE49-F238E27FC236}">
                  <a16:creationId xmlns:a16="http://schemas.microsoft.com/office/drawing/2014/main" id="{012030BD-9A29-B707-F9B2-66FF5FCD51E2}"/>
                </a:ext>
              </a:extLst>
            </p:cNvPr>
            <p:cNvSpPr/>
            <p:nvPr/>
          </p:nvSpPr>
          <p:spPr>
            <a:xfrm>
              <a:off x="383822" y="4903546"/>
              <a:ext cx="5465277" cy="831913"/>
            </a:xfrm>
            <a:prstGeom prst="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0" tIns="36000" rIns="0" bIns="36000" rtlCol="0" anchor="b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함초롬돋움" panose="020B0604000101010101" pitchFamily="50" charset="-127"/>
              </a:endParaRPr>
            </a:p>
          </p:txBody>
        </p:sp>
        <p:sp>
          <p:nvSpPr>
            <p:cNvPr id="21" name="Arrow: Pentagon 204">
              <a:extLst>
                <a:ext uri="{FF2B5EF4-FFF2-40B4-BE49-F238E27FC236}">
                  <a16:creationId xmlns:a16="http://schemas.microsoft.com/office/drawing/2014/main" id="{E51CCB6E-C160-19C6-A553-2EE8C11BF489}"/>
                </a:ext>
              </a:extLst>
            </p:cNvPr>
            <p:cNvSpPr/>
            <p:nvPr/>
          </p:nvSpPr>
          <p:spPr>
            <a:xfrm>
              <a:off x="383821" y="5862561"/>
              <a:ext cx="5465277" cy="831917"/>
            </a:xfrm>
            <a:prstGeom prst="rect">
              <a:avLst/>
            </a:prstGeom>
            <a:noFill/>
            <a:ln w="317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lIns="0" tIns="36000" rIns="0" bIns="36000" rtlCol="0" anchor="b" anchorCtr="0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/>
                <a:ea typeface="나눔스퀘어"/>
                <a:cs typeface="함초롬돋움" panose="020B0604000101010101" pitchFamily="50" charset="-127"/>
              </a:endParaRPr>
            </a:p>
          </p:txBody>
        </p:sp>
      </p:grpSp>
      <p:sp>
        <p:nvSpPr>
          <p:cNvPr id="22" name="Rectangle: Top Corners Rounded 62">
            <a:extLst>
              <a:ext uri="{FF2B5EF4-FFF2-40B4-BE49-F238E27FC236}">
                <a16:creationId xmlns:a16="http://schemas.microsoft.com/office/drawing/2014/main" id="{0D95177C-BCA2-9D2A-99A3-ED2BAABF7752}"/>
              </a:ext>
            </a:extLst>
          </p:cNvPr>
          <p:cNvSpPr/>
          <p:nvPr/>
        </p:nvSpPr>
        <p:spPr>
          <a:xfrm>
            <a:off x="369036" y="2068849"/>
            <a:ext cx="730487" cy="750170"/>
          </a:xfrm>
          <a:prstGeom prst="rect">
            <a:avLst/>
          </a:prstGeom>
          <a:solidFill>
            <a:srgbClr val="FAE3E2"/>
          </a:solidFill>
          <a:ln w="10795" cap="flat" cmpd="sng" algn="ctr">
            <a:noFill/>
            <a:prstDash val="solid"/>
          </a:ln>
          <a:effectLst/>
        </p:spPr>
        <p:txBody>
          <a:bodyPr lIns="0" tIns="180000" rIns="0" bIns="91440" rtlCol="0" anchor="ctr" anchorCtr="0"/>
          <a:lstStyle/>
          <a:p>
            <a:pPr lvl="0" algn="ctr">
              <a:defRPr/>
            </a:pPr>
            <a:r>
              <a:rPr lang="en-US" altLang="ko-KR" sz="1100" b="1" kern="0" dirty="0"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100" b="1" kern="0" dirty="0">
                <a:solidFill>
                  <a:schemeClr val="bg1"/>
                </a:solidFill>
                <a:latin typeface="+mn-ea"/>
              </a:rPr>
              <a:t>학습 데이터 기반 준비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Rectangle: Top Corners Rounded 62">
            <a:extLst>
              <a:ext uri="{FF2B5EF4-FFF2-40B4-BE49-F238E27FC236}">
                <a16:creationId xmlns:a16="http://schemas.microsoft.com/office/drawing/2014/main" id="{EEA08EC1-4B3E-FBC3-FD16-5DA2BAB8B62B}"/>
              </a:ext>
            </a:extLst>
          </p:cNvPr>
          <p:cNvSpPr/>
          <p:nvPr/>
        </p:nvSpPr>
        <p:spPr>
          <a:xfrm>
            <a:off x="374167" y="2912976"/>
            <a:ext cx="730487" cy="726138"/>
          </a:xfrm>
          <a:prstGeom prst="rect">
            <a:avLst/>
          </a:prstGeom>
          <a:solidFill>
            <a:srgbClr val="FAE3E2"/>
          </a:solidFill>
          <a:ln w="10795" cap="flat" cmpd="sng" algn="ctr">
            <a:noFill/>
            <a:prstDash val="solid"/>
          </a:ln>
          <a:effectLst/>
        </p:spPr>
        <p:txBody>
          <a:bodyPr lIns="0" tIns="180000" rIns="0" bIns="91440" rtlCol="0" anchor="ctr" anchorCtr="0"/>
          <a:lstStyle/>
          <a:p>
            <a:pPr algn="ctr"/>
            <a:r>
              <a:rPr lang="ko-KR" altLang="en-US" sz="1100" b="1" kern="0" dirty="0">
                <a:solidFill>
                  <a:schemeClr val="bg1"/>
                </a:solidFill>
                <a:latin typeface="+mn-ea"/>
              </a:rPr>
              <a:t>현행 </a:t>
            </a:r>
            <a:r>
              <a:rPr lang="ko-KR" altLang="en-US" sz="1100" b="1" kern="0">
                <a:solidFill>
                  <a:schemeClr val="bg1"/>
                </a:solidFill>
                <a:latin typeface="+mn-ea"/>
              </a:rPr>
              <a:t>탐지 </a:t>
            </a:r>
            <a:r>
              <a:rPr lang="en-US" altLang="ko-KR" sz="1100" b="1" kern="0" dirty="0">
                <a:solidFill>
                  <a:schemeClr val="bg1"/>
                </a:solidFill>
                <a:latin typeface="+mn-ea"/>
              </a:rPr>
              <a:t>RULE </a:t>
            </a:r>
            <a:r>
              <a:rPr lang="ko-KR" altLang="en-US" sz="1100" b="1" kern="0" dirty="0">
                <a:solidFill>
                  <a:schemeClr val="bg1"/>
                </a:solidFill>
                <a:latin typeface="+mn-ea"/>
              </a:rPr>
              <a:t>분석</a:t>
            </a:r>
          </a:p>
        </p:txBody>
      </p:sp>
      <p:sp>
        <p:nvSpPr>
          <p:cNvPr id="24" name="Rectangle: Top Corners Rounded 62">
            <a:extLst>
              <a:ext uri="{FF2B5EF4-FFF2-40B4-BE49-F238E27FC236}">
                <a16:creationId xmlns:a16="http://schemas.microsoft.com/office/drawing/2014/main" id="{C38EBBF4-C032-8492-2CD4-96D78A3AA6AD}"/>
              </a:ext>
            </a:extLst>
          </p:cNvPr>
          <p:cNvSpPr/>
          <p:nvPr/>
        </p:nvSpPr>
        <p:spPr>
          <a:xfrm>
            <a:off x="369036" y="3744360"/>
            <a:ext cx="730487" cy="727411"/>
          </a:xfrm>
          <a:prstGeom prst="rect">
            <a:avLst/>
          </a:prstGeom>
          <a:solidFill>
            <a:srgbClr val="FAE3E2"/>
          </a:solidFill>
          <a:ln w="10795" cap="flat" cmpd="sng" algn="ctr">
            <a:noFill/>
            <a:prstDash val="solid"/>
          </a:ln>
          <a:effectLst/>
        </p:spPr>
        <p:txBody>
          <a:bodyPr lIns="0" tIns="180000" rIns="0" bIns="9144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학습용 </a:t>
            </a:r>
            <a:r>
              <a:rPr lang="en-US" altLang="ko-KR" sz="1100" b="1" kern="0" dirty="0">
                <a:solidFill>
                  <a:schemeClr val="bg1"/>
                </a:solidFill>
                <a:latin typeface="+mn-ea"/>
              </a:rPr>
              <a:t>Feature </a:t>
            </a:r>
            <a:r>
              <a:rPr lang="ko-KR" altLang="en-US" sz="1100" b="1" kern="0" dirty="0">
                <a:solidFill>
                  <a:schemeClr val="bg1"/>
                </a:solidFill>
                <a:latin typeface="+mn-ea"/>
              </a:rPr>
              <a:t>정의</a:t>
            </a:r>
            <a:r>
              <a:rPr lang="en-US" altLang="ko-KR" sz="1100" b="1" kern="0" dirty="0">
                <a:solidFill>
                  <a:schemeClr val="bg1"/>
                </a:solidFill>
                <a:latin typeface="+mn-ea"/>
              </a:rPr>
              <a:t> 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Rectangle: Top Corners Rounded 62">
            <a:extLst>
              <a:ext uri="{FF2B5EF4-FFF2-40B4-BE49-F238E27FC236}">
                <a16:creationId xmlns:a16="http://schemas.microsoft.com/office/drawing/2014/main" id="{D9716A57-5B32-313E-A68C-40605FB6FE03}"/>
              </a:ext>
            </a:extLst>
          </p:cNvPr>
          <p:cNvSpPr/>
          <p:nvPr/>
        </p:nvSpPr>
        <p:spPr>
          <a:xfrm>
            <a:off x="369036" y="5478064"/>
            <a:ext cx="730487" cy="751422"/>
          </a:xfrm>
          <a:prstGeom prst="rect">
            <a:avLst/>
          </a:prstGeom>
          <a:solidFill>
            <a:srgbClr val="FAE3E2"/>
          </a:solidFill>
          <a:ln w="10795" cap="flat" cmpd="sng" algn="ctr">
            <a:noFill/>
            <a:prstDash val="solid"/>
          </a:ln>
          <a:effectLst/>
        </p:spPr>
        <p:txBody>
          <a:bodyPr lIns="0" tIns="180000" rIns="0" bIns="9144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dirty="0">
                <a:solidFill>
                  <a:schemeClr val="bg1"/>
                </a:solidFill>
                <a:latin typeface="+mn-ea"/>
              </a:rPr>
              <a:t>탐지 모델 적용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Rectangle: Top Corners Rounded 62">
            <a:extLst>
              <a:ext uri="{FF2B5EF4-FFF2-40B4-BE49-F238E27FC236}">
                <a16:creationId xmlns:a16="http://schemas.microsoft.com/office/drawing/2014/main" id="{306C43BC-D3A3-0BB0-27AB-355680E5EA2A}"/>
              </a:ext>
            </a:extLst>
          </p:cNvPr>
          <p:cNvSpPr/>
          <p:nvPr/>
        </p:nvSpPr>
        <p:spPr>
          <a:xfrm>
            <a:off x="369036" y="4602963"/>
            <a:ext cx="730487" cy="746652"/>
          </a:xfrm>
          <a:prstGeom prst="rect">
            <a:avLst/>
          </a:prstGeom>
          <a:solidFill>
            <a:srgbClr val="FAE3E2"/>
          </a:solidFill>
          <a:ln w="10795" cap="flat" cmpd="sng" algn="ctr">
            <a:noFill/>
            <a:prstDash val="solid"/>
          </a:ln>
          <a:effectLst/>
        </p:spPr>
        <p:txBody>
          <a:bodyPr lIns="0" tIns="180000" rIns="0" bIns="9144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dirty="0">
                <a:solidFill>
                  <a:schemeClr val="bg1"/>
                </a:solidFill>
                <a:latin typeface="+mn-ea"/>
              </a:rPr>
              <a:t>학습용 데이터 셋 구성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직사각형 13">
            <a:extLst>
              <a:ext uri="{FF2B5EF4-FFF2-40B4-BE49-F238E27FC236}">
                <a16:creationId xmlns:a16="http://schemas.microsoft.com/office/drawing/2014/main" id="{A72C42C1-057B-B6F0-5ECE-F9470539B8E6}"/>
              </a:ext>
            </a:extLst>
          </p:cNvPr>
          <p:cNvSpPr/>
          <p:nvPr/>
        </p:nvSpPr>
        <p:spPr>
          <a:xfrm>
            <a:off x="1906513" y="2849206"/>
            <a:ext cx="2426952" cy="53894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당행 해외송금 이상거래 모니터링 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Rule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현재 운영중인 실시간 이상거래 탐지 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Rule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Rule 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목록 및 기준 정리</a:t>
            </a: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Rule 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기반 </a:t>
            </a:r>
            <a:r>
              <a:rPr lang="en-US" altLang="ko-KR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Feature </a:t>
            </a:r>
            <a:r>
              <a:rPr lang="ko-KR" altLang="en-US" sz="9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후보 도출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7207F90-328B-8349-9686-238646DFFD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/>
        </p:blipFill>
        <p:spPr>
          <a:xfrm>
            <a:off x="1231009" y="2995488"/>
            <a:ext cx="549270" cy="57395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29" name="직사각형 13">
            <a:extLst>
              <a:ext uri="{FF2B5EF4-FFF2-40B4-BE49-F238E27FC236}">
                <a16:creationId xmlns:a16="http://schemas.microsoft.com/office/drawing/2014/main" id="{2A279558-9D4C-0356-9F74-D6A3D86D63D1}"/>
              </a:ext>
            </a:extLst>
          </p:cNvPr>
          <p:cNvSpPr/>
          <p:nvPr/>
        </p:nvSpPr>
        <p:spPr>
          <a:xfrm>
            <a:off x="1906513" y="3746963"/>
            <a:ext cx="1953219" cy="7174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기존 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Rule Feature 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반영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고객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거래 특성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(Feature) 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정의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학습 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Feature 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최종 확정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Freeform 196">
            <a:extLst>
              <a:ext uri="{FF2B5EF4-FFF2-40B4-BE49-F238E27FC236}">
                <a16:creationId xmlns:a16="http://schemas.microsoft.com/office/drawing/2014/main" id="{A4795890-561A-7447-B2C8-84341DC976EA}"/>
              </a:ext>
            </a:extLst>
          </p:cNvPr>
          <p:cNvSpPr>
            <a:spLocks noEditPoints="1"/>
          </p:cNvSpPr>
          <p:nvPr/>
        </p:nvSpPr>
        <p:spPr bwMode="auto">
          <a:xfrm>
            <a:off x="1243044" y="3886526"/>
            <a:ext cx="537235" cy="488409"/>
          </a:xfrm>
          <a:custGeom>
            <a:avLst/>
            <a:gdLst>
              <a:gd name="T0" fmla="*/ 244 w 476"/>
              <a:gd name="T1" fmla="*/ 172 h 522"/>
              <a:gd name="T2" fmla="*/ 264 w 476"/>
              <a:gd name="T3" fmla="*/ 43 h 522"/>
              <a:gd name="T4" fmla="*/ 249 w 476"/>
              <a:gd name="T5" fmla="*/ 101 h 522"/>
              <a:gd name="T6" fmla="*/ 469 w 476"/>
              <a:gd name="T7" fmla="*/ 325 h 522"/>
              <a:gd name="T8" fmla="*/ 461 w 476"/>
              <a:gd name="T9" fmla="*/ 313 h 522"/>
              <a:gd name="T10" fmla="*/ 451 w 476"/>
              <a:gd name="T11" fmla="*/ 302 h 522"/>
              <a:gd name="T12" fmla="*/ 430 w 476"/>
              <a:gd name="T13" fmla="*/ 289 h 522"/>
              <a:gd name="T14" fmla="*/ 404 w 476"/>
              <a:gd name="T15" fmla="*/ 284 h 522"/>
              <a:gd name="T16" fmla="*/ 383 w 476"/>
              <a:gd name="T17" fmla="*/ 288 h 522"/>
              <a:gd name="T18" fmla="*/ 350 w 476"/>
              <a:gd name="T19" fmla="*/ 310 h 522"/>
              <a:gd name="T20" fmla="*/ 257 w 476"/>
              <a:gd name="T21" fmla="*/ 341 h 522"/>
              <a:gd name="T22" fmla="*/ 333 w 476"/>
              <a:gd name="T23" fmla="*/ 368 h 522"/>
              <a:gd name="T24" fmla="*/ 338 w 476"/>
              <a:gd name="T25" fmla="*/ 384 h 522"/>
              <a:gd name="T26" fmla="*/ 400 w 476"/>
              <a:gd name="T27" fmla="*/ 428 h 522"/>
              <a:gd name="T28" fmla="*/ 421 w 476"/>
              <a:gd name="T29" fmla="*/ 426 h 522"/>
              <a:gd name="T30" fmla="*/ 439 w 476"/>
              <a:gd name="T31" fmla="*/ 419 h 522"/>
              <a:gd name="T32" fmla="*/ 457 w 476"/>
              <a:gd name="T33" fmla="*/ 405 h 522"/>
              <a:gd name="T34" fmla="*/ 376 w 476"/>
              <a:gd name="T35" fmla="*/ 385 h 522"/>
              <a:gd name="T36" fmla="*/ 376 w 476"/>
              <a:gd name="T37" fmla="*/ 328 h 522"/>
              <a:gd name="T38" fmla="*/ 314 w 476"/>
              <a:gd name="T39" fmla="*/ 263 h 522"/>
              <a:gd name="T40" fmla="*/ 325 w 476"/>
              <a:gd name="T41" fmla="*/ 278 h 522"/>
              <a:gd name="T42" fmla="*/ 356 w 476"/>
              <a:gd name="T43" fmla="*/ 218 h 522"/>
              <a:gd name="T44" fmla="*/ 420 w 476"/>
              <a:gd name="T45" fmla="*/ 235 h 522"/>
              <a:gd name="T46" fmla="*/ 440 w 476"/>
              <a:gd name="T47" fmla="*/ 103 h 522"/>
              <a:gd name="T48" fmla="*/ 333 w 476"/>
              <a:gd name="T49" fmla="*/ 156 h 522"/>
              <a:gd name="T50" fmla="*/ 419 w 476"/>
              <a:gd name="T51" fmla="*/ 202 h 522"/>
              <a:gd name="T52" fmla="*/ 369 w 476"/>
              <a:gd name="T53" fmla="*/ 162 h 522"/>
              <a:gd name="T54" fmla="*/ 138 w 476"/>
              <a:gd name="T55" fmla="*/ 330 h 522"/>
              <a:gd name="T56" fmla="*/ 149 w 476"/>
              <a:gd name="T57" fmla="*/ 258 h 522"/>
              <a:gd name="T58" fmla="*/ 68 w 476"/>
              <a:gd name="T59" fmla="*/ 285 h 522"/>
              <a:gd name="T60" fmla="*/ 53 w 476"/>
              <a:gd name="T61" fmla="*/ 287 h 522"/>
              <a:gd name="T62" fmla="*/ 0 w 476"/>
              <a:gd name="T63" fmla="*/ 359 h 522"/>
              <a:gd name="T64" fmla="*/ 40 w 476"/>
              <a:gd name="T65" fmla="*/ 421 h 522"/>
              <a:gd name="T66" fmla="*/ 57 w 476"/>
              <a:gd name="T67" fmla="*/ 427 h 522"/>
              <a:gd name="T68" fmla="*/ 80 w 476"/>
              <a:gd name="T69" fmla="*/ 428 h 522"/>
              <a:gd name="T70" fmla="*/ 101 w 476"/>
              <a:gd name="T71" fmla="*/ 422 h 522"/>
              <a:gd name="T72" fmla="*/ 112 w 476"/>
              <a:gd name="T73" fmla="*/ 416 h 522"/>
              <a:gd name="T74" fmla="*/ 101 w 476"/>
              <a:gd name="T75" fmla="*/ 382 h 522"/>
              <a:gd name="T76" fmla="*/ 101 w 476"/>
              <a:gd name="T77" fmla="*/ 326 h 522"/>
              <a:gd name="T78" fmla="*/ 4 w 476"/>
              <a:gd name="T79" fmla="*/ 190 h 522"/>
              <a:gd name="T80" fmla="*/ 12 w 476"/>
              <a:gd name="T81" fmla="*/ 205 h 522"/>
              <a:gd name="T82" fmla="*/ 21 w 476"/>
              <a:gd name="T83" fmla="*/ 216 h 522"/>
              <a:gd name="T84" fmla="*/ 33 w 476"/>
              <a:gd name="T85" fmla="*/ 226 h 522"/>
              <a:gd name="T86" fmla="*/ 65 w 476"/>
              <a:gd name="T87" fmla="*/ 236 h 522"/>
              <a:gd name="T88" fmla="*/ 86 w 476"/>
              <a:gd name="T89" fmla="*/ 235 h 522"/>
              <a:gd name="T90" fmla="*/ 106 w 476"/>
              <a:gd name="T91" fmla="*/ 228 h 522"/>
              <a:gd name="T92" fmla="*/ 163 w 476"/>
              <a:gd name="T93" fmla="*/ 225 h 522"/>
              <a:gd name="T94" fmla="*/ 143 w 476"/>
              <a:gd name="T95" fmla="*/ 165 h 522"/>
              <a:gd name="T96" fmla="*/ 141 w 476"/>
              <a:gd name="T97" fmla="*/ 145 h 522"/>
              <a:gd name="T98" fmla="*/ 135 w 476"/>
              <a:gd name="T99" fmla="*/ 130 h 522"/>
              <a:gd name="T100" fmla="*/ 61 w 476"/>
              <a:gd name="T101" fmla="*/ 94 h 522"/>
              <a:gd name="T102" fmla="*/ 42 w 476"/>
              <a:gd name="T103" fmla="*/ 99 h 522"/>
              <a:gd name="T104" fmla="*/ 21 w 476"/>
              <a:gd name="T105" fmla="*/ 114 h 522"/>
              <a:gd name="T106" fmla="*/ 36 w 476"/>
              <a:gd name="T107" fmla="*/ 141 h 522"/>
              <a:gd name="T108" fmla="*/ 109 w 476"/>
              <a:gd name="T109" fmla="*/ 169 h 522"/>
              <a:gd name="T110" fmla="*/ 36 w 476"/>
              <a:gd name="T111" fmla="*/ 141 h 522"/>
              <a:gd name="T112" fmla="*/ 272 w 476"/>
              <a:gd name="T113" fmla="*/ 236 h 522"/>
              <a:gd name="T114" fmla="*/ 232 w 476"/>
              <a:gd name="T115" fmla="*/ 350 h 522"/>
              <a:gd name="T116" fmla="*/ 226 w 476"/>
              <a:gd name="T117" fmla="*/ 479 h 522"/>
              <a:gd name="T118" fmla="*/ 211 w 476"/>
              <a:gd name="T119" fmla="*/ 421 h 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76" h="522">
                <a:moveTo>
                  <a:pt x="232" y="143"/>
                </a:moveTo>
                <a:cubicBezTo>
                  <a:pt x="232" y="178"/>
                  <a:pt x="232" y="178"/>
                  <a:pt x="232" y="178"/>
                </a:cubicBezTo>
                <a:cubicBezTo>
                  <a:pt x="232" y="181"/>
                  <a:pt x="234" y="184"/>
                  <a:pt x="237" y="184"/>
                </a:cubicBezTo>
                <a:cubicBezTo>
                  <a:pt x="237" y="184"/>
                  <a:pt x="237" y="184"/>
                  <a:pt x="238" y="184"/>
                </a:cubicBezTo>
                <a:cubicBezTo>
                  <a:pt x="238" y="184"/>
                  <a:pt x="239" y="184"/>
                  <a:pt x="240" y="184"/>
                </a:cubicBezTo>
                <a:cubicBezTo>
                  <a:pt x="240" y="184"/>
                  <a:pt x="240" y="184"/>
                  <a:pt x="240" y="184"/>
                </a:cubicBezTo>
                <a:cubicBezTo>
                  <a:pt x="259" y="184"/>
                  <a:pt x="276" y="192"/>
                  <a:pt x="290" y="204"/>
                </a:cubicBezTo>
                <a:cubicBezTo>
                  <a:pt x="291" y="205"/>
                  <a:pt x="292" y="206"/>
                  <a:pt x="294" y="206"/>
                </a:cubicBezTo>
                <a:cubicBezTo>
                  <a:pt x="296" y="206"/>
                  <a:pt x="297" y="205"/>
                  <a:pt x="299" y="204"/>
                </a:cubicBezTo>
                <a:cubicBezTo>
                  <a:pt x="301" y="201"/>
                  <a:pt x="300" y="197"/>
                  <a:pt x="298" y="195"/>
                </a:cubicBezTo>
                <a:cubicBezTo>
                  <a:pt x="283" y="181"/>
                  <a:pt x="264" y="173"/>
                  <a:pt x="244" y="172"/>
                </a:cubicBezTo>
                <a:cubicBezTo>
                  <a:pt x="244" y="143"/>
                  <a:pt x="244" y="143"/>
                  <a:pt x="244" y="143"/>
                </a:cubicBezTo>
                <a:cubicBezTo>
                  <a:pt x="281" y="140"/>
                  <a:pt x="310" y="109"/>
                  <a:pt x="310" y="71"/>
                </a:cubicBezTo>
                <a:cubicBezTo>
                  <a:pt x="310" y="32"/>
                  <a:pt x="278" y="0"/>
                  <a:pt x="238" y="0"/>
                </a:cubicBezTo>
                <a:cubicBezTo>
                  <a:pt x="198" y="0"/>
                  <a:pt x="166" y="32"/>
                  <a:pt x="166" y="71"/>
                </a:cubicBezTo>
                <a:cubicBezTo>
                  <a:pt x="166" y="109"/>
                  <a:pt x="195" y="140"/>
                  <a:pt x="232" y="143"/>
                </a:cubicBezTo>
                <a:close/>
                <a:moveTo>
                  <a:pt x="202" y="47"/>
                </a:moveTo>
                <a:cubicBezTo>
                  <a:pt x="207" y="38"/>
                  <a:pt x="217" y="26"/>
                  <a:pt x="236" y="26"/>
                </a:cubicBezTo>
                <a:cubicBezTo>
                  <a:pt x="257" y="26"/>
                  <a:pt x="251" y="32"/>
                  <a:pt x="271" y="31"/>
                </a:cubicBezTo>
                <a:cubicBezTo>
                  <a:pt x="273" y="31"/>
                  <a:pt x="267" y="38"/>
                  <a:pt x="266" y="43"/>
                </a:cubicBezTo>
                <a:cubicBezTo>
                  <a:pt x="266" y="43"/>
                  <a:pt x="266" y="43"/>
                  <a:pt x="265" y="43"/>
                </a:cubicBezTo>
                <a:cubicBezTo>
                  <a:pt x="265" y="43"/>
                  <a:pt x="265" y="43"/>
                  <a:pt x="264" y="43"/>
                </a:cubicBezTo>
                <a:cubicBezTo>
                  <a:pt x="265" y="46"/>
                  <a:pt x="265" y="51"/>
                  <a:pt x="266" y="52"/>
                </a:cubicBezTo>
                <a:cubicBezTo>
                  <a:pt x="266" y="54"/>
                  <a:pt x="267" y="56"/>
                  <a:pt x="267" y="57"/>
                </a:cubicBezTo>
                <a:cubicBezTo>
                  <a:pt x="267" y="59"/>
                  <a:pt x="268" y="60"/>
                  <a:pt x="268" y="61"/>
                </a:cubicBezTo>
                <a:cubicBezTo>
                  <a:pt x="269" y="64"/>
                  <a:pt x="270" y="66"/>
                  <a:pt x="271" y="67"/>
                </a:cubicBezTo>
                <a:cubicBezTo>
                  <a:pt x="271" y="68"/>
                  <a:pt x="272" y="68"/>
                  <a:pt x="272" y="68"/>
                </a:cubicBezTo>
                <a:cubicBezTo>
                  <a:pt x="274" y="71"/>
                  <a:pt x="276" y="73"/>
                  <a:pt x="276" y="75"/>
                </a:cubicBezTo>
                <a:cubicBezTo>
                  <a:pt x="275" y="76"/>
                  <a:pt x="274" y="80"/>
                  <a:pt x="267" y="80"/>
                </a:cubicBezTo>
                <a:cubicBezTo>
                  <a:pt x="268" y="83"/>
                  <a:pt x="268" y="88"/>
                  <a:pt x="268" y="91"/>
                </a:cubicBezTo>
                <a:cubicBezTo>
                  <a:pt x="268" y="91"/>
                  <a:pt x="268" y="91"/>
                  <a:pt x="268" y="91"/>
                </a:cubicBezTo>
                <a:cubicBezTo>
                  <a:pt x="268" y="96"/>
                  <a:pt x="267" y="99"/>
                  <a:pt x="265" y="100"/>
                </a:cubicBezTo>
                <a:cubicBezTo>
                  <a:pt x="263" y="101"/>
                  <a:pt x="257" y="102"/>
                  <a:pt x="249" y="101"/>
                </a:cubicBezTo>
                <a:cubicBezTo>
                  <a:pt x="249" y="115"/>
                  <a:pt x="249" y="115"/>
                  <a:pt x="249" y="115"/>
                </a:cubicBezTo>
                <a:cubicBezTo>
                  <a:pt x="249" y="116"/>
                  <a:pt x="248" y="117"/>
                  <a:pt x="247" y="117"/>
                </a:cubicBezTo>
                <a:cubicBezTo>
                  <a:pt x="246" y="117"/>
                  <a:pt x="229" y="117"/>
                  <a:pt x="216" y="111"/>
                </a:cubicBezTo>
                <a:cubicBezTo>
                  <a:pt x="215" y="111"/>
                  <a:pt x="214" y="110"/>
                  <a:pt x="214" y="109"/>
                </a:cubicBezTo>
                <a:cubicBezTo>
                  <a:pt x="214" y="89"/>
                  <a:pt x="214" y="89"/>
                  <a:pt x="214" y="89"/>
                </a:cubicBezTo>
                <a:cubicBezTo>
                  <a:pt x="208" y="83"/>
                  <a:pt x="194" y="65"/>
                  <a:pt x="202" y="47"/>
                </a:cubicBezTo>
                <a:close/>
                <a:moveTo>
                  <a:pt x="471" y="331"/>
                </a:moveTo>
                <a:cubicBezTo>
                  <a:pt x="471" y="330"/>
                  <a:pt x="470" y="329"/>
                  <a:pt x="470" y="328"/>
                </a:cubicBezTo>
                <a:cubicBezTo>
                  <a:pt x="470" y="328"/>
                  <a:pt x="470" y="328"/>
                  <a:pt x="470" y="328"/>
                </a:cubicBezTo>
                <a:cubicBezTo>
                  <a:pt x="470" y="327"/>
                  <a:pt x="469" y="326"/>
                  <a:pt x="469" y="325"/>
                </a:cubicBezTo>
                <a:cubicBezTo>
                  <a:pt x="469" y="325"/>
                  <a:pt x="469" y="325"/>
                  <a:pt x="469" y="325"/>
                </a:cubicBezTo>
                <a:cubicBezTo>
                  <a:pt x="468" y="324"/>
                  <a:pt x="468" y="323"/>
                  <a:pt x="467" y="322"/>
                </a:cubicBezTo>
                <a:cubicBezTo>
                  <a:pt x="467" y="322"/>
                  <a:pt x="467" y="322"/>
                  <a:pt x="467" y="322"/>
                </a:cubicBezTo>
                <a:cubicBezTo>
                  <a:pt x="467" y="321"/>
                  <a:pt x="466" y="321"/>
                  <a:pt x="466" y="320"/>
                </a:cubicBezTo>
                <a:cubicBezTo>
                  <a:pt x="466" y="320"/>
                  <a:pt x="466" y="319"/>
                  <a:pt x="465" y="319"/>
                </a:cubicBezTo>
                <a:cubicBezTo>
                  <a:pt x="465" y="319"/>
                  <a:pt x="465" y="319"/>
                  <a:pt x="465" y="319"/>
                </a:cubicBezTo>
                <a:cubicBezTo>
                  <a:pt x="465" y="318"/>
                  <a:pt x="464" y="317"/>
                  <a:pt x="464" y="316"/>
                </a:cubicBezTo>
                <a:cubicBezTo>
                  <a:pt x="464" y="316"/>
                  <a:pt x="464" y="316"/>
                  <a:pt x="464" y="316"/>
                </a:cubicBezTo>
                <a:cubicBezTo>
                  <a:pt x="463" y="316"/>
                  <a:pt x="463" y="316"/>
                  <a:pt x="463" y="316"/>
                </a:cubicBezTo>
                <a:cubicBezTo>
                  <a:pt x="463" y="316"/>
                  <a:pt x="463" y="315"/>
                  <a:pt x="463" y="315"/>
                </a:cubicBezTo>
                <a:cubicBezTo>
                  <a:pt x="462" y="315"/>
                  <a:pt x="462" y="314"/>
                  <a:pt x="462" y="313"/>
                </a:cubicBezTo>
                <a:cubicBezTo>
                  <a:pt x="461" y="313"/>
                  <a:pt x="461" y="313"/>
                  <a:pt x="461" y="313"/>
                </a:cubicBezTo>
                <a:cubicBezTo>
                  <a:pt x="461" y="312"/>
                  <a:pt x="461" y="312"/>
                  <a:pt x="460" y="312"/>
                </a:cubicBezTo>
                <a:cubicBezTo>
                  <a:pt x="460" y="312"/>
                  <a:pt x="460" y="311"/>
                  <a:pt x="460" y="311"/>
                </a:cubicBezTo>
                <a:cubicBezTo>
                  <a:pt x="459" y="310"/>
                  <a:pt x="459" y="310"/>
                  <a:pt x="459" y="310"/>
                </a:cubicBezTo>
                <a:cubicBezTo>
                  <a:pt x="458" y="309"/>
                  <a:pt x="458" y="309"/>
                  <a:pt x="458" y="309"/>
                </a:cubicBezTo>
                <a:cubicBezTo>
                  <a:pt x="458" y="309"/>
                  <a:pt x="458" y="309"/>
                  <a:pt x="457" y="308"/>
                </a:cubicBezTo>
                <a:cubicBezTo>
                  <a:pt x="457" y="308"/>
                  <a:pt x="456" y="307"/>
                  <a:pt x="456" y="306"/>
                </a:cubicBezTo>
                <a:cubicBezTo>
                  <a:pt x="455" y="306"/>
                  <a:pt x="455" y="306"/>
                  <a:pt x="455" y="306"/>
                </a:cubicBezTo>
                <a:cubicBezTo>
                  <a:pt x="455" y="306"/>
                  <a:pt x="455" y="306"/>
                  <a:pt x="455" y="306"/>
                </a:cubicBezTo>
                <a:cubicBezTo>
                  <a:pt x="455" y="305"/>
                  <a:pt x="454" y="305"/>
                  <a:pt x="454" y="304"/>
                </a:cubicBezTo>
                <a:cubicBezTo>
                  <a:pt x="453" y="304"/>
                  <a:pt x="453" y="304"/>
                  <a:pt x="453" y="304"/>
                </a:cubicBezTo>
                <a:cubicBezTo>
                  <a:pt x="452" y="303"/>
                  <a:pt x="452" y="303"/>
                  <a:pt x="451" y="302"/>
                </a:cubicBezTo>
                <a:cubicBezTo>
                  <a:pt x="451" y="302"/>
                  <a:pt x="451" y="302"/>
                  <a:pt x="451" y="302"/>
                </a:cubicBezTo>
                <a:cubicBezTo>
                  <a:pt x="449" y="300"/>
                  <a:pt x="447" y="299"/>
                  <a:pt x="445" y="297"/>
                </a:cubicBezTo>
                <a:cubicBezTo>
                  <a:pt x="445" y="297"/>
                  <a:pt x="445" y="297"/>
                  <a:pt x="445" y="297"/>
                </a:cubicBezTo>
                <a:cubicBezTo>
                  <a:pt x="444" y="297"/>
                  <a:pt x="443" y="296"/>
                  <a:pt x="443" y="296"/>
                </a:cubicBezTo>
                <a:cubicBezTo>
                  <a:pt x="443" y="296"/>
                  <a:pt x="443" y="296"/>
                  <a:pt x="442" y="296"/>
                </a:cubicBezTo>
                <a:cubicBezTo>
                  <a:pt x="442" y="295"/>
                  <a:pt x="441" y="295"/>
                  <a:pt x="440" y="294"/>
                </a:cubicBezTo>
                <a:cubicBezTo>
                  <a:pt x="440" y="294"/>
                  <a:pt x="440" y="294"/>
                  <a:pt x="440" y="294"/>
                </a:cubicBezTo>
                <a:cubicBezTo>
                  <a:pt x="438" y="293"/>
                  <a:pt x="435" y="292"/>
                  <a:pt x="433" y="291"/>
                </a:cubicBezTo>
                <a:cubicBezTo>
                  <a:pt x="433" y="291"/>
                  <a:pt x="433" y="291"/>
                  <a:pt x="433" y="291"/>
                </a:cubicBezTo>
                <a:cubicBezTo>
                  <a:pt x="432" y="290"/>
                  <a:pt x="431" y="290"/>
                  <a:pt x="431" y="290"/>
                </a:cubicBezTo>
                <a:cubicBezTo>
                  <a:pt x="430" y="290"/>
                  <a:pt x="430" y="290"/>
                  <a:pt x="430" y="289"/>
                </a:cubicBezTo>
                <a:cubicBezTo>
                  <a:pt x="427" y="288"/>
                  <a:pt x="423" y="287"/>
                  <a:pt x="420" y="286"/>
                </a:cubicBezTo>
                <a:cubicBezTo>
                  <a:pt x="420" y="286"/>
                  <a:pt x="420" y="286"/>
                  <a:pt x="420" y="286"/>
                </a:cubicBezTo>
                <a:cubicBezTo>
                  <a:pt x="419" y="286"/>
                  <a:pt x="418" y="286"/>
                  <a:pt x="417" y="286"/>
                </a:cubicBezTo>
                <a:cubicBezTo>
                  <a:pt x="417" y="286"/>
                  <a:pt x="417" y="286"/>
                  <a:pt x="416" y="286"/>
                </a:cubicBezTo>
                <a:cubicBezTo>
                  <a:pt x="416" y="286"/>
                  <a:pt x="416" y="286"/>
                  <a:pt x="416" y="286"/>
                </a:cubicBezTo>
                <a:cubicBezTo>
                  <a:pt x="416" y="285"/>
                  <a:pt x="415" y="285"/>
                  <a:pt x="414" y="285"/>
                </a:cubicBezTo>
                <a:cubicBezTo>
                  <a:pt x="413" y="285"/>
                  <a:pt x="413" y="285"/>
                  <a:pt x="412" y="285"/>
                </a:cubicBezTo>
                <a:cubicBezTo>
                  <a:pt x="412" y="285"/>
                  <a:pt x="411" y="285"/>
                  <a:pt x="411" y="285"/>
                </a:cubicBezTo>
                <a:cubicBezTo>
                  <a:pt x="410" y="285"/>
                  <a:pt x="409" y="285"/>
                  <a:pt x="408" y="285"/>
                </a:cubicBezTo>
                <a:cubicBezTo>
                  <a:pt x="408" y="285"/>
                  <a:pt x="408" y="285"/>
                  <a:pt x="407" y="285"/>
                </a:cubicBezTo>
                <a:cubicBezTo>
                  <a:pt x="406" y="285"/>
                  <a:pt x="405" y="284"/>
                  <a:pt x="404" y="284"/>
                </a:cubicBezTo>
                <a:cubicBezTo>
                  <a:pt x="404" y="284"/>
                  <a:pt x="403" y="285"/>
                  <a:pt x="402" y="285"/>
                </a:cubicBezTo>
                <a:cubicBezTo>
                  <a:pt x="402" y="285"/>
                  <a:pt x="402" y="285"/>
                  <a:pt x="402" y="285"/>
                </a:cubicBezTo>
                <a:cubicBezTo>
                  <a:pt x="401" y="285"/>
                  <a:pt x="401" y="285"/>
                  <a:pt x="400" y="285"/>
                </a:cubicBezTo>
                <a:cubicBezTo>
                  <a:pt x="400" y="285"/>
                  <a:pt x="400" y="285"/>
                  <a:pt x="400" y="285"/>
                </a:cubicBezTo>
                <a:cubicBezTo>
                  <a:pt x="400" y="285"/>
                  <a:pt x="400" y="285"/>
                  <a:pt x="400" y="285"/>
                </a:cubicBezTo>
                <a:cubicBezTo>
                  <a:pt x="399" y="285"/>
                  <a:pt x="399" y="285"/>
                  <a:pt x="398" y="285"/>
                </a:cubicBezTo>
                <a:cubicBezTo>
                  <a:pt x="398" y="285"/>
                  <a:pt x="398" y="285"/>
                  <a:pt x="398" y="285"/>
                </a:cubicBezTo>
                <a:cubicBezTo>
                  <a:pt x="397" y="285"/>
                  <a:pt x="395" y="285"/>
                  <a:pt x="394" y="285"/>
                </a:cubicBezTo>
                <a:cubicBezTo>
                  <a:pt x="394" y="285"/>
                  <a:pt x="394" y="285"/>
                  <a:pt x="394" y="285"/>
                </a:cubicBezTo>
                <a:cubicBezTo>
                  <a:pt x="390" y="286"/>
                  <a:pt x="387" y="286"/>
                  <a:pt x="383" y="288"/>
                </a:cubicBezTo>
                <a:cubicBezTo>
                  <a:pt x="383" y="288"/>
                  <a:pt x="383" y="288"/>
                  <a:pt x="383" y="288"/>
                </a:cubicBezTo>
                <a:cubicBezTo>
                  <a:pt x="383" y="288"/>
                  <a:pt x="382" y="288"/>
                  <a:pt x="382" y="288"/>
                </a:cubicBezTo>
                <a:cubicBezTo>
                  <a:pt x="381" y="288"/>
                  <a:pt x="381" y="288"/>
                  <a:pt x="381" y="288"/>
                </a:cubicBezTo>
                <a:cubicBezTo>
                  <a:pt x="378" y="289"/>
                  <a:pt x="376" y="290"/>
                  <a:pt x="373" y="291"/>
                </a:cubicBezTo>
                <a:cubicBezTo>
                  <a:pt x="373" y="291"/>
                  <a:pt x="373" y="292"/>
                  <a:pt x="373" y="292"/>
                </a:cubicBezTo>
                <a:cubicBezTo>
                  <a:pt x="372" y="292"/>
                  <a:pt x="371" y="292"/>
                  <a:pt x="370" y="293"/>
                </a:cubicBezTo>
                <a:cubicBezTo>
                  <a:pt x="370" y="293"/>
                  <a:pt x="370" y="293"/>
                  <a:pt x="370" y="293"/>
                </a:cubicBezTo>
                <a:cubicBezTo>
                  <a:pt x="364" y="296"/>
                  <a:pt x="358" y="301"/>
                  <a:pt x="352" y="306"/>
                </a:cubicBezTo>
                <a:cubicBezTo>
                  <a:pt x="352" y="307"/>
                  <a:pt x="352" y="307"/>
                  <a:pt x="351" y="307"/>
                </a:cubicBezTo>
                <a:cubicBezTo>
                  <a:pt x="351" y="307"/>
                  <a:pt x="351" y="307"/>
                  <a:pt x="351" y="307"/>
                </a:cubicBezTo>
                <a:cubicBezTo>
                  <a:pt x="351" y="308"/>
                  <a:pt x="350" y="309"/>
                  <a:pt x="350" y="309"/>
                </a:cubicBezTo>
                <a:cubicBezTo>
                  <a:pt x="350" y="309"/>
                  <a:pt x="350" y="309"/>
                  <a:pt x="350" y="310"/>
                </a:cubicBezTo>
                <a:cubicBezTo>
                  <a:pt x="349" y="310"/>
                  <a:pt x="349" y="311"/>
                  <a:pt x="348" y="311"/>
                </a:cubicBezTo>
                <a:cubicBezTo>
                  <a:pt x="348" y="311"/>
                  <a:pt x="348" y="311"/>
                  <a:pt x="348" y="311"/>
                </a:cubicBezTo>
                <a:cubicBezTo>
                  <a:pt x="347" y="312"/>
                  <a:pt x="347" y="312"/>
                  <a:pt x="347" y="313"/>
                </a:cubicBezTo>
                <a:cubicBezTo>
                  <a:pt x="347" y="313"/>
                  <a:pt x="346" y="313"/>
                  <a:pt x="346" y="313"/>
                </a:cubicBezTo>
                <a:cubicBezTo>
                  <a:pt x="346" y="314"/>
                  <a:pt x="345" y="315"/>
                  <a:pt x="345" y="315"/>
                </a:cubicBezTo>
                <a:cubicBezTo>
                  <a:pt x="332" y="308"/>
                  <a:pt x="321" y="301"/>
                  <a:pt x="312" y="296"/>
                </a:cubicBezTo>
                <a:cubicBezTo>
                  <a:pt x="309" y="295"/>
                  <a:pt x="306" y="296"/>
                  <a:pt x="305" y="298"/>
                </a:cubicBezTo>
                <a:cubicBezTo>
                  <a:pt x="304" y="299"/>
                  <a:pt x="303" y="300"/>
                  <a:pt x="303" y="301"/>
                </a:cubicBezTo>
                <a:cubicBezTo>
                  <a:pt x="303" y="301"/>
                  <a:pt x="303" y="301"/>
                  <a:pt x="303" y="301"/>
                </a:cubicBezTo>
                <a:cubicBezTo>
                  <a:pt x="293" y="317"/>
                  <a:pt x="278" y="328"/>
                  <a:pt x="261" y="334"/>
                </a:cubicBezTo>
                <a:cubicBezTo>
                  <a:pt x="258" y="335"/>
                  <a:pt x="256" y="338"/>
                  <a:pt x="257" y="341"/>
                </a:cubicBezTo>
                <a:cubicBezTo>
                  <a:pt x="257" y="344"/>
                  <a:pt x="260" y="346"/>
                  <a:pt x="263" y="346"/>
                </a:cubicBezTo>
                <a:cubicBezTo>
                  <a:pt x="263" y="346"/>
                  <a:pt x="264" y="346"/>
                  <a:pt x="264" y="346"/>
                </a:cubicBezTo>
                <a:cubicBezTo>
                  <a:pt x="284" y="339"/>
                  <a:pt x="300" y="327"/>
                  <a:pt x="312" y="310"/>
                </a:cubicBezTo>
                <a:cubicBezTo>
                  <a:pt x="339" y="326"/>
                  <a:pt x="339" y="326"/>
                  <a:pt x="339" y="326"/>
                </a:cubicBezTo>
                <a:cubicBezTo>
                  <a:pt x="334" y="335"/>
                  <a:pt x="332" y="345"/>
                  <a:pt x="332" y="356"/>
                </a:cubicBezTo>
                <a:cubicBezTo>
                  <a:pt x="332" y="357"/>
                  <a:pt x="332" y="358"/>
                  <a:pt x="332" y="359"/>
                </a:cubicBezTo>
                <a:cubicBezTo>
                  <a:pt x="332" y="360"/>
                  <a:pt x="332" y="360"/>
                  <a:pt x="332" y="360"/>
                </a:cubicBezTo>
                <a:cubicBezTo>
                  <a:pt x="332" y="361"/>
                  <a:pt x="332" y="362"/>
                  <a:pt x="333" y="363"/>
                </a:cubicBezTo>
                <a:cubicBezTo>
                  <a:pt x="333" y="363"/>
                  <a:pt x="333" y="363"/>
                  <a:pt x="333" y="364"/>
                </a:cubicBezTo>
                <a:cubicBezTo>
                  <a:pt x="333" y="365"/>
                  <a:pt x="333" y="366"/>
                  <a:pt x="333" y="367"/>
                </a:cubicBezTo>
                <a:cubicBezTo>
                  <a:pt x="333" y="367"/>
                  <a:pt x="333" y="368"/>
                  <a:pt x="333" y="368"/>
                </a:cubicBezTo>
                <a:cubicBezTo>
                  <a:pt x="333" y="369"/>
                  <a:pt x="333" y="369"/>
                  <a:pt x="333" y="370"/>
                </a:cubicBezTo>
                <a:cubicBezTo>
                  <a:pt x="334" y="370"/>
                  <a:pt x="334" y="371"/>
                  <a:pt x="334" y="372"/>
                </a:cubicBezTo>
                <a:cubicBezTo>
                  <a:pt x="334" y="372"/>
                  <a:pt x="334" y="372"/>
                  <a:pt x="334" y="372"/>
                </a:cubicBezTo>
                <a:cubicBezTo>
                  <a:pt x="334" y="374"/>
                  <a:pt x="335" y="375"/>
                  <a:pt x="335" y="377"/>
                </a:cubicBezTo>
                <a:cubicBezTo>
                  <a:pt x="335" y="377"/>
                  <a:pt x="335" y="377"/>
                  <a:pt x="335" y="377"/>
                </a:cubicBezTo>
                <a:cubicBezTo>
                  <a:pt x="335" y="378"/>
                  <a:pt x="336" y="378"/>
                  <a:pt x="336" y="379"/>
                </a:cubicBezTo>
                <a:cubicBezTo>
                  <a:pt x="336" y="380"/>
                  <a:pt x="336" y="380"/>
                  <a:pt x="336" y="380"/>
                </a:cubicBezTo>
                <a:cubicBezTo>
                  <a:pt x="336" y="380"/>
                  <a:pt x="336" y="380"/>
                  <a:pt x="336" y="380"/>
                </a:cubicBezTo>
                <a:cubicBezTo>
                  <a:pt x="337" y="381"/>
                  <a:pt x="337" y="381"/>
                  <a:pt x="337" y="382"/>
                </a:cubicBezTo>
                <a:cubicBezTo>
                  <a:pt x="337" y="382"/>
                  <a:pt x="337" y="382"/>
                  <a:pt x="337" y="383"/>
                </a:cubicBezTo>
                <a:cubicBezTo>
                  <a:pt x="337" y="383"/>
                  <a:pt x="338" y="384"/>
                  <a:pt x="338" y="384"/>
                </a:cubicBezTo>
                <a:cubicBezTo>
                  <a:pt x="338" y="384"/>
                  <a:pt x="338" y="384"/>
                  <a:pt x="338" y="385"/>
                </a:cubicBezTo>
                <a:cubicBezTo>
                  <a:pt x="338" y="385"/>
                  <a:pt x="339" y="386"/>
                  <a:pt x="339" y="387"/>
                </a:cubicBezTo>
                <a:cubicBezTo>
                  <a:pt x="339" y="387"/>
                  <a:pt x="339" y="387"/>
                  <a:pt x="339" y="388"/>
                </a:cubicBezTo>
                <a:cubicBezTo>
                  <a:pt x="349" y="407"/>
                  <a:pt x="367" y="422"/>
                  <a:pt x="389" y="427"/>
                </a:cubicBezTo>
                <a:cubicBezTo>
                  <a:pt x="390" y="427"/>
                  <a:pt x="390" y="427"/>
                  <a:pt x="390" y="427"/>
                </a:cubicBezTo>
                <a:cubicBezTo>
                  <a:pt x="391" y="427"/>
                  <a:pt x="392" y="427"/>
                  <a:pt x="393" y="427"/>
                </a:cubicBezTo>
                <a:cubicBezTo>
                  <a:pt x="393" y="427"/>
                  <a:pt x="393" y="427"/>
                  <a:pt x="393" y="427"/>
                </a:cubicBezTo>
                <a:cubicBezTo>
                  <a:pt x="393" y="427"/>
                  <a:pt x="393" y="427"/>
                  <a:pt x="393" y="427"/>
                </a:cubicBezTo>
                <a:cubicBezTo>
                  <a:pt x="394" y="427"/>
                  <a:pt x="395" y="427"/>
                  <a:pt x="395" y="428"/>
                </a:cubicBezTo>
                <a:cubicBezTo>
                  <a:pt x="396" y="428"/>
                  <a:pt x="397" y="428"/>
                  <a:pt x="399" y="428"/>
                </a:cubicBezTo>
                <a:cubicBezTo>
                  <a:pt x="399" y="428"/>
                  <a:pt x="399" y="428"/>
                  <a:pt x="400" y="428"/>
                </a:cubicBezTo>
                <a:cubicBezTo>
                  <a:pt x="400" y="428"/>
                  <a:pt x="401" y="428"/>
                  <a:pt x="401" y="428"/>
                </a:cubicBezTo>
                <a:cubicBezTo>
                  <a:pt x="402" y="428"/>
                  <a:pt x="403" y="428"/>
                  <a:pt x="404" y="428"/>
                </a:cubicBezTo>
                <a:cubicBezTo>
                  <a:pt x="405" y="428"/>
                  <a:pt x="406" y="428"/>
                  <a:pt x="408" y="428"/>
                </a:cubicBezTo>
                <a:cubicBezTo>
                  <a:pt x="408" y="428"/>
                  <a:pt x="408" y="428"/>
                  <a:pt x="409" y="428"/>
                </a:cubicBezTo>
                <a:cubicBezTo>
                  <a:pt x="409" y="428"/>
                  <a:pt x="410" y="428"/>
                  <a:pt x="411" y="428"/>
                </a:cubicBezTo>
                <a:cubicBezTo>
                  <a:pt x="411" y="428"/>
                  <a:pt x="412" y="428"/>
                  <a:pt x="412" y="428"/>
                </a:cubicBezTo>
                <a:cubicBezTo>
                  <a:pt x="413" y="428"/>
                  <a:pt x="414" y="427"/>
                  <a:pt x="414" y="427"/>
                </a:cubicBezTo>
                <a:cubicBezTo>
                  <a:pt x="415" y="427"/>
                  <a:pt x="415" y="427"/>
                  <a:pt x="416" y="427"/>
                </a:cubicBezTo>
                <a:cubicBezTo>
                  <a:pt x="416" y="427"/>
                  <a:pt x="417" y="427"/>
                  <a:pt x="418" y="427"/>
                </a:cubicBezTo>
                <a:cubicBezTo>
                  <a:pt x="418" y="427"/>
                  <a:pt x="419" y="427"/>
                  <a:pt x="419" y="427"/>
                </a:cubicBezTo>
                <a:cubicBezTo>
                  <a:pt x="420" y="426"/>
                  <a:pt x="420" y="426"/>
                  <a:pt x="421" y="426"/>
                </a:cubicBezTo>
                <a:cubicBezTo>
                  <a:pt x="421" y="426"/>
                  <a:pt x="422" y="426"/>
                  <a:pt x="422" y="426"/>
                </a:cubicBezTo>
                <a:cubicBezTo>
                  <a:pt x="423" y="426"/>
                  <a:pt x="423" y="425"/>
                  <a:pt x="424" y="425"/>
                </a:cubicBezTo>
                <a:cubicBezTo>
                  <a:pt x="425" y="425"/>
                  <a:pt x="426" y="425"/>
                  <a:pt x="427" y="424"/>
                </a:cubicBezTo>
                <a:cubicBezTo>
                  <a:pt x="428" y="424"/>
                  <a:pt x="428" y="424"/>
                  <a:pt x="428" y="424"/>
                </a:cubicBezTo>
                <a:cubicBezTo>
                  <a:pt x="429" y="424"/>
                  <a:pt x="430" y="423"/>
                  <a:pt x="430" y="423"/>
                </a:cubicBezTo>
                <a:cubicBezTo>
                  <a:pt x="431" y="423"/>
                  <a:pt x="431" y="423"/>
                  <a:pt x="431" y="423"/>
                </a:cubicBezTo>
                <a:cubicBezTo>
                  <a:pt x="432" y="422"/>
                  <a:pt x="433" y="422"/>
                  <a:pt x="433" y="422"/>
                </a:cubicBezTo>
                <a:cubicBezTo>
                  <a:pt x="433" y="422"/>
                  <a:pt x="434" y="422"/>
                  <a:pt x="434" y="421"/>
                </a:cubicBezTo>
                <a:cubicBezTo>
                  <a:pt x="435" y="421"/>
                  <a:pt x="435" y="421"/>
                  <a:pt x="436" y="420"/>
                </a:cubicBezTo>
                <a:cubicBezTo>
                  <a:pt x="436" y="420"/>
                  <a:pt x="437" y="420"/>
                  <a:pt x="437" y="420"/>
                </a:cubicBezTo>
                <a:cubicBezTo>
                  <a:pt x="437" y="420"/>
                  <a:pt x="438" y="419"/>
                  <a:pt x="439" y="419"/>
                </a:cubicBezTo>
                <a:cubicBezTo>
                  <a:pt x="439" y="419"/>
                  <a:pt x="439" y="419"/>
                  <a:pt x="439" y="419"/>
                </a:cubicBezTo>
                <a:cubicBezTo>
                  <a:pt x="443" y="417"/>
                  <a:pt x="446" y="415"/>
                  <a:pt x="449" y="412"/>
                </a:cubicBezTo>
                <a:cubicBezTo>
                  <a:pt x="449" y="412"/>
                  <a:pt x="449" y="412"/>
                  <a:pt x="449" y="412"/>
                </a:cubicBezTo>
                <a:cubicBezTo>
                  <a:pt x="450" y="412"/>
                  <a:pt x="450" y="411"/>
                  <a:pt x="451" y="410"/>
                </a:cubicBezTo>
                <a:cubicBezTo>
                  <a:pt x="451" y="410"/>
                  <a:pt x="451" y="410"/>
                  <a:pt x="452" y="410"/>
                </a:cubicBezTo>
                <a:cubicBezTo>
                  <a:pt x="452" y="410"/>
                  <a:pt x="452" y="410"/>
                  <a:pt x="452" y="410"/>
                </a:cubicBezTo>
                <a:cubicBezTo>
                  <a:pt x="452" y="409"/>
                  <a:pt x="453" y="409"/>
                  <a:pt x="453" y="409"/>
                </a:cubicBezTo>
                <a:cubicBezTo>
                  <a:pt x="454" y="408"/>
                  <a:pt x="454" y="408"/>
                  <a:pt x="455" y="407"/>
                </a:cubicBezTo>
                <a:cubicBezTo>
                  <a:pt x="455" y="407"/>
                  <a:pt x="455" y="407"/>
                  <a:pt x="455" y="407"/>
                </a:cubicBezTo>
                <a:cubicBezTo>
                  <a:pt x="455" y="407"/>
                  <a:pt x="455" y="407"/>
                  <a:pt x="455" y="407"/>
                </a:cubicBezTo>
                <a:cubicBezTo>
                  <a:pt x="456" y="406"/>
                  <a:pt x="456" y="405"/>
                  <a:pt x="457" y="405"/>
                </a:cubicBezTo>
                <a:cubicBezTo>
                  <a:pt x="457" y="405"/>
                  <a:pt x="457" y="404"/>
                  <a:pt x="457" y="404"/>
                </a:cubicBezTo>
                <a:cubicBezTo>
                  <a:pt x="469" y="392"/>
                  <a:pt x="476" y="375"/>
                  <a:pt x="476" y="356"/>
                </a:cubicBezTo>
                <a:cubicBezTo>
                  <a:pt x="476" y="348"/>
                  <a:pt x="474" y="339"/>
                  <a:pt x="471" y="332"/>
                </a:cubicBezTo>
                <a:cubicBezTo>
                  <a:pt x="471" y="332"/>
                  <a:pt x="471" y="331"/>
                  <a:pt x="471" y="331"/>
                </a:cubicBezTo>
                <a:close/>
                <a:moveTo>
                  <a:pt x="427" y="374"/>
                </a:moveTo>
                <a:cubicBezTo>
                  <a:pt x="427" y="374"/>
                  <a:pt x="427" y="374"/>
                  <a:pt x="427" y="394"/>
                </a:cubicBezTo>
                <a:cubicBezTo>
                  <a:pt x="427" y="395"/>
                  <a:pt x="427" y="396"/>
                  <a:pt x="426" y="396"/>
                </a:cubicBezTo>
                <a:cubicBezTo>
                  <a:pt x="413" y="402"/>
                  <a:pt x="396" y="402"/>
                  <a:pt x="395" y="402"/>
                </a:cubicBezTo>
                <a:cubicBezTo>
                  <a:pt x="393" y="402"/>
                  <a:pt x="393" y="401"/>
                  <a:pt x="393" y="400"/>
                </a:cubicBezTo>
                <a:cubicBezTo>
                  <a:pt x="393" y="400"/>
                  <a:pt x="393" y="400"/>
                  <a:pt x="393" y="386"/>
                </a:cubicBezTo>
                <a:cubicBezTo>
                  <a:pt x="384" y="387"/>
                  <a:pt x="378" y="386"/>
                  <a:pt x="376" y="385"/>
                </a:cubicBezTo>
                <a:cubicBezTo>
                  <a:pt x="374" y="384"/>
                  <a:pt x="374" y="381"/>
                  <a:pt x="374" y="376"/>
                </a:cubicBezTo>
                <a:cubicBezTo>
                  <a:pt x="374" y="376"/>
                  <a:pt x="374" y="376"/>
                  <a:pt x="374" y="375"/>
                </a:cubicBezTo>
                <a:cubicBezTo>
                  <a:pt x="374" y="372"/>
                  <a:pt x="374" y="367"/>
                  <a:pt x="374" y="365"/>
                </a:cubicBezTo>
                <a:cubicBezTo>
                  <a:pt x="368" y="364"/>
                  <a:pt x="366" y="361"/>
                  <a:pt x="366" y="360"/>
                </a:cubicBezTo>
                <a:cubicBezTo>
                  <a:pt x="365" y="358"/>
                  <a:pt x="368" y="355"/>
                  <a:pt x="370" y="353"/>
                </a:cubicBezTo>
                <a:cubicBezTo>
                  <a:pt x="370" y="353"/>
                  <a:pt x="370" y="352"/>
                  <a:pt x="371" y="352"/>
                </a:cubicBezTo>
                <a:cubicBezTo>
                  <a:pt x="372" y="351"/>
                  <a:pt x="373" y="349"/>
                  <a:pt x="374" y="346"/>
                </a:cubicBezTo>
                <a:cubicBezTo>
                  <a:pt x="374" y="345"/>
                  <a:pt x="374" y="344"/>
                  <a:pt x="375" y="342"/>
                </a:cubicBezTo>
                <a:cubicBezTo>
                  <a:pt x="375" y="340"/>
                  <a:pt x="375" y="338"/>
                  <a:pt x="376" y="337"/>
                </a:cubicBezTo>
                <a:cubicBezTo>
                  <a:pt x="376" y="335"/>
                  <a:pt x="377" y="330"/>
                  <a:pt x="377" y="328"/>
                </a:cubicBezTo>
                <a:cubicBezTo>
                  <a:pt x="377" y="328"/>
                  <a:pt x="376" y="328"/>
                  <a:pt x="376" y="328"/>
                </a:cubicBezTo>
                <a:cubicBezTo>
                  <a:pt x="376" y="328"/>
                  <a:pt x="376" y="328"/>
                  <a:pt x="376" y="328"/>
                </a:cubicBezTo>
                <a:cubicBezTo>
                  <a:pt x="375" y="323"/>
                  <a:pt x="368" y="316"/>
                  <a:pt x="370" y="316"/>
                </a:cubicBezTo>
                <a:cubicBezTo>
                  <a:pt x="391" y="317"/>
                  <a:pt x="384" y="311"/>
                  <a:pt x="406" y="311"/>
                </a:cubicBezTo>
                <a:cubicBezTo>
                  <a:pt x="425" y="311"/>
                  <a:pt x="434" y="322"/>
                  <a:pt x="439" y="332"/>
                </a:cubicBezTo>
                <a:cubicBezTo>
                  <a:pt x="447" y="350"/>
                  <a:pt x="434" y="367"/>
                  <a:pt x="427" y="374"/>
                </a:cubicBezTo>
                <a:close/>
                <a:moveTo>
                  <a:pt x="339" y="195"/>
                </a:moveTo>
                <a:cubicBezTo>
                  <a:pt x="325" y="203"/>
                  <a:pt x="315" y="209"/>
                  <a:pt x="306" y="214"/>
                </a:cubicBezTo>
                <a:cubicBezTo>
                  <a:pt x="303" y="216"/>
                  <a:pt x="302" y="219"/>
                  <a:pt x="304" y="222"/>
                </a:cubicBezTo>
                <a:cubicBezTo>
                  <a:pt x="304" y="222"/>
                  <a:pt x="305" y="223"/>
                  <a:pt x="305" y="224"/>
                </a:cubicBezTo>
                <a:cubicBezTo>
                  <a:pt x="305" y="224"/>
                  <a:pt x="305" y="224"/>
                  <a:pt x="305" y="224"/>
                </a:cubicBezTo>
                <a:cubicBezTo>
                  <a:pt x="312" y="236"/>
                  <a:pt x="315" y="249"/>
                  <a:pt x="314" y="263"/>
                </a:cubicBezTo>
                <a:cubicBezTo>
                  <a:pt x="314" y="268"/>
                  <a:pt x="314" y="272"/>
                  <a:pt x="313" y="276"/>
                </a:cubicBezTo>
                <a:cubicBezTo>
                  <a:pt x="313" y="276"/>
                  <a:pt x="313" y="276"/>
                  <a:pt x="313" y="276"/>
                </a:cubicBezTo>
                <a:cubicBezTo>
                  <a:pt x="313" y="277"/>
                  <a:pt x="313" y="277"/>
                  <a:pt x="313" y="277"/>
                </a:cubicBezTo>
                <a:cubicBezTo>
                  <a:pt x="313" y="277"/>
                  <a:pt x="313" y="277"/>
                  <a:pt x="313" y="277"/>
                </a:cubicBezTo>
                <a:cubicBezTo>
                  <a:pt x="313" y="277"/>
                  <a:pt x="313" y="277"/>
                  <a:pt x="313" y="278"/>
                </a:cubicBezTo>
                <a:cubicBezTo>
                  <a:pt x="312" y="280"/>
                  <a:pt x="313" y="283"/>
                  <a:pt x="316" y="285"/>
                </a:cubicBezTo>
                <a:cubicBezTo>
                  <a:pt x="317" y="285"/>
                  <a:pt x="318" y="285"/>
                  <a:pt x="318" y="285"/>
                </a:cubicBezTo>
                <a:cubicBezTo>
                  <a:pt x="321" y="285"/>
                  <a:pt x="324" y="283"/>
                  <a:pt x="324" y="280"/>
                </a:cubicBezTo>
                <a:cubicBezTo>
                  <a:pt x="324" y="280"/>
                  <a:pt x="325" y="279"/>
                  <a:pt x="325" y="279"/>
                </a:cubicBezTo>
                <a:cubicBezTo>
                  <a:pt x="325" y="278"/>
                  <a:pt x="325" y="278"/>
                  <a:pt x="325" y="278"/>
                </a:cubicBezTo>
                <a:cubicBezTo>
                  <a:pt x="325" y="278"/>
                  <a:pt x="325" y="278"/>
                  <a:pt x="325" y="278"/>
                </a:cubicBezTo>
                <a:cubicBezTo>
                  <a:pt x="326" y="273"/>
                  <a:pt x="326" y="269"/>
                  <a:pt x="327" y="264"/>
                </a:cubicBezTo>
                <a:cubicBezTo>
                  <a:pt x="327" y="249"/>
                  <a:pt x="324" y="235"/>
                  <a:pt x="318" y="222"/>
                </a:cubicBezTo>
                <a:cubicBezTo>
                  <a:pt x="345" y="206"/>
                  <a:pt x="345" y="206"/>
                  <a:pt x="345" y="206"/>
                </a:cubicBezTo>
                <a:cubicBezTo>
                  <a:pt x="346" y="207"/>
                  <a:pt x="346" y="208"/>
                  <a:pt x="347" y="208"/>
                </a:cubicBezTo>
                <a:cubicBezTo>
                  <a:pt x="347" y="208"/>
                  <a:pt x="347" y="209"/>
                  <a:pt x="347" y="209"/>
                </a:cubicBezTo>
                <a:cubicBezTo>
                  <a:pt x="348" y="210"/>
                  <a:pt x="349" y="211"/>
                  <a:pt x="349" y="212"/>
                </a:cubicBezTo>
                <a:cubicBezTo>
                  <a:pt x="350" y="212"/>
                  <a:pt x="350" y="212"/>
                  <a:pt x="350" y="212"/>
                </a:cubicBezTo>
                <a:cubicBezTo>
                  <a:pt x="351" y="213"/>
                  <a:pt x="352" y="214"/>
                  <a:pt x="352" y="215"/>
                </a:cubicBezTo>
                <a:cubicBezTo>
                  <a:pt x="353" y="215"/>
                  <a:pt x="353" y="215"/>
                  <a:pt x="353" y="216"/>
                </a:cubicBezTo>
                <a:cubicBezTo>
                  <a:pt x="354" y="216"/>
                  <a:pt x="355" y="217"/>
                  <a:pt x="356" y="218"/>
                </a:cubicBezTo>
                <a:cubicBezTo>
                  <a:pt x="356" y="218"/>
                  <a:pt x="356" y="218"/>
                  <a:pt x="356" y="218"/>
                </a:cubicBezTo>
                <a:cubicBezTo>
                  <a:pt x="356" y="219"/>
                  <a:pt x="356" y="219"/>
                  <a:pt x="357" y="219"/>
                </a:cubicBezTo>
                <a:cubicBezTo>
                  <a:pt x="357" y="219"/>
                  <a:pt x="358" y="220"/>
                  <a:pt x="358" y="220"/>
                </a:cubicBezTo>
                <a:cubicBezTo>
                  <a:pt x="359" y="221"/>
                  <a:pt x="359" y="221"/>
                  <a:pt x="359" y="221"/>
                </a:cubicBezTo>
                <a:cubicBezTo>
                  <a:pt x="360" y="221"/>
                  <a:pt x="360" y="222"/>
                  <a:pt x="360" y="222"/>
                </a:cubicBezTo>
                <a:cubicBezTo>
                  <a:pt x="361" y="222"/>
                  <a:pt x="362" y="223"/>
                  <a:pt x="363" y="224"/>
                </a:cubicBezTo>
                <a:cubicBezTo>
                  <a:pt x="363" y="224"/>
                  <a:pt x="363" y="224"/>
                  <a:pt x="363" y="224"/>
                </a:cubicBezTo>
                <a:cubicBezTo>
                  <a:pt x="375" y="233"/>
                  <a:pt x="390" y="237"/>
                  <a:pt x="404" y="237"/>
                </a:cubicBezTo>
                <a:cubicBezTo>
                  <a:pt x="408" y="237"/>
                  <a:pt x="411" y="237"/>
                  <a:pt x="415" y="236"/>
                </a:cubicBezTo>
                <a:cubicBezTo>
                  <a:pt x="415" y="236"/>
                  <a:pt x="415" y="236"/>
                  <a:pt x="415" y="236"/>
                </a:cubicBezTo>
                <a:cubicBezTo>
                  <a:pt x="416" y="236"/>
                  <a:pt x="417" y="236"/>
                  <a:pt x="418" y="235"/>
                </a:cubicBezTo>
                <a:cubicBezTo>
                  <a:pt x="419" y="235"/>
                  <a:pt x="419" y="235"/>
                  <a:pt x="420" y="235"/>
                </a:cubicBezTo>
                <a:cubicBezTo>
                  <a:pt x="420" y="235"/>
                  <a:pt x="421" y="235"/>
                  <a:pt x="421" y="235"/>
                </a:cubicBezTo>
                <a:cubicBezTo>
                  <a:pt x="422" y="234"/>
                  <a:pt x="423" y="234"/>
                  <a:pt x="424" y="234"/>
                </a:cubicBezTo>
                <a:cubicBezTo>
                  <a:pt x="424" y="234"/>
                  <a:pt x="424" y="234"/>
                  <a:pt x="425" y="234"/>
                </a:cubicBezTo>
                <a:cubicBezTo>
                  <a:pt x="426" y="233"/>
                  <a:pt x="427" y="233"/>
                  <a:pt x="428" y="233"/>
                </a:cubicBezTo>
                <a:cubicBezTo>
                  <a:pt x="428" y="233"/>
                  <a:pt x="428" y="233"/>
                  <a:pt x="428" y="233"/>
                </a:cubicBezTo>
                <a:cubicBezTo>
                  <a:pt x="456" y="223"/>
                  <a:pt x="476" y="196"/>
                  <a:pt x="476" y="165"/>
                </a:cubicBezTo>
                <a:cubicBezTo>
                  <a:pt x="476" y="162"/>
                  <a:pt x="476" y="160"/>
                  <a:pt x="475" y="157"/>
                </a:cubicBezTo>
                <a:cubicBezTo>
                  <a:pt x="473" y="140"/>
                  <a:pt x="466" y="124"/>
                  <a:pt x="452" y="112"/>
                </a:cubicBezTo>
                <a:cubicBezTo>
                  <a:pt x="449" y="109"/>
                  <a:pt x="445" y="106"/>
                  <a:pt x="442" y="104"/>
                </a:cubicBezTo>
                <a:cubicBezTo>
                  <a:pt x="442" y="104"/>
                  <a:pt x="441" y="104"/>
                  <a:pt x="441" y="103"/>
                </a:cubicBezTo>
                <a:cubicBezTo>
                  <a:pt x="440" y="103"/>
                  <a:pt x="440" y="103"/>
                  <a:pt x="440" y="103"/>
                </a:cubicBezTo>
                <a:cubicBezTo>
                  <a:pt x="439" y="102"/>
                  <a:pt x="438" y="102"/>
                  <a:pt x="437" y="101"/>
                </a:cubicBezTo>
                <a:cubicBezTo>
                  <a:pt x="437" y="101"/>
                  <a:pt x="437" y="101"/>
                  <a:pt x="437" y="101"/>
                </a:cubicBezTo>
                <a:cubicBezTo>
                  <a:pt x="427" y="96"/>
                  <a:pt x="416" y="93"/>
                  <a:pt x="404" y="93"/>
                </a:cubicBezTo>
                <a:cubicBezTo>
                  <a:pt x="391" y="93"/>
                  <a:pt x="379" y="97"/>
                  <a:pt x="368" y="103"/>
                </a:cubicBezTo>
                <a:cubicBezTo>
                  <a:pt x="368" y="103"/>
                  <a:pt x="367" y="103"/>
                  <a:pt x="367" y="103"/>
                </a:cubicBezTo>
                <a:cubicBezTo>
                  <a:pt x="367" y="104"/>
                  <a:pt x="366" y="104"/>
                  <a:pt x="366" y="104"/>
                </a:cubicBezTo>
                <a:cubicBezTo>
                  <a:pt x="360" y="108"/>
                  <a:pt x="355" y="112"/>
                  <a:pt x="351" y="117"/>
                </a:cubicBezTo>
                <a:cubicBezTo>
                  <a:pt x="343" y="125"/>
                  <a:pt x="338" y="134"/>
                  <a:pt x="335" y="144"/>
                </a:cubicBezTo>
                <a:cubicBezTo>
                  <a:pt x="335" y="146"/>
                  <a:pt x="335" y="146"/>
                  <a:pt x="335" y="146"/>
                </a:cubicBezTo>
                <a:cubicBezTo>
                  <a:pt x="334" y="149"/>
                  <a:pt x="333" y="152"/>
                  <a:pt x="333" y="155"/>
                </a:cubicBezTo>
                <a:cubicBezTo>
                  <a:pt x="333" y="156"/>
                  <a:pt x="333" y="156"/>
                  <a:pt x="333" y="156"/>
                </a:cubicBezTo>
                <a:cubicBezTo>
                  <a:pt x="332" y="161"/>
                  <a:pt x="332" y="166"/>
                  <a:pt x="332" y="171"/>
                </a:cubicBezTo>
                <a:cubicBezTo>
                  <a:pt x="333" y="180"/>
                  <a:pt x="335" y="188"/>
                  <a:pt x="339" y="195"/>
                </a:cubicBezTo>
                <a:close/>
                <a:moveTo>
                  <a:pt x="369" y="162"/>
                </a:moveTo>
                <a:cubicBezTo>
                  <a:pt x="370" y="160"/>
                  <a:pt x="371" y="157"/>
                  <a:pt x="372" y="156"/>
                </a:cubicBezTo>
                <a:cubicBezTo>
                  <a:pt x="373" y="155"/>
                  <a:pt x="373" y="150"/>
                  <a:pt x="373" y="147"/>
                </a:cubicBezTo>
                <a:cubicBezTo>
                  <a:pt x="372" y="142"/>
                  <a:pt x="375" y="138"/>
                  <a:pt x="376" y="137"/>
                </a:cubicBezTo>
                <a:cubicBezTo>
                  <a:pt x="375" y="136"/>
                  <a:pt x="375" y="135"/>
                  <a:pt x="374" y="135"/>
                </a:cubicBezTo>
                <a:cubicBezTo>
                  <a:pt x="373" y="130"/>
                  <a:pt x="382" y="121"/>
                  <a:pt x="403" y="121"/>
                </a:cubicBezTo>
                <a:cubicBezTo>
                  <a:pt x="422" y="121"/>
                  <a:pt x="433" y="131"/>
                  <a:pt x="437" y="140"/>
                </a:cubicBezTo>
                <a:cubicBezTo>
                  <a:pt x="453" y="172"/>
                  <a:pt x="432" y="187"/>
                  <a:pt x="419" y="193"/>
                </a:cubicBezTo>
                <a:cubicBezTo>
                  <a:pt x="419" y="193"/>
                  <a:pt x="419" y="193"/>
                  <a:pt x="419" y="202"/>
                </a:cubicBezTo>
                <a:cubicBezTo>
                  <a:pt x="419" y="203"/>
                  <a:pt x="419" y="204"/>
                  <a:pt x="418" y="204"/>
                </a:cubicBezTo>
                <a:cubicBezTo>
                  <a:pt x="410" y="209"/>
                  <a:pt x="400" y="209"/>
                  <a:pt x="396" y="209"/>
                </a:cubicBezTo>
                <a:cubicBezTo>
                  <a:pt x="395" y="209"/>
                  <a:pt x="394" y="209"/>
                  <a:pt x="394" y="209"/>
                </a:cubicBezTo>
                <a:cubicBezTo>
                  <a:pt x="393" y="209"/>
                  <a:pt x="392" y="208"/>
                  <a:pt x="392" y="207"/>
                </a:cubicBezTo>
                <a:cubicBezTo>
                  <a:pt x="392" y="207"/>
                  <a:pt x="392" y="207"/>
                  <a:pt x="392" y="192"/>
                </a:cubicBezTo>
                <a:cubicBezTo>
                  <a:pt x="390" y="193"/>
                  <a:pt x="387" y="193"/>
                  <a:pt x="386" y="193"/>
                </a:cubicBezTo>
                <a:cubicBezTo>
                  <a:pt x="378" y="193"/>
                  <a:pt x="376" y="192"/>
                  <a:pt x="375" y="191"/>
                </a:cubicBezTo>
                <a:cubicBezTo>
                  <a:pt x="374" y="190"/>
                  <a:pt x="373" y="187"/>
                  <a:pt x="373" y="179"/>
                </a:cubicBezTo>
                <a:cubicBezTo>
                  <a:pt x="373" y="177"/>
                  <a:pt x="373" y="175"/>
                  <a:pt x="373" y="173"/>
                </a:cubicBezTo>
                <a:cubicBezTo>
                  <a:pt x="368" y="173"/>
                  <a:pt x="366" y="171"/>
                  <a:pt x="365" y="169"/>
                </a:cubicBezTo>
                <a:cubicBezTo>
                  <a:pt x="364" y="167"/>
                  <a:pt x="367" y="164"/>
                  <a:pt x="369" y="162"/>
                </a:cubicBezTo>
                <a:close/>
                <a:moveTo>
                  <a:pt x="143" y="348"/>
                </a:moveTo>
                <a:cubicBezTo>
                  <a:pt x="143" y="348"/>
                  <a:pt x="143" y="348"/>
                  <a:pt x="143" y="347"/>
                </a:cubicBezTo>
                <a:cubicBezTo>
                  <a:pt x="143" y="347"/>
                  <a:pt x="143" y="346"/>
                  <a:pt x="143" y="345"/>
                </a:cubicBezTo>
                <a:cubicBezTo>
                  <a:pt x="143" y="345"/>
                  <a:pt x="142" y="344"/>
                  <a:pt x="142" y="343"/>
                </a:cubicBezTo>
                <a:cubicBezTo>
                  <a:pt x="142" y="343"/>
                  <a:pt x="142" y="342"/>
                  <a:pt x="142" y="342"/>
                </a:cubicBezTo>
                <a:cubicBezTo>
                  <a:pt x="142" y="341"/>
                  <a:pt x="142" y="340"/>
                  <a:pt x="141" y="339"/>
                </a:cubicBezTo>
                <a:cubicBezTo>
                  <a:pt x="141" y="338"/>
                  <a:pt x="141" y="338"/>
                  <a:pt x="141" y="337"/>
                </a:cubicBezTo>
                <a:cubicBezTo>
                  <a:pt x="141" y="337"/>
                  <a:pt x="141" y="336"/>
                  <a:pt x="141" y="336"/>
                </a:cubicBezTo>
                <a:cubicBezTo>
                  <a:pt x="140" y="335"/>
                  <a:pt x="140" y="334"/>
                  <a:pt x="140" y="334"/>
                </a:cubicBezTo>
                <a:cubicBezTo>
                  <a:pt x="140" y="333"/>
                  <a:pt x="140" y="333"/>
                  <a:pt x="139" y="332"/>
                </a:cubicBezTo>
                <a:cubicBezTo>
                  <a:pt x="139" y="332"/>
                  <a:pt x="139" y="331"/>
                  <a:pt x="138" y="330"/>
                </a:cubicBezTo>
                <a:cubicBezTo>
                  <a:pt x="138" y="330"/>
                  <a:pt x="138" y="329"/>
                  <a:pt x="138" y="329"/>
                </a:cubicBezTo>
                <a:cubicBezTo>
                  <a:pt x="138" y="328"/>
                  <a:pt x="137" y="327"/>
                  <a:pt x="137" y="326"/>
                </a:cubicBezTo>
                <a:cubicBezTo>
                  <a:pt x="150" y="318"/>
                  <a:pt x="161" y="312"/>
                  <a:pt x="169" y="307"/>
                </a:cubicBezTo>
                <a:cubicBezTo>
                  <a:pt x="172" y="306"/>
                  <a:pt x="173" y="302"/>
                  <a:pt x="171" y="300"/>
                </a:cubicBezTo>
                <a:cubicBezTo>
                  <a:pt x="171" y="299"/>
                  <a:pt x="171" y="299"/>
                  <a:pt x="171" y="299"/>
                </a:cubicBezTo>
                <a:cubicBezTo>
                  <a:pt x="171" y="299"/>
                  <a:pt x="171" y="299"/>
                  <a:pt x="171" y="299"/>
                </a:cubicBezTo>
                <a:cubicBezTo>
                  <a:pt x="164" y="286"/>
                  <a:pt x="160" y="272"/>
                  <a:pt x="161" y="258"/>
                </a:cubicBezTo>
                <a:cubicBezTo>
                  <a:pt x="161" y="253"/>
                  <a:pt x="162" y="249"/>
                  <a:pt x="163" y="244"/>
                </a:cubicBezTo>
                <a:cubicBezTo>
                  <a:pt x="163" y="241"/>
                  <a:pt x="162" y="238"/>
                  <a:pt x="159" y="237"/>
                </a:cubicBezTo>
                <a:cubicBezTo>
                  <a:pt x="155" y="235"/>
                  <a:pt x="151" y="238"/>
                  <a:pt x="151" y="241"/>
                </a:cubicBezTo>
                <a:cubicBezTo>
                  <a:pt x="149" y="246"/>
                  <a:pt x="149" y="252"/>
                  <a:pt x="149" y="258"/>
                </a:cubicBezTo>
                <a:cubicBezTo>
                  <a:pt x="148" y="272"/>
                  <a:pt x="151" y="287"/>
                  <a:pt x="158" y="300"/>
                </a:cubicBezTo>
                <a:cubicBezTo>
                  <a:pt x="131" y="315"/>
                  <a:pt x="131" y="315"/>
                  <a:pt x="131" y="315"/>
                </a:cubicBezTo>
                <a:cubicBezTo>
                  <a:pt x="130" y="314"/>
                  <a:pt x="129" y="313"/>
                  <a:pt x="128" y="312"/>
                </a:cubicBezTo>
                <a:cubicBezTo>
                  <a:pt x="128" y="312"/>
                  <a:pt x="128" y="311"/>
                  <a:pt x="128" y="311"/>
                </a:cubicBezTo>
                <a:cubicBezTo>
                  <a:pt x="127" y="311"/>
                  <a:pt x="127" y="310"/>
                  <a:pt x="126" y="309"/>
                </a:cubicBezTo>
                <a:cubicBezTo>
                  <a:pt x="126" y="309"/>
                  <a:pt x="126" y="309"/>
                  <a:pt x="126" y="309"/>
                </a:cubicBezTo>
                <a:cubicBezTo>
                  <a:pt x="126" y="309"/>
                  <a:pt x="125" y="309"/>
                  <a:pt x="125" y="308"/>
                </a:cubicBezTo>
                <a:cubicBezTo>
                  <a:pt x="125" y="308"/>
                  <a:pt x="124" y="308"/>
                  <a:pt x="124" y="307"/>
                </a:cubicBezTo>
                <a:cubicBezTo>
                  <a:pt x="124" y="307"/>
                  <a:pt x="124" y="307"/>
                  <a:pt x="124" y="307"/>
                </a:cubicBezTo>
                <a:cubicBezTo>
                  <a:pt x="111" y="293"/>
                  <a:pt x="92" y="284"/>
                  <a:pt x="72" y="284"/>
                </a:cubicBezTo>
                <a:cubicBezTo>
                  <a:pt x="70" y="284"/>
                  <a:pt x="69" y="285"/>
                  <a:pt x="68" y="285"/>
                </a:cubicBezTo>
                <a:cubicBezTo>
                  <a:pt x="68" y="285"/>
                  <a:pt x="68" y="285"/>
                  <a:pt x="68" y="285"/>
                </a:cubicBezTo>
                <a:cubicBezTo>
                  <a:pt x="67" y="285"/>
                  <a:pt x="65" y="285"/>
                  <a:pt x="64" y="285"/>
                </a:cubicBezTo>
                <a:cubicBezTo>
                  <a:pt x="64" y="285"/>
                  <a:pt x="64" y="285"/>
                  <a:pt x="64" y="285"/>
                </a:cubicBezTo>
                <a:cubicBezTo>
                  <a:pt x="63" y="285"/>
                  <a:pt x="62" y="285"/>
                  <a:pt x="61" y="285"/>
                </a:cubicBezTo>
                <a:cubicBezTo>
                  <a:pt x="61" y="285"/>
                  <a:pt x="61" y="285"/>
                  <a:pt x="60" y="285"/>
                </a:cubicBezTo>
                <a:cubicBezTo>
                  <a:pt x="60" y="285"/>
                  <a:pt x="60" y="285"/>
                  <a:pt x="59" y="286"/>
                </a:cubicBezTo>
                <a:cubicBezTo>
                  <a:pt x="59" y="286"/>
                  <a:pt x="59" y="286"/>
                  <a:pt x="58" y="286"/>
                </a:cubicBezTo>
                <a:cubicBezTo>
                  <a:pt x="58" y="286"/>
                  <a:pt x="57" y="286"/>
                  <a:pt x="56" y="286"/>
                </a:cubicBezTo>
                <a:cubicBezTo>
                  <a:pt x="56" y="286"/>
                  <a:pt x="56" y="286"/>
                  <a:pt x="56" y="286"/>
                </a:cubicBezTo>
                <a:cubicBezTo>
                  <a:pt x="55" y="286"/>
                  <a:pt x="55" y="286"/>
                  <a:pt x="55" y="286"/>
                </a:cubicBezTo>
                <a:cubicBezTo>
                  <a:pt x="54" y="287"/>
                  <a:pt x="54" y="287"/>
                  <a:pt x="53" y="287"/>
                </a:cubicBezTo>
                <a:cubicBezTo>
                  <a:pt x="53" y="287"/>
                  <a:pt x="52" y="287"/>
                  <a:pt x="52" y="287"/>
                </a:cubicBezTo>
                <a:cubicBezTo>
                  <a:pt x="52" y="287"/>
                  <a:pt x="52" y="287"/>
                  <a:pt x="52" y="287"/>
                </a:cubicBezTo>
                <a:cubicBezTo>
                  <a:pt x="48" y="288"/>
                  <a:pt x="43" y="290"/>
                  <a:pt x="39" y="292"/>
                </a:cubicBezTo>
                <a:cubicBezTo>
                  <a:pt x="39" y="292"/>
                  <a:pt x="39" y="292"/>
                  <a:pt x="39" y="292"/>
                </a:cubicBezTo>
                <a:cubicBezTo>
                  <a:pt x="35" y="294"/>
                  <a:pt x="31" y="297"/>
                  <a:pt x="27" y="300"/>
                </a:cubicBezTo>
                <a:cubicBezTo>
                  <a:pt x="27" y="300"/>
                  <a:pt x="27" y="300"/>
                  <a:pt x="27" y="300"/>
                </a:cubicBezTo>
                <a:cubicBezTo>
                  <a:pt x="23" y="303"/>
                  <a:pt x="19" y="307"/>
                  <a:pt x="15" y="312"/>
                </a:cubicBezTo>
                <a:cubicBezTo>
                  <a:pt x="15" y="312"/>
                  <a:pt x="15" y="312"/>
                  <a:pt x="15" y="312"/>
                </a:cubicBezTo>
                <a:cubicBezTo>
                  <a:pt x="6" y="323"/>
                  <a:pt x="0" y="338"/>
                  <a:pt x="0" y="354"/>
                </a:cubicBezTo>
                <a:cubicBezTo>
                  <a:pt x="0" y="355"/>
                  <a:pt x="0" y="356"/>
                  <a:pt x="0" y="356"/>
                </a:cubicBezTo>
                <a:cubicBezTo>
                  <a:pt x="0" y="357"/>
                  <a:pt x="0" y="358"/>
                  <a:pt x="0" y="359"/>
                </a:cubicBezTo>
                <a:cubicBezTo>
                  <a:pt x="0" y="359"/>
                  <a:pt x="0" y="359"/>
                  <a:pt x="0" y="360"/>
                </a:cubicBezTo>
                <a:cubicBezTo>
                  <a:pt x="0" y="360"/>
                  <a:pt x="0" y="360"/>
                  <a:pt x="0" y="360"/>
                </a:cubicBezTo>
                <a:cubicBezTo>
                  <a:pt x="0" y="361"/>
                  <a:pt x="0" y="362"/>
                  <a:pt x="0" y="363"/>
                </a:cubicBezTo>
                <a:cubicBezTo>
                  <a:pt x="0" y="364"/>
                  <a:pt x="0" y="364"/>
                  <a:pt x="0" y="364"/>
                </a:cubicBezTo>
                <a:cubicBezTo>
                  <a:pt x="2" y="385"/>
                  <a:pt x="14" y="404"/>
                  <a:pt x="31" y="416"/>
                </a:cubicBezTo>
                <a:cubicBezTo>
                  <a:pt x="32" y="416"/>
                  <a:pt x="32" y="416"/>
                  <a:pt x="32" y="416"/>
                </a:cubicBezTo>
                <a:cubicBezTo>
                  <a:pt x="33" y="417"/>
                  <a:pt x="33" y="417"/>
                  <a:pt x="34" y="417"/>
                </a:cubicBezTo>
                <a:cubicBezTo>
                  <a:pt x="34" y="418"/>
                  <a:pt x="35" y="418"/>
                  <a:pt x="35" y="418"/>
                </a:cubicBezTo>
                <a:cubicBezTo>
                  <a:pt x="36" y="418"/>
                  <a:pt x="36" y="419"/>
                  <a:pt x="37" y="419"/>
                </a:cubicBezTo>
                <a:cubicBezTo>
                  <a:pt x="37" y="419"/>
                  <a:pt x="37" y="419"/>
                  <a:pt x="38" y="420"/>
                </a:cubicBezTo>
                <a:cubicBezTo>
                  <a:pt x="39" y="420"/>
                  <a:pt x="40" y="421"/>
                  <a:pt x="40" y="421"/>
                </a:cubicBezTo>
                <a:cubicBezTo>
                  <a:pt x="41" y="421"/>
                  <a:pt x="41" y="421"/>
                  <a:pt x="41" y="421"/>
                </a:cubicBezTo>
                <a:cubicBezTo>
                  <a:pt x="42" y="422"/>
                  <a:pt x="42" y="422"/>
                  <a:pt x="43" y="422"/>
                </a:cubicBezTo>
                <a:cubicBezTo>
                  <a:pt x="44" y="422"/>
                  <a:pt x="44" y="423"/>
                  <a:pt x="44" y="423"/>
                </a:cubicBezTo>
                <a:cubicBezTo>
                  <a:pt x="45" y="423"/>
                  <a:pt x="46" y="423"/>
                  <a:pt x="46" y="423"/>
                </a:cubicBezTo>
                <a:cubicBezTo>
                  <a:pt x="47" y="424"/>
                  <a:pt x="47" y="424"/>
                  <a:pt x="47" y="424"/>
                </a:cubicBezTo>
                <a:cubicBezTo>
                  <a:pt x="48" y="424"/>
                  <a:pt x="49" y="425"/>
                  <a:pt x="50" y="425"/>
                </a:cubicBezTo>
                <a:cubicBezTo>
                  <a:pt x="50" y="425"/>
                  <a:pt x="50" y="425"/>
                  <a:pt x="51" y="425"/>
                </a:cubicBezTo>
                <a:cubicBezTo>
                  <a:pt x="51" y="425"/>
                  <a:pt x="52" y="425"/>
                  <a:pt x="53" y="426"/>
                </a:cubicBezTo>
                <a:cubicBezTo>
                  <a:pt x="54" y="426"/>
                  <a:pt x="54" y="426"/>
                  <a:pt x="54" y="426"/>
                </a:cubicBezTo>
                <a:cubicBezTo>
                  <a:pt x="55" y="426"/>
                  <a:pt x="56" y="426"/>
                  <a:pt x="57" y="427"/>
                </a:cubicBezTo>
                <a:cubicBezTo>
                  <a:pt x="57" y="427"/>
                  <a:pt x="57" y="427"/>
                  <a:pt x="57" y="427"/>
                </a:cubicBezTo>
                <a:cubicBezTo>
                  <a:pt x="59" y="427"/>
                  <a:pt x="60" y="427"/>
                  <a:pt x="61" y="427"/>
                </a:cubicBezTo>
                <a:cubicBezTo>
                  <a:pt x="61" y="427"/>
                  <a:pt x="61" y="427"/>
                  <a:pt x="61" y="427"/>
                </a:cubicBezTo>
                <a:cubicBezTo>
                  <a:pt x="62" y="427"/>
                  <a:pt x="63" y="428"/>
                  <a:pt x="64" y="428"/>
                </a:cubicBezTo>
                <a:cubicBezTo>
                  <a:pt x="64" y="428"/>
                  <a:pt x="64" y="428"/>
                  <a:pt x="65" y="428"/>
                </a:cubicBezTo>
                <a:cubicBezTo>
                  <a:pt x="66" y="428"/>
                  <a:pt x="66" y="428"/>
                  <a:pt x="67" y="428"/>
                </a:cubicBezTo>
                <a:cubicBezTo>
                  <a:pt x="68" y="428"/>
                  <a:pt x="68" y="428"/>
                  <a:pt x="68" y="428"/>
                </a:cubicBezTo>
                <a:cubicBezTo>
                  <a:pt x="69" y="428"/>
                  <a:pt x="70" y="428"/>
                  <a:pt x="72" y="428"/>
                </a:cubicBezTo>
                <a:cubicBezTo>
                  <a:pt x="73" y="428"/>
                  <a:pt x="74" y="428"/>
                  <a:pt x="75" y="428"/>
                </a:cubicBezTo>
                <a:cubicBezTo>
                  <a:pt x="76" y="428"/>
                  <a:pt x="76" y="428"/>
                  <a:pt x="76" y="428"/>
                </a:cubicBezTo>
                <a:cubicBezTo>
                  <a:pt x="77" y="428"/>
                  <a:pt x="78" y="428"/>
                  <a:pt x="79" y="428"/>
                </a:cubicBezTo>
                <a:cubicBezTo>
                  <a:pt x="79" y="428"/>
                  <a:pt x="80" y="428"/>
                  <a:pt x="80" y="428"/>
                </a:cubicBezTo>
                <a:cubicBezTo>
                  <a:pt x="81" y="427"/>
                  <a:pt x="82" y="427"/>
                  <a:pt x="83" y="427"/>
                </a:cubicBezTo>
                <a:cubicBezTo>
                  <a:pt x="83" y="427"/>
                  <a:pt x="83" y="427"/>
                  <a:pt x="84" y="427"/>
                </a:cubicBezTo>
                <a:cubicBezTo>
                  <a:pt x="85" y="427"/>
                  <a:pt x="86" y="427"/>
                  <a:pt x="87" y="427"/>
                </a:cubicBezTo>
                <a:cubicBezTo>
                  <a:pt x="87" y="426"/>
                  <a:pt x="87" y="426"/>
                  <a:pt x="87" y="426"/>
                </a:cubicBezTo>
                <a:cubicBezTo>
                  <a:pt x="88" y="426"/>
                  <a:pt x="89" y="426"/>
                  <a:pt x="90" y="426"/>
                </a:cubicBezTo>
                <a:cubicBezTo>
                  <a:pt x="90" y="426"/>
                  <a:pt x="90" y="426"/>
                  <a:pt x="91" y="426"/>
                </a:cubicBezTo>
                <a:cubicBezTo>
                  <a:pt x="92" y="425"/>
                  <a:pt x="93" y="425"/>
                  <a:pt x="94" y="425"/>
                </a:cubicBezTo>
                <a:cubicBezTo>
                  <a:pt x="94" y="425"/>
                  <a:pt x="94" y="425"/>
                  <a:pt x="94" y="424"/>
                </a:cubicBezTo>
                <a:cubicBezTo>
                  <a:pt x="95" y="424"/>
                  <a:pt x="96" y="424"/>
                  <a:pt x="97" y="423"/>
                </a:cubicBezTo>
                <a:cubicBezTo>
                  <a:pt x="97" y="423"/>
                  <a:pt x="97" y="423"/>
                  <a:pt x="97" y="423"/>
                </a:cubicBezTo>
                <a:cubicBezTo>
                  <a:pt x="99" y="423"/>
                  <a:pt x="100" y="422"/>
                  <a:pt x="101" y="422"/>
                </a:cubicBezTo>
                <a:cubicBezTo>
                  <a:pt x="101" y="422"/>
                  <a:pt x="101" y="422"/>
                  <a:pt x="101" y="422"/>
                </a:cubicBezTo>
                <a:cubicBezTo>
                  <a:pt x="102" y="421"/>
                  <a:pt x="103" y="421"/>
                  <a:pt x="104" y="420"/>
                </a:cubicBezTo>
                <a:cubicBezTo>
                  <a:pt x="104" y="420"/>
                  <a:pt x="104" y="420"/>
                  <a:pt x="105" y="420"/>
                </a:cubicBezTo>
                <a:cubicBezTo>
                  <a:pt x="105" y="420"/>
                  <a:pt x="106" y="419"/>
                  <a:pt x="107" y="419"/>
                </a:cubicBezTo>
                <a:cubicBezTo>
                  <a:pt x="107" y="419"/>
                  <a:pt x="107" y="419"/>
                  <a:pt x="107" y="419"/>
                </a:cubicBezTo>
                <a:cubicBezTo>
                  <a:pt x="107" y="418"/>
                  <a:pt x="108" y="418"/>
                  <a:pt x="108" y="418"/>
                </a:cubicBezTo>
                <a:cubicBezTo>
                  <a:pt x="109" y="418"/>
                  <a:pt x="109" y="418"/>
                  <a:pt x="109" y="417"/>
                </a:cubicBezTo>
                <a:cubicBezTo>
                  <a:pt x="110" y="417"/>
                  <a:pt x="110" y="417"/>
                  <a:pt x="110" y="417"/>
                </a:cubicBezTo>
                <a:cubicBezTo>
                  <a:pt x="111" y="416"/>
                  <a:pt x="111" y="416"/>
                  <a:pt x="111" y="416"/>
                </a:cubicBezTo>
                <a:cubicBezTo>
                  <a:pt x="112" y="416"/>
                  <a:pt x="112" y="416"/>
                  <a:pt x="112" y="416"/>
                </a:cubicBezTo>
                <a:cubicBezTo>
                  <a:pt x="112" y="416"/>
                  <a:pt x="112" y="416"/>
                  <a:pt x="112" y="416"/>
                </a:cubicBezTo>
                <a:cubicBezTo>
                  <a:pt x="123" y="408"/>
                  <a:pt x="131" y="398"/>
                  <a:pt x="137" y="387"/>
                </a:cubicBezTo>
                <a:cubicBezTo>
                  <a:pt x="137" y="386"/>
                  <a:pt x="138" y="384"/>
                  <a:pt x="138" y="383"/>
                </a:cubicBezTo>
                <a:cubicBezTo>
                  <a:pt x="138" y="383"/>
                  <a:pt x="138" y="382"/>
                  <a:pt x="139" y="382"/>
                </a:cubicBezTo>
                <a:cubicBezTo>
                  <a:pt x="139" y="381"/>
                  <a:pt x="140" y="379"/>
                  <a:pt x="140" y="378"/>
                </a:cubicBezTo>
                <a:cubicBezTo>
                  <a:pt x="142" y="371"/>
                  <a:pt x="143" y="364"/>
                  <a:pt x="143" y="356"/>
                </a:cubicBezTo>
                <a:cubicBezTo>
                  <a:pt x="143" y="353"/>
                  <a:pt x="143" y="351"/>
                  <a:pt x="143" y="348"/>
                </a:cubicBezTo>
                <a:cubicBezTo>
                  <a:pt x="143" y="348"/>
                  <a:pt x="143" y="348"/>
                  <a:pt x="143" y="348"/>
                </a:cubicBezTo>
                <a:close/>
                <a:moveTo>
                  <a:pt x="111" y="360"/>
                </a:moveTo>
                <a:cubicBezTo>
                  <a:pt x="110" y="362"/>
                  <a:pt x="107" y="364"/>
                  <a:pt x="102" y="364"/>
                </a:cubicBezTo>
                <a:cubicBezTo>
                  <a:pt x="102" y="366"/>
                  <a:pt x="102" y="368"/>
                  <a:pt x="102" y="370"/>
                </a:cubicBezTo>
                <a:cubicBezTo>
                  <a:pt x="103" y="379"/>
                  <a:pt x="102" y="381"/>
                  <a:pt x="101" y="382"/>
                </a:cubicBezTo>
                <a:cubicBezTo>
                  <a:pt x="99" y="383"/>
                  <a:pt x="97" y="384"/>
                  <a:pt x="89" y="384"/>
                </a:cubicBezTo>
                <a:cubicBezTo>
                  <a:pt x="88" y="384"/>
                  <a:pt x="85" y="384"/>
                  <a:pt x="83" y="384"/>
                </a:cubicBezTo>
                <a:cubicBezTo>
                  <a:pt x="83" y="399"/>
                  <a:pt x="83" y="399"/>
                  <a:pt x="83" y="399"/>
                </a:cubicBezTo>
                <a:cubicBezTo>
                  <a:pt x="83" y="400"/>
                  <a:pt x="83" y="400"/>
                  <a:pt x="82" y="400"/>
                </a:cubicBezTo>
                <a:cubicBezTo>
                  <a:pt x="82" y="400"/>
                  <a:pt x="81" y="401"/>
                  <a:pt x="80" y="401"/>
                </a:cubicBezTo>
                <a:cubicBezTo>
                  <a:pt x="75" y="401"/>
                  <a:pt x="66" y="400"/>
                  <a:pt x="58" y="395"/>
                </a:cubicBezTo>
                <a:cubicBezTo>
                  <a:pt x="57" y="395"/>
                  <a:pt x="57" y="394"/>
                  <a:pt x="57" y="394"/>
                </a:cubicBezTo>
                <a:cubicBezTo>
                  <a:pt x="56" y="384"/>
                  <a:pt x="56" y="384"/>
                  <a:pt x="56" y="384"/>
                </a:cubicBezTo>
                <a:cubicBezTo>
                  <a:pt x="43" y="379"/>
                  <a:pt x="23" y="364"/>
                  <a:pt x="38" y="331"/>
                </a:cubicBezTo>
                <a:cubicBezTo>
                  <a:pt x="43" y="322"/>
                  <a:pt x="54" y="312"/>
                  <a:pt x="72" y="312"/>
                </a:cubicBezTo>
                <a:cubicBezTo>
                  <a:pt x="93" y="312"/>
                  <a:pt x="102" y="322"/>
                  <a:pt x="101" y="326"/>
                </a:cubicBezTo>
                <a:cubicBezTo>
                  <a:pt x="101" y="327"/>
                  <a:pt x="100" y="327"/>
                  <a:pt x="100" y="328"/>
                </a:cubicBezTo>
                <a:cubicBezTo>
                  <a:pt x="101" y="330"/>
                  <a:pt x="103" y="333"/>
                  <a:pt x="103" y="338"/>
                </a:cubicBezTo>
                <a:cubicBezTo>
                  <a:pt x="103" y="341"/>
                  <a:pt x="103" y="346"/>
                  <a:pt x="103" y="347"/>
                </a:cubicBezTo>
                <a:cubicBezTo>
                  <a:pt x="104" y="349"/>
                  <a:pt x="106" y="351"/>
                  <a:pt x="107" y="353"/>
                </a:cubicBezTo>
                <a:cubicBezTo>
                  <a:pt x="109" y="355"/>
                  <a:pt x="111" y="358"/>
                  <a:pt x="111" y="360"/>
                </a:cubicBezTo>
                <a:close/>
                <a:moveTo>
                  <a:pt x="1" y="180"/>
                </a:moveTo>
                <a:cubicBezTo>
                  <a:pt x="2" y="181"/>
                  <a:pt x="2" y="182"/>
                  <a:pt x="2" y="183"/>
                </a:cubicBezTo>
                <a:cubicBezTo>
                  <a:pt x="2" y="183"/>
                  <a:pt x="2" y="184"/>
                  <a:pt x="2" y="184"/>
                </a:cubicBezTo>
                <a:cubicBezTo>
                  <a:pt x="3" y="185"/>
                  <a:pt x="3" y="186"/>
                  <a:pt x="3" y="186"/>
                </a:cubicBezTo>
                <a:cubicBezTo>
                  <a:pt x="3" y="187"/>
                  <a:pt x="4" y="189"/>
                  <a:pt x="4" y="190"/>
                </a:cubicBezTo>
                <a:cubicBezTo>
                  <a:pt x="4" y="190"/>
                  <a:pt x="4" y="190"/>
                  <a:pt x="4" y="190"/>
                </a:cubicBezTo>
                <a:cubicBezTo>
                  <a:pt x="4" y="190"/>
                  <a:pt x="4" y="190"/>
                  <a:pt x="4" y="190"/>
                </a:cubicBezTo>
                <a:cubicBezTo>
                  <a:pt x="5" y="191"/>
                  <a:pt x="5" y="192"/>
                  <a:pt x="5" y="193"/>
                </a:cubicBezTo>
                <a:cubicBezTo>
                  <a:pt x="6" y="193"/>
                  <a:pt x="6" y="193"/>
                  <a:pt x="6" y="193"/>
                </a:cubicBezTo>
                <a:cubicBezTo>
                  <a:pt x="6" y="194"/>
                  <a:pt x="6" y="195"/>
                  <a:pt x="7" y="196"/>
                </a:cubicBezTo>
                <a:cubicBezTo>
                  <a:pt x="7" y="196"/>
                  <a:pt x="7" y="196"/>
                  <a:pt x="7" y="197"/>
                </a:cubicBezTo>
                <a:cubicBezTo>
                  <a:pt x="8" y="197"/>
                  <a:pt x="8" y="198"/>
                  <a:pt x="8" y="199"/>
                </a:cubicBezTo>
                <a:cubicBezTo>
                  <a:pt x="8" y="199"/>
                  <a:pt x="8" y="199"/>
                  <a:pt x="8" y="199"/>
                </a:cubicBezTo>
                <a:cubicBezTo>
                  <a:pt x="9" y="199"/>
                  <a:pt x="9" y="200"/>
                  <a:pt x="9" y="200"/>
                </a:cubicBezTo>
                <a:cubicBezTo>
                  <a:pt x="9" y="201"/>
                  <a:pt x="10" y="201"/>
                  <a:pt x="10" y="202"/>
                </a:cubicBezTo>
                <a:cubicBezTo>
                  <a:pt x="10" y="202"/>
                  <a:pt x="10" y="202"/>
                  <a:pt x="10" y="203"/>
                </a:cubicBezTo>
                <a:cubicBezTo>
                  <a:pt x="11" y="203"/>
                  <a:pt x="12" y="204"/>
                  <a:pt x="12" y="205"/>
                </a:cubicBezTo>
                <a:cubicBezTo>
                  <a:pt x="12" y="205"/>
                  <a:pt x="12" y="205"/>
                  <a:pt x="12" y="206"/>
                </a:cubicBezTo>
                <a:cubicBezTo>
                  <a:pt x="13" y="206"/>
                  <a:pt x="13" y="206"/>
                  <a:pt x="13" y="207"/>
                </a:cubicBezTo>
                <a:cubicBezTo>
                  <a:pt x="13" y="207"/>
                  <a:pt x="14" y="208"/>
                  <a:pt x="14" y="208"/>
                </a:cubicBezTo>
                <a:cubicBezTo>
                  <a:pt x="14" y="208"/>
                  <a:pt x="14" y="208"/>
                  <a:pt x="14" y="208"/>
                </a:cubicBezTo>
                <a:cubicBezTo>
                  <a:pt x="15" y="209"/>
                  <a:pt x="15" y="209"/>
                  <a:pt x="15" y="209"/>
                </a:cubicBezTo>
                <a:cubicBezTo>
                  <a:pt x="15" y="210"/>
                  <a:pt x="16" y="210"/>
                  <a:pt x="16" y="211"/>
                </a:cubicBezTo>
                <a:cubicBezTo>
                  <a:pt x="16" y="211"/>
                  <a:pt x="16" y="211"/>
                  <a:pt x="17" y="211"/>
                </a:cubicBezTo>
                <a:cubicBezTo>
                  <a:pt x="17" y="212"/>
                  <a:pt x="18" y="213"/>
                  <a:pt x="18" y="213"/>
                </a:cubicBezTo>
                <a:cubicBezTo>
                  <a:pt x="19" y="213"/>
                  <a:pt x="19" y="214"/>
                  <a:pt x="19" y="214"/>
                </a:cubicBezTo>
                <a:cubicBezTo>
                  <a:pt x="19" y="214"/>
                  <a:pt x="20" y="214"/>
                  <a:pt x="20" y="215"/>
                </a:cubicBezTo>
                <a:cubicBezTo>
                  <a:pt x="20" y="215"/>
                  <a:pt x="20" y="215"/>
                  <a:pt x="21" y="216"/>
                </a:cubicBezTo>
                <a:cubicBezTo>
                  <a:pt x="21" y="216"/>
                  <a:pt x="21" y="216"/>
                  <a:pt x="22" y="217"/>
                </a:cubicBezTo>
                <a:cubicBezTo>
                  <a:pt x="22" y="217"/>
                  <a:pt x="22" y="217"/>
                  <a:pt x="23" y="217"/>
                </a:cubicBezTo>
                <a:cubicBezTo>
                  <a:pt x="23" y="218"/>
                  <a:pt x="23" y="218"/>
                  <a:pt x="23" y="218"/>
                </a:cubicBezTo>
                <a:cubicBezTo>
                  <a:pt x="24" y="219"/>
                  <a:pt x="24" y="219"/>
                  <a:pt x="25" y="220"/>
                </a:cubicBezTo>
                <a:cubicBezTo>
                  <a:pt x="25" y="220"/>
                  <a:pt x="25" y="220"/>
                  <a:pt x="25" y="220"/>
                </a:cubicBezTo>
                <a:cubicBezTo>
                  <a:pt x="26" y="220"/>
                  <a:pt x="26" y="221"/>
                  <a:pt x="27" y="221"/>
                </a:cubicBezTo>
                <a:cubicBezTo>
                  <a:pt x="27" y="221"/>
                  <a:pt x="27" y="222"/>
                  <a:pt x="28" y="222"/>
                </a:cubicBezTo>
                <a:cubicBezTo>
                  <a:pt x="29" y="223"/>
                  <a:pt x="30" y="223"/>
                  <a:pt x="31" y="224"/>
                </a:cubicBezTo>
                <a:cubicBezTo>
                  <a:pt x="31" y="224"/>
                  <a:pt x="31" y="224"/>
                  <a:pt x="31" y="224"/>
                </a:cubicBezTo>
                <a:cubicBezTo>
                  <a:pt x="31" y="225"/>
                  <a:pt x="32" y="225"/>
                  <a:pt x="33" y="225"/>
                </a:cubicBezTo>
                <a:cubicBezTo>
                  <a:pt x="33" y="225"/>
                  <a:pt x="33" y="226"/>
                  <a:pt x="33" y="226"/>
                </a:cubicBezTo>
                <a:cubicBezTo>
                  <a:pt x="35" y="227"/>
                  <a:pt x="37" y="228"/>
                  <a:pt x="39" y="229"/>
                </a:cubicBezTo>
                <a:cubicBezTo>
                  <a:pt x="39" y="229"/>
                  <a:pt x="39" y="229"/>
                  <a:pt x="39" y="229"/>
                </a:cubicBezTo>
                <a:cubicBezTo>
                  <a:pt x="41" y="230"/>
                  <a:pt x="43" y="231"/>
                  <a:pt x="45" y="232"/>
                </a:cubicBezTo>
                <a:cubicBezTo>
                  <a:pt x="45" y="232"/>
                  <a:pt x="45" y="232"/>
                  <a:pt x="45" y="232"/>
                </a:cubicBezTo>
                <a:cubicBezTo>
                  <a:pt x="47" y="233"/>
                  <a:pt x="49" y="233"/>
                  <a:pt x="52" y="234"/>
                </a:cubicBezTo>
                <a:cubicBezTo>
                  <a:pt x="52" y="234"/>
                  <a:pt x="52" y="234"/>
                  <a:pt x="52" y="234"/>
                </a:cubicBezTo>
                <a:cubicBezTo>
                  <a:pt x="54" y="235"/>
                  <a:pt x="56" y="235"/>
                  <a:pt x="59" y="236"/>
                </a:cubicBezTo>
                <a:cubicBezTo>
                  <a:pt x="59" y="236"/>
                  <a:pt x="59" y="236"/>
                  <a:pt x="60" y="236"/>
                </a:cubicBezTo>
                <a:cubicBezTo>
                  <a:pt x="60" y="236"/>
                  <a:pt x="61" y="236"/>
                  <a:pt x="61" y="236"/>
                </a:cubicBezTo>
                <a:cubicBezTo>
                  <a:pt x="62" y="236"/>
                  <a:pt x="63" y="236"/>
                  <a:pt x="64" y="236"/>
                </a:cubicBezTo>
                <a:cubicBezTo>
                  <a:pt x="64" y="236"/>
                  <a:pt x="64" y="236"/>
                  <a:pt x="65" y="236"/>
                </a:cubicBezTo>
                <a:cubicBezTo>
                  <a:pt x="66" y="237"/>
                  <a:pt x="67" y="237"/>
                  <a:pt x="68" y="237"/>
                </a:cubicBezTo>
                <a:cubicBezTo>
                  <a:pt x="69" y="237"/>
                  <a:pt x="70" y="237"/>
                  <a:pt x="72" y="237"/>
                </a:cubicBezTo>
                <a:cubicBezTo>
                  <a:pt x="72" y="237"/>
                  <a:pt x="72" y="237"/>
                  <a:pt x="72" y="237"/>
                </a:cubicBezTo>
                <a:cubicBezTo>
                  <a:pt x="73" y="237"/>
                  <a:pt x="74" y="237"/>
                  <a:pt x="74" y="237"/>
                </a:cubicBezTo>
                <a:cubicBezTo>
                  <a:pt x="75" y="237"/>
                  <a:pt x="75" y="237"/>
                  <a:pt x="75" y="237"/>
                </a:cubicBezTo>
                <a:cubicBezTo>
                  <a:pt x="76" y="237"/>
                  <a:pt x="77" y="237"/>
                  <a:pt x="78" y="237"/>
                </a:cubicBezTo>
                <a:cubicBezTo>
                  <a:pt x="79" y="236"/>
                  <a:pt x="80" y="236"/>
                  <a:pt x="81" y="236"/>
                </a:cubicBezTo>
                <a:cubicBezTo>
                  <a:pt x="81" y="236"/>
                  <a:pt x="81" y="236"/>
                  <a:pt x="82" y="236"/>
                </a:cubicBezTo>
                <a:cubicBezTo>
                  <a:pt x="82" y="236"/>
                  <a:pt x="83" y="236"/>
                  <a:pt x="83" y="236"/>
                </a:cubicBezTo>
                <a:cubicBezTo>
                  <a:pt x="84" y="236"/>
                  <a:pt x="84" y="236"/>
                  <a:pt x="84" y="236"/>
                </a:cubicBezTo>
                <a:cubicBezTo>
                  <a:pt x="85" y="236"/>
                  <a:pt x="85" y="236"/>
                  <a:pt x="86" y="235"/>
                </a:cubicBezTo>
                <a:cubicBezTo>
                  <a:pt x="86" y="235"/>
                  <a:pt x="86" y="235"/>
                  <a:pt x="87" y="235"/>
                </a:cubicBezTo>
                <a:cubicBezTo>
                  <a:pt x="87" y="235"/>
                  <a:pt x="88" y="235"/>
                  <a:pt x="89" y="235"/>
                </a:cubicBezTo>
                <a:cubicBezTo>
                  <a:pt x="89" y="235"/>
                  <a:pt x="89" y="235"/>
                  <a:pt x="89" y="235"/>
                </a:cubicBezTo>
                <a:cubicBezTo>
                  <a:pt x="92" y="234"/>
                  <a:pt x="94" y="233"/>
                  <a:pt x="96" y="232"/>
                </a:cubicBezTo>
                <a:cubicBezTo>
                  <a:pt x="96" y="232"/>
                  <a:pt x="96" y="232"/>
                  <a:pt x="96" y="232"/>
                </a:cubicBezTo>
                <a:cubicBezTo>
                  <a:pt x="97" y="232"/>
                  <a:pt x="98" y="232"/>
                  <a:pt x="99" y="231"/>
                </a:cubicBezTo>
                <a:cubicBezTo>
                  <a:pt x="99" y="231"/>
                  <a:pt x="99" y="231"/>
                  <a:pt x="99" y="231"/>
                </a:cubicBezTo>
                <a:cubicBezTo>
                  <a:pt x="99" y="231"/>
                  <a:pt x="100" y="231"/>
                  <a:pt x="100" y="231"/>
                </a:cubicBezTo>
                <a:cubicBezTo>
                  <a:pt x="100" y="231"/>
                  <a:pt x="100" y="231"/>
                  <a:pt x="100" y="231"/>
                </a:cubicBezTo>
                <a:cubicBezTo>
                  <a:pt x="101" y="231"/>
                  <a:pt x="101" y="231"/>
                  <a:pt x="101" y="231"/>
                </a:cubicBezTo>
                <a:cubicBezTo>
                  <a:pt x="103" y="230"/>
                  <a:pt x="104" y="229"/>
                  <a:pt x="106" y="228"/>
                </a:cubicBezTo>
                <a:cubicBezTo>
                  <a:pt x="106" y="228"/>
                  <a:pt x="106" y="228"/>
                  <a:pt x="106" y="228"/>
                </a:cubicBezTo>
                <a:cubicBezTo>
                  <a:pt x="107" y="228"/>
                  <a:pt x="108" y="227"/>
                  <a:pt x="108" y="227"/>
                </a:cubicBezTo>
                <a:cubicBezTo>
                  <a:pt x="108" y="227"/>
                  <a:pt x="109" y="227"/>
                  <a:pt x="109" y="227"/>
                </a:cubicBezTo>
                <a:cubicBezTo>
                  <a:pt x="110" y="226"/>
                  <a:pt x="110" y="226"/>
                  <a:pt x="111" y="225"/>
                </a:cubicBezTo>
                <a:cubicBezTo>
                  <a:pt x="117" y="221"/>
                  <a:pt x="122" y="217"/>
                  <a:pt x="126" y="211"/>
                </a:cubicBezTo>
                <a:cubicBezTo>
                  <a:pt x="127" y="211"/>
                  <a:pt x="127" y="211"/>
                  <a:pt x="127" y="210"/>
                </a:cubicBezTo>
                <a:cubicBezTo>
                  <a:pt x="128" y="210"/>
                  <a:pt x="128" y="210"/>
                  <a:pt x="128" y="209"/>
                </a:cubicBezTo>
                <a:cubicBezTo>
                  <a:pt x="128" y="209"/>
                  <a:pt x="128" y="209"/>
                  <a:pt x="128" y="209"/>
                </a:cubicBezTo>
                <a:cubicBezTo>
                  <a:pt x="128" y="209"/>
                  <a:pt x="128" y="209"/>
                  <a:pt x="128" y="209"/>
                </a:cubicBezTo>
                <a:cubicBezTo>
                  <a:pt x="129" y="208"/>
                  <a:pt x="130" y="207"/>
                  <a:pt x="131" y="206"/>
                </a:cubicBezTo>
                <a:cubicBezTo>
                  <a:pt x="144" y="214"/>
                  <a:pt x="155" y="220"/>
                  <a:pt x="163" y="225"/>
                </a:cubicBezTo>
                <a:cubicBezTo>
                  <a:pt x="166" y="226"/>
                  <a:pt x="169" y="225"/>
                  <a:pt x="171" y="223"/>
                </a:cubicBezTo>
                <a:cubicBezTo>
                  <a:pt x="171" y="223"/>
                  <a:pt x="171" y="222"/>
                  <a:pt x="171" y="222"/>
                </a:cubicBezTo>
                <a:cubicBezTo>
                  <a:pt x="171" y="222"/>
                  <a:pt x="171" y="222"/>
                  <a:pt x="171" y="222"/>
                </a:cubicBezTo>
                <a:cubicBezTo>
                  <a:pt x="172" y="221"/>
                  <a:pt x="172" y="220"/>
                  <a:pt x="173" y="219"/>
                </a:cubicBezTo>
                <a:cubicBezTo>
                  <a:pt x="173" y="219"/>
                  <a:pt x="173" y="219"/>
                  <a:pt x="173" y="219"/>
                </a:cubicBezTo>
                <a:cubicBezTo>
                  <a:pt x="183" y="204"/>
                  <a:pt x="197" y="193"/>
                  <a:pt x="215" y="187"/>
                </a:cubicBezTo>
                <a:cubicBezTo>
                  <a:pt x="217" y="186"/>
                  <a:pt x="219" y="184"/>
                  <a:pt x="219" y="181"/>
                </a:cubicBezTo>
                <a:cubicBezTo>
                  <a:pt x="219" y="177"/>
                  <a:pt x="215" y="175"/>
                  <a:pt x="211" y="176"/>
                </a:cubicBezTo>
                <a:cubicBezTo>
                  <a:pt x="192" y="182"/>
                  <a:pt x="175" y="194"/>
                  <a:pt x="164" y="211"/>
                </a:cubicBezTo>
                <a:cubicBezTo>
                  <a:pt x="137" y="195"/>
                  <a:pt x="137" y="195"/>
                  <a:pt x="137" y="195"/>
                </a:cubicBezTo>
                <a:cubicBezTo>
                  <a:pt x="141" y="186"/>
                  <a:pt x="143" y="176"/>
                  <a:pt x="143" y="165"/>
                </a:cubicBezTo>
                <a:cubicBezTo>
                  <a:pt x="143" y="164"/>
                  <a:pt x="143" y="163"/>
                  <a:pt x="143" y="162"/>
                </a:cubicBezTo>
                <a:cubicBezTo>
                  <a:pt x="143" y="161"/>
                  <a:pt x="143" y="160"/>
                  <a:pt x="143" y="160"/>
                </a:cubicBezTo>
                <a:cubicBezTo>
                  <a:pt x="143" y="159"/>
                  <a:pt x="143" y="159"/>
                  <a:pt x="143" y="158"/>
                </a:cubicBezTo>
                <a:cubicBezTo>
                  <a:pt x="143" y="157"/>
                  <a:pt x="143" y="157"/>
                  <a:pt x="143" y="156"/>
                </a:cubicBezTo>
                <a:cubicBezTo>
                  <a:pt x="143" y="155"/>
                  <a:pt x="143" y="155"/>
                  <a:pt x="143" y="155"/>
                </a:cubicBezTo>
                <a:cubicBezTo>
                  <a:pt x="143" y="154"/>
                  <a:pt x="142" y="153"/>
                  <a:pt x="142" y="152"/>
                </a:cubicBezTo>
                <a:cubicBezTo>
                  <a:pt x="142" y="152"/>
                  <a:pt x="142" y="152"/>
                  <a:pt x="142" y="151"/>
                </a:cubicBezTo>
                <a:cubicBezTo>
                  <a:pt x="142" y="150"/>
                  <a:pt x="142" y="149"/>
                  <a:pt x="141" y="148"/>
                </a:cubicBezTo>
                <a:cubicBezTo>
                  <a:pt x="141" y="148"/>
                  <a:pt x="141" y="148"/>
                  <a:pt x="141" y="148"/>
                </a:cubicBezTo>
                <a:cubicBezTo>
                  <a:pt x="141" y="147"/>
                  <a:pt x="141" y="146"/>
                  <a:pt x="141" y="145"/>
                </a:cubicBezTo>
                <a:cubicBezTo>
                  <a:pt x="141" y="145"/>
                  <a:pt x="141" y="145"/>
                  <a:pt x="141" y="145"/>
                </a:cubicBezTo>
                <a:cubicBezTo>
                  <a:pt x="140" y="144"/>
                  <a:pt x="140" y="143"/>
                  <a:pt x="140" y="142"/>
                </a:cubicBezTo>
                <a:cubicBezTo>
                  <a:pt x="140" y="142"/>
                  <a:pt x="140" y="142"/>
                  <a:pt x="140" y="142"/>
                </a:cubicBezTo>
                <a:cubicBezTo>
                  <a:pt x="139" y="141"/>
                  <a:pt x="139" y="140"/>
                  <a:pt x="138" y="139"/>
                </a:cubicBezTo>
                <a:cubicBezTo>
                  <a:pt x="138" y="139"/>
                  <a:pt x="138" y="138"/>
                  <a:pt x="138" y="138"/>
                </a:cubicBezTo>
                <a:cubicBezTo>
                  <a:pt x="138" y="138"/>
                  <a:pt x="138" y="138"/>
                  <a:pt x="138" y="138"/>
                </a:cubicBezTo>
                <a:cubicBezTo>
                  <a:pt x="138" y="137"/>
                  <a:pt x="138" y="137"/>
                  <a:pt x="137" y="136"/>
                </a:cubicBezTo>
                <a:cubicBezTo>
                  <a:pt x="137" y="135"/>
                  <a:pt x="137" y="135"/>
                  <a:pt x="136" y="134"/>
                </a:cubicBezTo>
                <a:cubicBezTo>
                  <a:pt x="136" y="134"/>
                  <a:pt x="136" y="134"/>
                  <a:pt x="136" y="133"/>
                </a:cubicBezTo>
                <a:cubicBezTo>
                  <a:pt x="136" y="133"/>
                  <a:pt x="136" y="133"/>
                  <a:pt x="136" y="133"/>
                </a:cubicBezTo>
                <a:cubicBezTo>
                  <a:pt x="136" y="133"/>
                  <a:pt x="135" y="132"/>
                  <a:pt x="135" y="131"/>
                </a:cubicBezTo>
                <a:cubicBezTo>
                  <a:pt x="135" y="131"/>
                  <a:pt x="135" y="131"/>
                  <a:pt x="135" y="130"/>
                </a:cubicBezTo>
                <a:cubicBezTo>
                  <a:pt x="123" y="110"/>
                  <a:pt x="103" y="96"/>
                  <a:pt x="79" y="94"/>
                </a:cubicBezTo>
                <a:cubicBezTo>
                  <a:pt x="79" y="94"/>
                  <a:pt x="79" y="94"/>
                  <a:pt x="78" y="94"/>
                </a:cubicBezTo>
                <a:cubicBezTo>
                  <a:pt x="78" y="93"/>
                  <a:pt x="77" y="93"/>
                  <a:pt x="76" y="93"/>
                </a:cubicBezTo>
                <a:cubicBezTo>
                  <a:pt x="76" y="93"/>
                  <a:pt x="76" y="93"/>
                  <a:pt x="76" y="93"/>
                </a:cubicBezTo>
                <a:cubicBezTo>
                  <a:pt x="75" y="93"/>
                  <a:pt x="75" y="93"/>
                  <a:pt x="74" y="93"/>
                </a:cubicBezTo>
                <a:cubicBezTo>
                  <a:pt x="73" y="93"/>
                  <a:pt x="72" y="93"/>
                  <a:pt x="72" y="93"/>
                </a:cubicBezTo>
                <a:cubicBezTo>
                  <a:pt x="70" y="93"/>
                  <a:pt x="69" y="93"/>
                  <a:pt x="68" y="93"/>
                </a:cubicBezTo>
                <a:cubicBezTo>
                  <a:pt x="68" y="93"/>
                  <a:pt x="67" y="93"/>
                  <a:pt x="67" y="93"/>
                </a:cubicBezTo>
                <a:cubicBezTo>
                  <a:pt x="66" y="93"/>
                  <a:pt x="65" y="93"/>
                  <a:pt x="65" y="94"/>
                </a:cubicBezTo>
                <a:cubicBezTo>
                  <a:pt x="64" y="94"/>
                  <a:pt x="64" y="94"/>
                  <a:pt x="63" y="94"/>
                </a:cubicBezTo>
                <a:cubicBezTo>
                  <a:pt x="63" y="94"/>
                  <a:pt x="62" y="94"/>
                  <a:pt x="61" y="94"/>
                </a:cubicBezTo>
                <a:cubicBezTo>
                  <a:pt x="61" y="94"/>
                  <a:pt x="60" y="94"/>
                  <a:pt x="60" y="94"/>
                </a:cubicBezTo>
                <a:cubicBezTo>
                  <a:pt x="59" y="94"/>
                  <a:pt x="59" y="94"/>
                  <a:pt x="58" y="94"/>
                </a:cubicBezTo>
                <a:cubicBezTo>
                  <a:pt x="58" y="95"/>
                  <a:pt x="57" y="95"/>
                  <a:pt x="57" y="95"/>
                </a:cubicBezTo>
                <a:cubicBezTo>
                  <a:pt x="56" y="95"/>
                  <a:pt x="55" y="95"/>
                  <a:pt x="55" y="95"/>
                </a:cubicBezTo>
                <a:cubicBezTo>
                  <a:pt x="54" y="95"/>
                  <a:pt x="54" y="95"/>
                  <a:pt x="53" y="96"/>
                </a:cubicBezTo>
                <a:cubicBezTo>
                  <a:pt x="53" y="96"/>
                  <a:pt x="52" y="96"/>
                  <a:pt x="52" y="96"/>
                </a:cubicBezTo>
                <a:cubicBezTo>
                  <a:pt x="51" y="96"/>
                  <a:pt x="49" y="97"/>
                  <a:pt x="48" y="97"/>
                </a:cubicBezTo>
                <a:cubicBezTo>
                  <a:pt x="48" y="97"/>
                  <a:pt x="48" y="97"/>
                  <a:pt x="47" y="97"/>
                </a:cubicBezTo>
                <a:cubicBezTo>
                  <a:pt x="47" y="98"/>
                  <a:pt x="46" y="98"/>
                  <a:pt x="45" y="98"/>
                </a:cubicBezTo>
                <a:cubicBezTo>
                  <a:pt x="45" y="98"/>
                  <a:pt x="45" y="98"/>
                  <a:pt x="44" y="99"/>
                </a:cubicBezTo>
                <a:cubicBezTo>
                  <a:pt x="44" y="99"/>
                  <a:pt x="43" y="99"/>
                  <a:pt x="42" y="99"/>
                </a:cubicBezTo>
                <a:cubicBezTo>
                  <a:pt x="42" y="100"/>
                  <a:pt x="42" y="100"/>
                  <a:pt x="42" y="100"/>
                </a:cubicBezTo>
                <a:cubicBezTo>
                  <a:pt x="41" y="100"/>
                  <a:pt x="40" y="100"/>
                  <a:pt x="40" y="101"/>
                </a:cubicBezTo>
                <a:cubicBezTo>
                  <a:pt x="39" y="101"/>
                  <a:pt x="39" y="101"/>
                  <a:pt x="39" y="101"/>
                </a:cubicBezTo>
                <a:cubicBezTo>
                  <a:pt x="38" y="102"/>
                  <a:pt x="37" y="102"/>
                  <a:pt x="37" y="102"/>
                </a:cubicBezTo>
                <a:cubicBezTo>
                  <a:pt x="37" y="102"/>
                  <a:pt x="37" y="102"/>
                  <a:pt x="37" y="102"/>
                </a:cubicBezTo>
                <a:cubicBezTo>
                  <a:pt x="33" y="104"/>
                  <a:pt x="30" y="106"/>
                  <a:pt x="27" y="109"/>
                </a:cubicBezTo>
                <a:cubicBezTo>
                  <a:pt x="27" y="109"/>
                  <a:pt x="27" y="109"/>
                  <a:pt x="27" y="109"/>
                </a:cubicBezTo>
                <a:cubicBezTo>
                  <a:pt x="26" y="110"/>
                  <a:pt x="25" y="110"/>
                  <a:pt x="25" y="111"/>
                </a:cubicBezTo>
                <a:cubicBezTo>
                  <a:pt x="24" y="111"/>
                  <a:pt x="24" y="111"/>
                  <a:pt x="24" y="112"/>
                </a:cubicBezTo>
                <a:cubicBezTo>
                  <a:pt x="23" y="112"/>
                  <a:pt x="23" y="112"/>
                  <a:pt x="22" y="113"/>
                </a:cubicBezTo>
                <a:cubicBezTo>
                  <a:pt x="22" y="113"/>
                  <a:pt x="22" y="114"/>
                  <a:pt x="21" y="114"/>
                </a:cubicBezTo>
                <a:cubicBezTo>
                  <a:pt x="21" y="114"/>
                  <a:pt x="21" y="114"/>
                  <a:pt x="21" y="114"/>
                </a:cubicBezTo>
                <a:cubicBezTo>
                  <a:pt x="21" y="114"/>
                  <a:pt x="21" y="115"/>
                  <a:pt x="20" y="115"/>
                </a:cubicBezTo>
                <a:cubicBezTo>
                  <a:pt x="20" y="115"/>
                  <a:pt x="20" y="115"/>
                  <a:pt x="20" y="116"/>
                </a:cubicBezTo>
                <a:cubicBezTo>
                  <a:pt x="19" y="116"/>
                  <a:pt x="19" y="116"/>
                  <a:pt x="19" y="117"/>
                </a:cubicBezTo>
                <a:cubicBezTo>
                  <a:pt x="19" y="117"/>
                  <a:pt x="18" y="117"/>
                  <a:pt x="18" y="117"/>
                </a:cubicBezTo>
                <a:cubicBezTo>
                  <a:pt x="18" y="117"/>
                  <a:pt x="18" y="117"/>
                  <a:pt x="18" y="117"/>
                </a:cubicBezTo>
                <a:cubicBezTo>
                  <a:pt x="18" y="118"/>
                  <a:pt x="17" y="119"/>
                  <a:pt x="16" y="119"/>
                </a:cubicBezTo>
                <a:cubicBezTo>
                  <a:pt x="6" y="132"/>
                  <a:pt x="0" y="148"/>
                  <a:pt x="0" y="165"/>
                </a:cubicBezTo>
                <a:cubicBezTo>
                  <a:pt x="0" y="170"/>
                  <a:pt x="0" y="175"/>
                  <a:pt x="1" y="180"/>
                </a:cubicBezTo>
                <a:cubicBezTo>
                  <a:pt x="1" y="180"/>
                  <a:pt x="1" y="180"/>
                  <a:pt x="1" y="180"/>
                </a:cubicBezTo>
                <a:close/>
                <a:moveTo>
                  <a:pt x="36" y="141"/>
                </a:moveTo>
                <a:cubicBezTo>
                  <a:pt x="41" y="131"/>
                  <a:pt x="51" y="120"/>
                  <a:pt x="70" y="120"/>
                </a:cubicBezTo>
                <a:cubicBezTo>
                  <a:pt x="91" y="120"/>
                  <a:pt x="85" y="125"/>
                  <a:pt x="105" y="125"/>
                </a:cubicBezTo>
                <a:cubicBezTo>
                  <a:pt x="107" y="125"/>
                  <a:pt x="101" y="132"/>
                  <a:pt x="100" y="136"/>
                </a:cubicBezTo>
                <a:cubicBezTo>
                  <a:pt x="100" y="137"/>
                  <a:pt x="100" y="137"/>
                  <a:pt x="99" y="137"/>
                </a:cubicBezTo>
                <a:cubicBezTo>
                  <a:pt x="99" y="137"/>
                  <a:pt x="99" y="136"/>
                  <a:pt x="98" y="136"/>
                </a:cubicBezTo>
                <a:cubicBezTo>
                  <a:pt x="99" y="139"/>
                  <a:pt x="99" y="144"/>
                  <a:pt x="100" y="146"/>
                </a:cubicBezTo>
                <a:cubicBezTo>
                  <a:pt x="100" y="147"/>
                  <a:pt x="100" y="149"/>
                  <a:pt x="101" y="151"/>
                </a:cubicBezTo>
                <a:cubicBezTo>
                  <a:pt x="101" y="152"/>
                  <a:pt x="101" y="154"/>
                  <a:pt x="102" y="154"/>
                </a:cubicBezTo>
                <a:cubicBezTo>
                  <a:pt x="103" y="157"/>
                  <a:pt x="104" y="160"/>
                  <a:pt x="105" y="161"/>
                </a:cubicBezTo>
                <a:cubicBezTo>
                  <a:pt x="105" y="161"/>
                  <a:pt x="105" y="161"/>
                  <a:pt x="106" y="162"/>
                </a:cubicBezTo>
                <a:cubicBezTo>
                  <a:pt x="108" y="164"/>
                  <a:pt x="110" y="166"/>
                  <a:pt x="109" y="169"/>
                </a:cubicBezTo>
                <a:cubicBezTo>
                  <a:pt x="109" y="170"/>
                  <a:pt x="108" y="173"/>
                  <a:pt x="101" y="173"/>
                </a:cubicBezTo>
                <a:cubicBezTo>
                  <a:pt x="102" y="176"/>
                  <a:pt x="102" y="181"/>
                  <a:pt x="102" y="184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1" y="190"/>
                  <a:pt x="101" y="192"/>
                  <a:pt x="99" y="194"/>
                </a:cubicBezTo>
                <a:cubicBezTo>
                  <a:pt x="97" y="194"/>
                  <a:pt x="91" y="195"/>
                  <a:pt x="83" y="194"/>
                </a:cubicBezTo>
                <a:cubicBezTo>
                  <a:pt x="83" y="208"/>
                  <a:pt x="83" y="208"/>
                  <a:pt x="83" y="208"/>
                </a:cubicBezTo>
                <a:cubicBezTo>
                  <a:pt x="83" y="209"/>
                  <a:pt x="82" y="210"/>
                  <a:pt x="81" y="210"/>
                </a:cubicBezTo>
                <a:cubicBezTo>
                  <a:pt x="80" y="210"/>
                  <a:pt x="63" y="210"/>
                  <a:pt x="50" y="205"/>
                </a:cubicBezTo>
                <a:cubicBezTo>
                  <a:pt x="49" y="204"/>
                  <a:pt x="48" y="204"/>
                  <a:pt x="48" y="203"/>
                </a:cubicBezTo>
                <a:cubicBezTo>
                  <a:pt x="48" y="183"/>
                  <a:pt x="48" y="183"/>
                  <a:pt x="48" y="183"/>
                </a:cubicBezTo>
                <a:cubicBezTo>
                  <a:pt x="42" y="176"/>
                  <a:pt x="28" y="159"/>
                  <a:pt x="36" y="141"/>
                </a:cubicBezTo>
                <a:close/>
                <a:moveTo>
                  <a:pt x="242" y="196"/>
                </a:moveTo>
                <a:cubicBezTo>
                  <a:pt x="203" y="193"/>
                  <a:pt x="170" y="226"/>
                  <a:pt x="173" y="265"/>
                </a:cubicBezTo>
                <a:cubicBezTo>
                  <a:pt x="175" y="297"/>
                  <a:pt x="201" y="323"/>
                  <a:pt x="233" y="326"/>
                </a:cubicBezTo>
                <a:cubicBezTo>
                  <a:pt x="273" y="328"/>
                  <a:pt x="305" y="296"/>
                  <a:pt x="302" y="256"/>
                </a:cubicBezTo>
                <a:cubicBezTo>
                  <a:pt x="300" y="224"/>
                  <a:pt x="274" y="198"/>
                  <a:pt x="242" y="196"/>
                </a:cubicBezTo>
                <a:close/>
                <a:moveTo>
                  <a:pt x="235" y="297"/>
                </a:moveTo>
                <a:cubicBezTo>
                  <a:pt x="202" y="268"/>
                  <a:pt x="202" y="268"/>
                  <a:pt x="202" y="268"/>
                </a:cubicBezTo>
                <a:cubicBezTo>
                  <a:pt x="210" y="259"/>
                  <a:pt x="210" y="259"/>
                  <a:pt x="210" y="259"/>
                </a:cubicBezTo>
                <a:cubicBezTo>
                  <a:pt x="232" y="278"/>
                  <a:pt x="232" y="278"/>
                  <a:pt x="232" y="278"/>
                </a:cubicBezTo>
                <a:cubicBezTo>
                  <a:pt x="262" y="229"/>
                  <a:pt x="262" y="229"/>
                  <a:pt x="262" y="229"/>
                </a:cubicBezTo>
                <a:cubicBezTo>
                  <a:pt x="272" y="236"/>
                  <a:pt x="272" y="236"/>
                  <a:pt x="272" y="236"/>
                </a:cubicBezTo>
                <a:lnTo>
                  <a:pt x="235" y="297"/>
                </a:lnTo>
                <a:close/>
                <a:moveTo>
                  <a:pt x="244" y="378"/>
                </a:moveTo>
                <a:cubicBezTo>
                  <a:pt x="244" y="343"/>
                  <a:pt x="244" y="343"/>
                  <a:pt x="244" y="343"/>
                </a:cubicBezTo>
                <a:cubicBezTo>
                  <a:pt x="244" y="340"/>
                  <a:pt x="241" y="338"/>
                  <a:pt x="238" y="338"/>
                </a:cubicBezTo>
                <a:cubicBezTo>
                  <a:pt x="238" y="338"/>
                  <a:pt x="238" y="338"/>
                  <a:pt x="238" y="338"/>
                </a:cubicBezTo>
                <a:cubicBezTo>
                  <a:pt x="237" y="338"/>
                  <a:pt x="236" y="338"/>
                  <a:pt x="235" y="337"/>
                </a:cubicBezTo>
                <a:cubicBezTo>
                  <a:pt x="235" y="337"/>
                  <a:pt x="235" y="337"/>
                  <a:pt x="235" y="337"/>
                </a:cubicBezTo>
                <a:cubicBezTo>
                  <a:pt x="217" y="337"/>
                  <a:pt x="199" y="330"/>
                  <a:pt x="186" y="317"/>
                </a:cubicBezTo>
                <a:cubicBezTo>
                  <a:pt x="183" y="315"/>
                  <a:pt x="180" y="315"/>
                  <a:pt x="178" y="317"/>
                </a:cubicBezTo>
                <a:cubicBezTo>
                  <a:pt x="175" y="319"/>
                  <a:pt x="174" y="324"/>
                  <a:pt x="177" y="326"/>
                </a:cubicBezTo>
                <a:cubicBezTo>
                  <a:pt x="192" y="340"/>
                  <a:pt x="211" y="348"/>
                  <a:pt x="232" y="350"/>
                </a:cubicBezTo>
                <a:cubicBezTo>
                  <a:pt x="232" y="378"/>
                  <a:pt x="232" y="378"/>
                  <a:pt x="232" y="378"/>
                </a:cubicBezTo>
                <a:cubicBezTo>
                  <a:pt x="195" y="381"/>
                  <a:pt x="166" y="412"/>
                  <a:pt x="166" y="450"/>
                </a:cubicBezTo>
                <a:cubicBezTo>
                  <a:pt x="166" y="490"/>
                  <a:pt x="198" y="522"/>
                  <a:pt x="238" y="522"/>
                </a:cubicBezTo>
                <a:cubicBezTo>
                  <a:pt x="278" y="522"/>
                  <a:pt x="310" y="490"/>
                  <a:pt x="310" y="450"/>
                </a:cubicBezTo>
                <a:cubicBezTo>
                  <a:pt x="310" y="412"/>
                  <a:pt x="281" y="381"/>
                  <a:pt x="244" y="378"/>
                </a:cubicBezTo>
                <a:close/>
                <a:moveTo>
                  <a:pt x="261" y="468"/>
                </a:moveTo>
                <a:cubicBezTo>
                  <a:pt x="261" y="468"/>
                  <a:pt x="261" y="468"/>
                  <a:pt x="261" y="488"/>
                </a:cubicBezTo>
                <a:cubicBezTo>
                  <a:pt x="261" y="488"/>
                  <a:pt x="261" y="489"/>
                  <a:pt x="260" y="489"/>
                </a:cubicBezTo>
                <a:cubicBezTo>
                  <a:pt x="247" y="495"/>
                  <a:pt x="230" y="495"/>
                  <a:pt x="229" y="495"/>
                </a:cubicBezTo>
                <a:cubicBezTo>
                  <a:pt x="227" y="495"/>
                  <a:pt x="226" y="494"/>
                  <a:pt x="226" y="493"/>
                </a:cubicBezTo>
                <a:cubicBezTo>
                  <a:pt x="226" y="493"/>
                  <a:pt x="226" y="493"/>
                  <a:pt x="226" y="479"/>
                </a:cubicBezTo>
                <a:cubicBezTo>
                  <a:pt x="218" y="480"/>
                  <a:pt x="212" y="479"/>
                  <a:pt x="210" y="478"/>
                </a:cubicBezTo>
                <a:cubicBezTo>
                  <a:pt x="208" y="477"/>
                  <a:pt x="208" y="474"/>
                  <a:pt x="208" y="469"/>
                </a:cubicBezTo>
                <a:cubicBezTo>
                  <a:pt x="208" y="469"/>
                  <a:pt x="208" y="469"/>
                  <a:pt x="208" y="469"/>
                </a:cubicBezTo>
                <a:cubicBezTo>
                  <a:pt x="207" y="466"/>
                  <a:pt x="208" y="461"/>
                  <a:pt x="208" y="458"/>
                </a:cubicBezTo>
                <a:cubicBezTo>
                  <a:pt x="202" y="458"/>
                  <a:pt x="200" y="455"/>
                  <a:pt x="200" y="454"/>
                </a:cubicBezTo>
                <a:cubicBezTo>
                  <a:pt x="199" y="451"/>
                  <a:pt x="201" y="449"/>
                  <a:pt x="204" y="446"/>
                </a:cubicBezTo>
                <a:cubicBezTo>
                  <a:pt x="204" y="446"/>
                  <a:pt x="204" y="446"/>
                  <a:pt x="205" y="446"/>
                </a:cubicBezTo>
                <a:cubicBezTo>
                  <a:pt x="206" y="444"/>
                  <a:pt x="207" y="442"/>
                  <a:pt x="208" y="439"/>
                </a:cubicBezTo>
                <a:cubicBezTo>
                  <a:pt x="208" y="438"/>
                  <a:pt x="208" y="437"/>
                  <a:pt x="209" y="436"/>
                </a:cubicBezTo>
                <a:cubicBezTo>
                  <a:pt x="209" y="434"/>
                  <a:pt x="209" y="432"/>
                  <a:pt x="210" y="431"/>
                </a:cubicBezTo>
                <a:cubicBezTo>
                  <a:pt x="210" y="429"/>
                  <a:pt x="211" y="424"/>
                  <a:pt x="211" y="421"/>
                </a:cubicBezTo>
                <a:cubicBezTo>
                  <a:pt x="211" y="421"/>
                  <a:pt x="210" y="421"/>
                  <a:pt x="210" y="421"/>
                </a:cubicBezTo>
                <a:cubicBezTo>
                  <a:pt x="210" y="421"/>
                  <a:pt x="210" y="421"/>
                  <a:pt x="210" y="421"/>
                </a:cubicBezTo>
                <a:cubicBezTo>
                  <a:pt x="209" y="417"/>
                  <a:pt x="202" y="410"/>
                  <a:pt x="204" y="410"/>
                </a:cubicBezTo>
                <a:cubicBezTo>
                  <a:pt x="225" y="410"/>
                  <a:pt x="218" y="405"/>
                  <a:pt x="240" y="405"/>
                </a:cubicBezTo>
                <a:cubicBezTo>
                  <a:pt x="259" y="405"/>
                  <a:pt x="268" y="416"/>
                  <a:pt x="273" y="426"/>
                </a:cubicBezTo>
                <a:cubicBezTo>
                  <a:pt x="281" y="443"/>
                  <a:pt x="268" y="461"/>
                  <a:pt x="261" y="468"/>
                </a:cubicBezTo>
                <a:close/>
              </a:path>
            </a:pathLst>
          </a:custGeom>
          <a:solidFill>
            <a:srgbClr val="D8192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Trebuchet MS"/>
              <a:ea typeface="카이겐고딕 KR Medium"/>
              <a:cs typeface="Arial"/>
            </a:endParaRPr>
          </a:p>
        </p:txBody>
      </p:sp>
      <p:sp>
        <p:nvSpPr>
          <p:cNvPr id="31" name="직사각형 13">
            <a:extLst>
              <a:ext uri="{FF2B5EF4-FFF2-40B4-BE49-F238E27FC236}">
                <a16:creationId xmlns:a16="http://schemas.microsoft.com/office/drawing/2014/main" id="{0D1E85E6-8A87-B3A2-0DFB-8FF3E485B997}"/>
              </a:ext>
            </a:extLst>
          </p:cNvPr>
          <p:cNvSpPr/>
          <p:nvPr/>
        </p:nvSpPr>
        <p:spPr>
          <a:xfrm>
            <a:off x="1906513" y="4678037"/>
            <a:ext cx="2840341" cy="62582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데이터 정제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Feature 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적용 및 학습 데이터셋 구성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EB75180-9704-9C55-696F-A355A6B1398D}"/>
              </a:ext>
            </a:extLst>
          </p:cNvPr>
          <p:cNvGrpSpPr/>
          <p:nvPr/>
        </p:nvGrpSpPr>
        <p:grpSpPr>
          <a:xfrm>
            <a:off x="1150758" y="4665878"/>
            <a:ext cx="673288" cy="625821"/>
            <a:chOff x="1110634" y="4887368"/>
            <a:chExt cx="600929" cy="545652"/>
          </a:xfrm>
        </p:grpSpPr>
        <p:pic>
          <p:nvPicPr>
            <p:cNvPr id="33" name="그래픽 32" descr="데이터베이스 단색으로 채워진">
              <a:extLst>
                <a:ext uri="{FF2B5EF4-FFF2-40B4-BE49-F238E27FC236}">
                  <a16:creationId xmlns:a16="http://schemas.microsoft.com/office/drawing/2014/main" id="{C30F3F06-D67D-37B2-99B2-05E6E20E4D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0634" y="4887368"/>
              <a:ext cx="600929" cy="545652"/>
            </a:xfrm>
            <a:prstGeom prst="rect">
              <a:avLst/>
            </a:prstGeom>
          </p:spPr>
        </p:pic>
        <p:sp>
          <p:nvSpPr>
            <p:cNvPr id="34" name="Freeform 292">
              <a:extLst>
                <a:ext uri="{FF2B5EF4-FFF2-40B4-BE49-F238E27FC236}">
                  <a16:creationId xmlns:a16="http://schemas.microsoft.com/office/drawing/2014/main" id="{2EE1C55F-4426-D64B-51AB-AA3C53726B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24231" y="5121367"/>
              <a:ext cx="241580" cy="278394"/>
            </a:xfrm>
            <a:custGeom>
              <a:avLst/>
              <a:gdLst>
                <a:gd name="T0" fmla="*/ 199 w 235"/>
                <a:gd name="T1" fmla="*/ 66 h 235"/>
                <a:gd name="T2" fmla="*/ 213 w 235"/>
                <a:gd name="T3" fmla="*/ 47 h 235"/>
                <a:gd name="T4" fmla="*/ 188 w 235"/>
                <a:gd name="T5" fmla="*/ 22 h 235"/>
                <a:gd name="T6" fmla="*/ 170 w 235"/>
                <a:gd name="T7" fmla="*/ 36 h 235"/>
                <a:gd name="T8" fmla="*/ 139 w 235"/>
                <a:gd name="T9" fmla="*/ 23 h 235"/>
                <a:gd name="T10" fmla="*/ 135 w 235"/>
                <a:gd name="T11" fmla="*/ 0 h 235"/>
                <a:gd name="T12" fmla="*/ 100 w 235"/>
                <a:gd name="T13" fmla="*/ 0 h 235"/>
                <a:gd name="T14" fmla="*/ 97 w 235"/>
                <a:gd name="T15" fmla="*/ 23 h 235"/>
                <a:gd name="T16" fmla="*/ 66 w 235"/>
                <a:gd name="T17" fmla="*/ 36 h 235"/>
                <a:gd name="T18" fmla="*/ 47 w 235"/>
                <a:gd name="T19" fmla="*/ 22 h 235"/>
                <a:gd name="T20" fmla="*/ 22 w 235"/>
                <a:gd name="T21" fmla="*/ 47 h 235"/>
                <a:gd name="T22" fmla="*/ 36 w 235"/>
                <a:gd name="T23" fmla="*/ 66 h 235"/>
                <a:gd name="T24" fmla="*/ 23 w 235"/>
                <a:gd name="T25" fmla="*/ 97 h 235"/>
                <a:gd name="T26" fmla="*/ 0 w 235"/>
                <a:gd name="T27" fmla="*/ 100 h 235"/>
                <a:gd name="T28" fmla="*/ 0 w 235"/>
                <a:gd name="T29" fmla="*/ 135 h 235"/>
                <a:gd name="T30" fmla="*/ 23 w 235"/>
                <a:gd name="T31" fmla="*/ 139 h 235"/>
                <a:gd name="T32" fmla="*/ 36 w 235"/>
                <a:gd name="T33" fmla="*/ 170 h 235"/>
                <a:gd name="T34" fmla="*/ 22 w 235"/>
                <a:gd name="T35" fmla="*/ 188 h 235"/>
                <a:gd name="T36" fmla="*/ 47 w 235"/>
                <a:gd name="T37" fmla="*/ 213 h 235"/>
                <a:gd name="T38" fmla="*/ 66 w 235"/>
                <a:gd name="T39" fmla="*/ 199 h 235"/>
                <a:gd name="T40" fmla="*/ 97 w 235"/>
                <a:gd name="T41" fmla="*/ 212 h 235"/>
                <a:gd name="T42" fmla="*/ 100 w 235"/>
                <a:gd name="T43" fmla="*/ 235 h 235"/>
                <a:gd name="T44" fmla="*/ 135 w 235"/>
                <a:gd name="T45" fmla="*/ 235 h 235"/>
                <a:gd name="T46" fmla="*/ 139 w 235"/>
                <a:gd name="T47" fmla="*/ 212 h 235"/>
                <a:gd name="T48" fmla="*/ 170 w 235"/>
                <a:gd name="T49" fmla="*/ 199 h 235"/>
                <a:gd name="T50" fmla="*/ 188 w 235"/>
                <a:gd name="T51" fmla="*/ 213 h 235"/>
                <a:gd name="T52" fmla="*/ 213 w 235"/>
                <a:gd name="T53" fmla="*/ 188 h 235"/>
                <a:gd name="T54" fmla="*/ 199 w 235"/>
                <a:gd name="T55" fmla="*/ 170 h 235"/>
                <a:gd name="T56" fmla="*/ 212 w 235"/>
                <a:gd name="T57" fmla="*/ 139 h 235"/>
                <a:gd name="T58" fmla="*/ 235 w 235"/>
                <a:gd name="T59" fmla="*/ 135 h 235"/>
                <a:gd name="T60" fmla="*/ 235 w 235"/>
                <a:gd name="T61" fmla="*/ 100 h 235"/>
                <a:gd name="T62" fmla="*/ 212 w 235"/>
                <a:gd name="T63" fmla="*/ 97 h 235"/>
                <a:gd name="T64" fmla="*/ 199 w 235"/>
                <a:gd name="T65" fmla="*/ 66 h 235"/>
                <a:gd name="T66" fmla="*/ 118 w 235"/>
                <a:gd name="T67" fmla="*/ 167 h 235"/>
                <a:gd name="T68" fmla="*/ 68 w 235"/>
                <a:gd name="T69" fmla="*/ 118 h 235"/>
                <a:gd name="T70" fmla="*/ 118 w 235"/>
                <a:gd name="T71" fmla="*/ 68 h 235"/>
                <a:gd name="T72" fmla="*/ 167 w 235"/>
                <a:gd name="T73" fmla="*/ 118 h 235"/>
                <a:gd name="T74" fmla="*/ 118 w 235"/>
                <a:gd name="T75" fmla="*/ 167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5" h="235">
                  <a:moveTo>
                    <a:pt x="199" y="66"/>
                  </a:moveTo>
                  <a:cubicBezTo>
                    <a:pt x="213" y="47"/>
                    <a:pt x="213" y="47"/>
                    <a:pt x="213" y="47"/>
                  </a:cubicBezTo>
                  <a:cubicBezTo>
                    <a:pt x="188" y="22"/>
                    <a:pt x="188" y="22"/>
                    <a:pt x="188" y="22"/>
                  </a:cubicBezTo>
                  <a:cubicBezTo>
                    <a:pt x="170" y="36"/>
                    <a:pt x="170" y="36"/>
                    <a:pt x="170" y="36"/>
                  </a:cubicBezTo>
                  <a:cubicBezTo>
                    <a:pt x="160" y="30"/>
                    <a:pt x="150" y="26"/>
                    <a:pt x="139" y="23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23"/>
                    <a:pt x="97" y="23"/>
                    <a:pt x="97" y="23"/>
                  </a:cubicBezTo>
                  <a:cubicBezTo>
                    <a:pt x="85" y="26"/>
                    <a:pt x="75" y="30"/>
                    <a:pt x="66" y="36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36" y="66"/>
                    <a:pt x="36" y="66"/>
                    <a:pt x="36" y="66"/>
                  </a:cubicBezTo>
                  <a:cubicBezTo>
                    <a:pt x="30" y="75"/>
                    <a:pt x="26" y="86"/>
                    <a:pt x="23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23" y="139"/>
                    <a:pt x="23" y="139"/>
                    <a:pt x="23" y="139"/>
                  </a:cubicBezTo>
                  <a:cubicBezTo>
                    <a:pt x="26" y="150"/>
                    <a:pt x="30" y="160"/>
                    <a:pt x="36" y="170"/>
                  </a:cubicBezTo>
                  <a:cubicBezTo>
                    <a:pt x="22" y="188"/>
                    <a:pt x="22" y="188"/>
                    <a:pt x="22" y="188"/>
                  </a:cubicBezTo>
                  <a:cubicBezTo>
                    <a:pt x="47" y="213"/>
                    <a:pt x="47" y="213"/>
                    <a:pt x="47" y="213"/>
                  </a:cubicBezTo>
                  <a:cubicBezTo>
                    <a:pt x="66" y="199"/>
                    <a:pt x="66" y="199"/>
                    <a:pt x="66" y="199"/>
                  </a:cubicBezTo>
                  <a:cubicBezTo>
                    <a:pt x="75" y="205"/>
                    <a:pt x="85" y="210"/>
                    <a:pt x="97" y="212"/>
                  </a:cubicBezTo>
                  <a:cubicBezTo>
                    <a:pt x="100" y="235"/>
                    <a:pt x="100" y="235"/>
                    <a:pt x="100" y="235"/>
                  </a:cubicBezTo>
                  <a:cubicBezTo>
                    <a:pt x="135" y="235"/>
                    <a:pt x="135" y="235"/>
                    <a:pt x="135" y="235"/>
                  </a:cubicBezTo>
                  <a:cubicBezTo>
                    <a:pt x="139" y="212"/>
                    <a:pt x="139" y="212"/>
                    <a:pt x="139" y="212"/>
                  </a:cubicBezTo>
                  <a:cubicBezTo>
                    <a:pt x="150" y="210"/>
                    <a:pt x="160" y="205"/>
                    <a:pt x="170" y="199"/>
                  </a:cubicBezTo>
                  <a:cubicBezTo>
                    <a:pt x="188" y="213"/>
                    <a:pt x="188" y="213"/>
                    <a:pt x="188" y="213"/>
                  </a:cubicBezTo>
                  <a:cubicBezTo>
                    <a:pt x="213" y="188"/>
                    <a:pt x="213" y="188"/>
                    <a:pt x="213" y="188"/>
                  </a:cubicBezTo>
                  <a:cubicBezTo>
                    <a:pt x="199" y="170"/>
                    <a:pt x="199" y="170"/>
                    <a:pt x="199" y="170"/>
                  </a:cubicBezTo>
                  <a:cubicBezTo>
                    <a:pt x="205" y="160"/>
                    <a:pt x="210" y="150"/>
                    <a:pt x="212" y="139"/>
                  </a:cubicBezTo>
                  <a:cubicBezTo>
                    <a:pt x="235" y="135"/>
                    <a:pt x="235" y="135"/>
                    <a:pt x="235" y="135"/>
                  </a:cubicBezTo>
                  <a:cubicBezTo>
                    <a:pt x="235" y="100"/>
                    <a:pt x="235" y="100"/>
                    <a:pt x="235" y="100"/>
                  </a:cubicBezTo>
                  <a:cubicBezTo>
                    <a:pt x="212" y="97"/>
                    <a:pt x="212" y="97"/>
                    <a:pt x="212" y="97"/>
                  </a:cubicBezTo>
                  <a:cubicBezTo>
                    <a:pt x="210" y="86"/>
                    <a:pt x="205" y="75"/>
                    <a:pt x="199" y="66"/>
                  </a:cubicBezTo>
                  <a:close/>
                  <a:moveTo>
                    <a:pt x="118" y="167"/>
                  </a:moveTo>
                  <a:cubicBezTo>
                    <a:pt x="90" y="167"/>
                    <a:pt x="68" y="145"/>
                    <a:pt x="68" y="118"/>
                  </a:cubicBezTo>
                  <a:cubicBezTo>
                    <a:pt x="68" y="90"/>
                    <a:pt x="90" y="68"/>
                    <a:pt x="118" y="68"/>
                  </a:cubicBezTo>
                  <a:cubicBezTo>
                    <a:pt x="145" y="68"/>
                    <a:pt x="167" y="90"/>
                    <a:pt x="167" y="118"/>
                  </a:cubicBezTo>
                  <a:cubicBezTo>
                    <a:pt x="167" y="145"/>
                    <a:pt x="145" y="167"/>
                    <a:pt x="118" y="167"/>
                  </a:cubicBezTo>
                  <a:close/>
                </a:path>
              </a:pathLst>
            </a:custGeom>
            <a:solidFill>
              <a:srgbClr val="D8192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5" name="Freeform 481">
            <a:extLst>
              <a:ext uri="{FF2B5EF4-FFF2-40B4-BE49-F238E27FC236}">
                <a16:creationId xmlns:a16="http://schemas.microsoft.com/office/drawing/2014/main" id="{8F0F8879-2507-737C-7114-5F4273D6D77A}"/>
              </a:ext>
            </a:extLst>
          </p:cNvPr>
          <p:cNvSpPr>
            <a:spLocks noEditPoints="1"/>
          </p:cNvSpPr>
          <p:nvPr/>
        </p:nvSpPr>
        <p:spPr bwMode="auto">
          <a:xfrm>
            <a:off x="1281855" y="5582887"/>
            <a:ext cx="475562" cy="499510"/>
          </a:xfrm>
          <a:custGeom>
            <a:avLst/>
            <a:gdLst>
              <a:gd name="T0" fmla="*/ 425 w 472"/>
              <a:gd name="T1" fmla="*/ 203 h 508"/>
              <a:gd name="T2" fmla="*/ 381 w 472"/>
              <a:gd name="T3" fmla="*/ 174 h 508"/>
              <a:gd name="T4" fmla="*/ 219 w 472"/>
              <a:gd name="T5" fmla="*/ 260 h 508"/>
              <a:gd name="T6" fmla="*/ 137 w 472"/>
              <a:gd name="T7" fmla="*/ 471 h 508"/>
              <a:gd name="T8" fmla="*/ 315 w 472"/>
              <a:gd name="T9" fmla="*/ 508 h 508"/>
              <a:gd name="T10" fmla="*/ 413 w 472"/>
              <a:gd name="T11" fmla="*/ 417 h 508"/>
              <a:gd name="T12" fmla="*/ 424 w 472"/>
              <a:gd name="T13" fmla="*/ 305 h 508"/>
              <a:gd name="T14" fmla="*/ 216 w 472"/>
              <a:gd name="T15" fmla="*/ 110 h 508"/>
              <a:gd name="T16" fmla="*/ 277 w 472"/>
              <a:gd name="T17" fmla="*/ 110 h 508"/>
              <a:gd name="T18" fmla="*/ 325 w 472"/>
              <a:gd name="T19" fmla="*/ 74 h 508"/>
              <a:gd name="T20" fmla="*/ 276 w 472"/>
              <a:gd name="T21" fmla="*/ 91 h 508"/>
              <a:gd name="T22" fmla="*/ 198 w 472"/>
              <a:gd name="T23" fmla="*/ 71 h 508"/>
              <a:gd name="T24" fmla="*/ 397 w 472"/>
              <a:gd name="T25" fmla="*/ 108 h 508"/>
              <a:gd name="T26" fmla="*/ 318 w 472"/>
              <a:gd name="T27" fmla="*/ 116 h 508"/>
              <a:gd name="T28" fmla="*/ 281 w 472"/>
              <a:gd name="T29" fmla="*/ 210 h 508"/>
              <a:gd name="T30" fmla="*/ 288 w 472"/>
              <a:gd name="T31" fmla="*/ 249 h 508"/>
              <a:gd name="T32" fmla="*/ 352 w 472"/>
              <a:gd name="T33" fmla="*/ 218 h 508"/>
              <a:gd name="T34" fmla="*/ 402 w 472"/>
              <a:gd name="T35" fmla="*/ 123 h 508"/>
              <a:gd name="T36" fmla="*/ 406 w 472"/>
              <a:gd name="T37" fmla="*/ 163 h 508"/>
              <a:gd name="T38" fmla="*/ 421 w 472"/>
              <a:gd name="T39" fmla="*/ 161 h 508"/>
              <a:gd name="T40" fmla="*/ 191 w 472"/>
              <a:gd name="T41" fmla="*/ 0 h 508"/>
              <a:gd name="T42" fmla="*/ 186 w 472"/>
              <a:gd name="T43" fmla="*/ 79 h 508"/>
              <a:gd name="T44" fmla="*/ 325 w 472"/>
              <a:gd name="T45" fmla="*/ 161 h 508"/>
              <a:gd name="T46" fmla="*/ 273 w 472"/>
              <a:gd name="T47" fmla="*/ 131 h 508"/>
              <a:gd name="T48" fmla="*/ 220 w 472"/>
              <a:gd name="T49" fmla="*/ 136 h 508"/>
              <a:gd name="T50" fmla="*/ 243 w 472"/>
              <a:gd name="T51" fmla="*/ 220 h 508"/>
              <a:gd name="T52" fmla="*/ 258 w 472"/>
              <a:gd name="T53" fmla="*/ 217 h 508"/>
              <a:gd name="T54" fmla="*/ 234 w 472"/>
              <a:gd name="T55" fmla="*/ 143 h 508"/>
              <a:gd name="T56" fmla="*/ 270 w 472"/>
              <a:gd name="T57" fmla="*/ 161 h 508"/>
              <a:gd name="T58" fmla="*/ 80 w 472"/>
              <a:gd name="T59" fmla="*/ 58 h 508"/>
              <a:gd name="T60" fmla="*/ 98 w 472"/>
              <a:gd name="T61" fmla="*/ 153 h 508"/>
              <a:gd name="T62" fmla="*/ 133 w 472"/>
              <a:gd name="T63" fmla="*/ 126 h 508"/>
              <a:gd name="T64" fmla="*/ 77 w 472"/>
              <a:gd name="T65" fmla="*/ 36 h 508"/>
              <a:gd name="T66" fmla="*/ 65 w 472"/>
              <a:gd name="T67" fmla="*/ 147 h 508"/>
              <a:gd name="T68" fmla="*/ 55 w 472"/>
              <a:gd name="T69" fmla="*/ 28 h 508"/>
              <a:gd name="T70" fmla="*/ 20 w 472"/>
              <a:gd name="T71" fmla="*/ 55 h 508"/>
              <a:gd name="T72" fmla="*/ 65 w 472"/>
              <a:gd name="T73" fmla="*/ 168 h 508"/>
              <a:gd name="T74" fmla="*/ 87 w 472"/>
              <a:gd name="T75" fmla="*/ 264 h 508"/>
              <a:gd name="T76" fmla="*/ 102 w 472"/>
              <a:gd name="T77" fmla="*/ 338 h 508"/>
              <a:gd name="T78" fmla="*/ 80 w 472"/>
              <a:gd name="T79" fmla="*/ 236 h 508"/>
              <a:gd name="T80" fmla="*/ 200 w 472"/>
              <a:gd name="T81" fmla="*/ 246 h 508"/>
              <a:gd name="T82" fmla="*/ 169 w 472"/>
              <a:gd name="T83" fmla="*/ 92 h 508"/>
              <a:gd name="T84" fmla="*/ 154 w 472"/>
              <a:gd name="T85" fmla="*/ 28 h 508"/>
              <a:gd name="T86" fmla="*/ 186 w 472"/>
              <a:gd name="T87" fmla="*/ 129 h 508"/>
              <a:gd name="T88" fmla="*/ 135 w 472"/>
              <a:gd name="T89" fmla="*/ 251 h 508"/>
              <a:gd name="T90" fmla="*/ 98 w 472"/>
              <a:gd name="T91" fmla="*/ 225 h 508"/>
              <a:gd name="T92" fmla="*/ 125 w 472"/>
              <a:gd name="T93" fmla="*/ 317 h 508"/>
              <a:gd name="T94" fmla="*/ 55 w 472"/>
              <a:gd name="T95" fmla="*/ 205 h 508"/>
              <a:gd name="T96" fmla="*/ 20 w 472"/>
              <a:gd name="T97" fmla="*/ 232 h 508"/>
              <a:gd name="T98" fmla="*/ 27 w 472"/>
              <a:gd name="T99" fmla="*/ 334 h 508"/>
              <a:gd name="T100" fmla="*/ 35 w 472"/>
              <a:gd name="T101" fmla="*/ 232 h 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72" h="508">
                <a:moveTo>
                  <a:pt x="449" y="246"/>
                </a:moveTo>
                <a:cubicBezTo>
                  <a:pt x="447" y="244"/>
                  <a:pt x="446" y="242"/>
                  <a:pt x="445" y="241"/>
                </a:cubicBezTo>
                <a:cubicBezTo>
                  <a:pt x="439" y="234"/>
                  <a:pt x="432" y="221"/>
                  <a:pt x="425" y="203"/>
                </a:cubicBezTo>
                <a:cubicBezTo>
                  <a:pt x="425" y="199"/>
                  <a:pt x="424" y="192"/>
                  <a:pt x="423" y="185"/>
                </a:cubicBezTo>
                <a:cubicBezTo>
                  <a:pt x="423" y="181"/>
                  <a:pt x="422" y="177"/>
                  <a:pt x="422" y="174"/>
                </a:cubicBezTo>
                <a:cubicBezTo>
                  <a:pt x="381" y="174"/>
                  <a:pt x="381" y="174"/>
                  <a:pt x="381" y="174"/>
                </a:cubicBezTo>
                <a:cubicBezTo>
                  <a:pt x="381" y="218"/>
                  <a:pt x="381" y="218"/>
                  <a:pt x="381" y="218"/>
                </a:cubicBezTo>
                <a:cubicBezTo>
                  <a:pt x="339" y="260"/>
                  <a:pt x="339" y="260"/>
                  <a:pt x="339" y="260"/>
                </a:cubicBezTo>
                <a:cubicBezTo>
                  <a:pt x="219" y="260"/>
                  <a:pt x="219" y="260"/>
                  <a:pt x="219" y="260"/>
                </a:cubicBezTo>
                <a:cubicBezTo>
                  <a:pt x="126" y="353"/>
                  <a:pt x="126" y="353"/>
                  <a:pt x="126" y="353"/>
                </a:cubicBezTo>
                <a:cubicBezTo>
                  <a:pt x="130" y="358"/>
                  <a:pt x="134" y="362"/>
                  <a:pt x="137" y="365"/>
                </a:cubicBezTo>
                <a:cubicBezTo>
                  <a:pt x="137" y="435"/>
                  <a:pt x="137" y="471"/>
                  <a:pt x="137" y="471"/>
                </a:cubicBezTo>
                <a:cubicBezTo>
                  <a:pt x="137" y="474"/>
                  <a:pt x="140" y="477"/>
                  <a:pt x="142" y="478"/>
                </a:cubicBezTo>
                <a:cubicBezTo>
                  <a:pt x="214" y="507"/>
                  <a:pt x="307" y="508"/>
                  <a:pt x="314" y="508"/>
                </a:cubicBezTo>
                <a:cubicBezTo>
                  <a:pt x="315" y="508"/>
                  <a:pt x="315" y="508"/>
                  <a:pt x="315" y="508"/>
                </a:cubicBezTo>
                <a:cubicBezTo>
                  <a:pt x="319" y="508"/>
                  <a:pt x="323" y="505"/>
                  <a:pt x="323" y="501"/>
                </a:cubicBezTo>
                <a:cubicBezTo>
                  <a:pt x="323" y="421"/>
                  <a:pt x="323" y="421"/>
                  <a:pt x="323" y="421"/>
                </a:cubicBezTo>
                <a:cubicBezTo>
                  <a:pt x="373" y="427"/>
                  <a:pt x="406" y="421"/>
                  <a:pt x="413" y="417"/>
                </a:cubicBezTo>
                <a:cubicBezTo>
                  <a:pt x="424" y="411"/>
                  <a:pt x="425" y="397"/>
                  <a:pt x="426" y="370"/>
                </a:cubicBezTo>
                <a:cubicBezTo>
                  <a:pt x="426" y="367"/>
                  <a:pt x="426" y="367"/>
                  <a:pt x="426" y="367"/>
                </a:cubicBezTo>
                <a:cubicBezTo>
                  <a:pt x="428" y="349"/>
                  <a:pt x="425" y="320"/>
                  <a:pt x="424" y="305"/>
                </a:cubicBezTo>
                <a:cubicBezTo>
                  <a:pt x="458" y="305"/>
                  <a:pt x="467" y="287"/>
                  <a:pt x="469" y="282"/>
                </a:cubicBezTo>
                <a:cubicBezTo>
                  <a:pt x="472" y="272"/>
                  <a:pt x="463" y="260"/>
                  <a:pt x="449" y="246"/>
                </a:cubicBezTo>
                <a:close/>
                <a:moveTo>
                  <a:pt x="216" y="110"/>
                </a:moveTo>
                <a:cubicBezTo>
                  <a:pt x="217" y="111"/>
                  <a:pt x="219" y="112"/>
                  <a:pt x="221" y="112"/>
                </a:cubicBezTo>
                <a:cubicBezTo>
                  <a:pt x="272" y="112"/>
                  <a:pt x="272" y="112"/>
                  <a:pt x="272" y="112"/>
                </a:cubicBezTo>
                <a:cubicBezTo>
                  <a:pt x="274" y="112"/>
                  <a:pt x="276" y="111"/>
                  <a:pt x="277" y="110"/>
                </a:cubicBezTo>
                <a:cubicBezTo>
                  <a:pt x="287" y="100"/>
                  <a:pt x="287" y="100"/>
                  <a:pt x="287" y="100"/>
                </a:cubicBezTo>
                <a:cubicBezTo>
                  <a:pt x="290" y="101"/>
                  <a:pt x="294" y="102"/>
                  <a:pt x="298" y="102"/>
                </a:cubicBezTo>
                <a:cubicBezTo>
                  <a:pt x="313" y="102"/>
                  <a:pt x="325" y="89"/>
                  <a:pt x="325" y="74"/>
                </a:cubicBezTo>
                <a:cubicBezTo>
                  <a:pt x="325" y="59"/>
                  <a:pt x="313" y="46"/>
                  <a:pt x="298" y="46"/>
                </a:cubicBezTo>
                <a:cubicBezTo>
                  <a:pt x="282" y="46"/>
                  <a:pt x="270" y="59"/>
                  <a:pt x="270" y="74"/>
                </a:cubicBezTo>
                <a:cubicBezTo>
                  <a:pt x="270" y="80"/>
                  <a:pt x="272" y="86"/>
                  <a:pt x="276" y="91"/>
                </a:cubicBezTo>
                <a:cubicBezTo>
                  <a:pt x="269" y="97"/>
                  <a:pt x="269" y="97"/>
                  <a:pt x="269" y="97"/>
                </a:cubicBezTo>
                <a:cubicBezTo>
                  <a:pt x="224" y="97"/>
                  <a:pt x="224" y="97"/>
                  <a:pt x="224" y="97"/>
                </a:cubicBezTo>
                <a:cubicBezTo>
                  <a:pt x="198" y="71"/>
                  <a:pt x="198" y="71"/>
                  <a:pt x="198" y="71"/>
                </a:cubicBezTo>
                <a:cubicBezTo>
                  <a:pt x="198" y="15"/>
                  <a:pt x="198" y="15"/>
                  <a:pt x="198" y="15"/>
                </a:cubicBezTo>
                <a:cubicBezTo>
                  <a:pt x="252" y="15"/>
                  <a:pt x="298" y="24"/>
                  <a:pt x="331" y="41"/>
                </a:cubicBezTo>
                <a:cubicBezTo>
                  <a:pt x="364" y="56"/>
                  <a:pt x="386" y="79"/>
                  <a:pt x="397" y="108"/>
                </a:cubicBezTo>
                <a:cubicBezTo>
                  <a:pt x="372" y="108"/>
                  <a:pt x="372" y="108"/>
                  <a:pt x="372" y="108"/>
                </a:cubicBezTo>
                <a:cubicBezTo>
                  <a:pt x="369" y="96"/>
                  <a:pt x="358" y="88"/>
                  <a:pt x="345" y="88"/>
                </a:cubicBezTo>
                <a:cubicBezTo>
                  <a:pt x="330" y="88"/>
                  <a:pt x="318" y="100"/>
                  <a:pt x="318" y="116"/>
                </a:cubicBezTo>
                <a:cubicBezTo>
                  <a:pt x="318" y="128"/>
                  <a:pt x="326" y="139"/>
                  <a:pt x="338" y="142"/>
                </a:cubicBezTo>
                <a:cubicBezTo>
                  <a:pt x="338" y="210"/>
                  <a:pt x="338" y="210"/>
                  <a:pt x="338" y="210"/>
                </a:cubicBezTo>
                <a:cubicBezTo>
                  <a:pt x="281" y="210"/>
                  <a:pt x="281" y="210"/>
                  <a:pt x="281" y="210"/>
                </a:cubicBezTo>
                <a:cubicBezTo>
                  <a:pt x="277" y="210"/>
                  <a:pt x="274" y="214"/>
                  <a:pt x="274" y="218"/>
                </a:cubicBezTo>
                <a:cubicBezTo>
                  <a:pt x="274" y="249"/>
                  <a:pt x="274" y="249"/>
                  <a:pt x="274" y="249"/>
                </a:cubicBezTo>
                <a:cubicBezTo>
                  <a:pt x="288" y="249"/>
                  <a:pt x="288" y="249"/>
                  <a:pt x="288" y="249"/>
                </a:cubicBezTo>
                <a:cubicBezTo>
                  <a:pt x="288" y="225"/>
                  <a:pt x="288" y="225"/>
                  <a:pt x="288" y="225"/>
                </a:cubicBezTo>
                <a:cubicBezTo>
                  <a:pt x="345" y="225"/>
                  <a:pt x="345" y="225"/>
                  <a:pt x="345" y="225"/>
                </a:cubicBezTo>
                <a:cubicBezTo>
                  <a:pt x="349" y="225"/>
                  <a:pt x="352" y="222"/>
                  <a:pt x="352" y="218"/>
                </a:cubicBezTo>
                <a:cubicBezTo>
                  <a:pt x="352" y="142"/>
                  <a:pt x="352" y="142"/>
                  <a:pt x="352" y="142"/>
                </a:cubicBezTo>
                <a:cubicBezTo>
                  <a:pt x="362" y="140"/>
                  <a:pt x="369" y="132"/>
                  <a:pt x="372" y="123"/>
                </a:cubicBezTo>
                <a:cubicBezTo>
                  <a:pt x="402" y="123"/>
                  <a:pt x="402" y="123"/>
                  <a:pt x="402" y="123"/>
                </a:cubicBezTo>
                <a:cubicBezTo>
                  <a:pt x="405" y="135"/>
                  <a:pt x="406" y="148"/>
                  <a:pt x="406" y="161"/>
                </a:cubicBezTo>
                <a:cubicBezTo>
                  <a:pt x="406" y="161"/>
                  <a:pt x="406" y="161"/>
                  <a:pt x="406" y="161"/>
                </a:cubicBezTo>
                <a:cubicBezTo>
                  <a:pt x="406" y="163"/>
                  <a:pt x="406" y="163"/>
                  <a:pt x="406" y="163"/>
                </a:cubicBezTo>
                <a:cubicBezTo>
                  <a:pt x="420" y="163"/>
                  <a:pt x="420" y="163"/>
                  <a:pt x="420" y="163"/>
                </a:cubicBezTo>
                <a:cubicBezTo>
                  <a:pt x="421" y="162"/>
                  <a:pt x="421" y="162"/>
                  <a:pt x="421" y="162"/>
                </a:cubicBezTo>
                <a:cubicBezTo>
                  <a:pt x="421" y="161"/>
                  <a:pt x="421" y="161"/>
                  <a:pt x="421" y="161"/>
                </a:cubicBezTo>
                <a:cubicBezTo>
                  <a:pt x="421" y="161"/>
                  <a:pt x="421" y="161"/>
                  <a:pt x="421" y="161"/>
                </a:cubicBezTo>
                <a:cubicBezTo>
                  <a:pt x="421" y="99"/>
                  <a:pt x="393" y="55"/>
                  <a:pt x="338" y="28"/>
                </a:cubicBezTo>
                <a:cubicBezTo>
                  <a:pt x="300" y="10"/>
                  <a:pt x="250" y="0"/>
                  <a:pt x="191" y="0"/>
                </a:cubicBezTo>
                <a:cubicBezTo>
                  <a:pt x="187" y="0"/>
                  <a:pt x="183" y="3"/>
                  <a:pt x="183" y="7"/>
                </a:cubicBezTo>
                <a:cubicBezTo>
                  <a:pt x="183" y="74"/>
                  <a:pt x="183" y="74"/>
                  <a:pt x="183" y="74"/>
                </a:cubicBezTo>
                <a:cubicBezTo>
                  <a:pt x="183" y="76"/>
                  <a:pt x="184" y="78"/>
                  <a:pt x="186" y="79"/>
                </a:cubicBezTo>
                <a:lnTo>
                  <a:pt x="216" y="110"/>
                </a:lnTo>
                <a:close/>
                <a:moveTo>
                  <a:pt x="298" y="189"/>
                </a:moveTo>
                <a:cubicBezTo>
                  <a:pt x="313" y="189"/>
                  <a:pt x="325" y="176"/>
                  <a:pt x="325" y="161"/>
                </a:cubicBezTo>
                <a:cubicBezTo>
                  <a:pt x="325" y="146"/>
                  <a:pt x="313" y="134"/>
                  <a:pt x="298" y="134"/>
                </a:cubicBezTo>
                <a:cubicBezTo>
                  <a:pt x="292" y="134"/>
                  <a:pt x="286" y="135"/>
                  <a:pt x="281" y="139"/>
                </a:cubicBezTo>
                <a:cubicBezTo>
                  <a:pt x="273" y="131"/>
                  <a:pt x="273" y="131"/>
                  <a:pt x="273" y="131"/>
                </a:cubicBezTo>
                <a:cubicBezTo>
                  <a:pt x="272" y="129"/>
                  <a:pt x="270" y="128"/>
                  <a:pt x="268" y="128"/>
                </a:cubicBezTo>
                <a:cubicBezTo>
                  <a:pt x="227" y="128"/>
                  <a:pt x="227" y="128"/>
                  <a:pt x="227" y="128"/>
                </a:cubicBezTo>
                <a:cubicBezTo>
                  <a:pt x="223" y="128"/>
                  <a:pt x="220" y="132"/>
                  <a:pt x="220" y="136"/>
                </a:cubicBezTo>
                <a:cubicBezTo>
                  <a:pt x="220" y="193"/>
                  <a:pt x="220" y="193"/>
                  <a:pt x="220" y="193"/>
                </a:cubicBezTo>
                <a:cubicBezTo>
                  <a:pt x="220" y="195"/>
                  <a:pt x="220" y="197"/>
                  <a:pt x="222" y="198"/>
                </a:cubicBezTo>
                <a:cubicBezTo>
                  <a:pt x="243" y="220"/>
                  <a:pt x="243" y="220"/>
                  <a:pt x="243" y="220"/>
                </a:cubicBezTo>
                <a:cubicBezTo>
                  <a:pt x="243" y="249"/>
                  <a:pt x="243" y="249"/>
                  <a:pt x="243" y="249"/>
                </a:cubicBezTo>
                <a:cubicBezTo>
                  <a:pt x="258" y="249"/>
                  <a:pt x="258" y="249"/>
                  <a:pt x="258" y="249"/>
                </a:cubicBezTo>
                <a:cubicBezTo>
                  <a:pt x="258" y="217"/>
                  <a:pt x="258" y="217"/>
                  <a:pt x="258" y="217"/>
                </a:cubicBezTo>
                <a:cubicBezTo>
                  <a:pt x="258" y="215"/>
                  <a:pt x="257" y="213"/>
                  <a:pt x="256" y="212"/>
                </a:cubicBezTo>
                <a:cubicBezTo>
                  <a:pt x="234" y="190"/>
                  <a:pt x="234" y="190"/>
                  <a:pt x="234" y="190"/>
                </a:cubicBezTo>
                <a:cubicBezTo>
                  <a:pt x="234" y="143"/>
                  <a:pt x="234" y="143"/>
                  <a:pt x="234" y="143"/>
                </a:cubicBezTo>
                <a:cubicBezTo>
                  <a:pt x="265" y="143"/>
                  <a:pt x="265" y="143"/>
                  <a:pt x="265" y="143"/>
                </a:cubicBezTo>
                <a:cubicBezTo>
                  <a:pt x="272" y="150"/>
                  <a:pt x="272" y="150"/>
                  <a:pt x="272" y="150"/>
                </a:cubicBezTo>
                <a:cubicBezTo>
                  <a:pt x="271" y="154"/>
                  <a:pt x="270" y="157"/>
                  <a:pt x="270" y="161"/>
                </a:cubicBezTo>
                <a:cubicBezTo>
                  <a:pt x="270" y="176"/>
                  <a:pt x="282" y="189"/>
                  <a:pt x="298" y="189"/>
                </a:cubicBezTo>
                <a:close/>
                <a:moveTo>
                  <a:pt x="80" y="236"/>
                </a:moveTo>
                <a:cubicBezTo>
                  <a:pt x="80" y="58"/>
                  <a:pt x="80" y="58"/>
                  <a:pt x="80" y="58"/>
                </a:cubicBezTo>
                <a:cubicBezTo>
                  <a:pt x="119" y="97"/>
                  <a:pt x="119" y="97"/>
                  <a:pt x="119" y="97"/>
                </a:cubicBezTo>
                <a:cubicBezTo>
                  <a:pt x="119" y="126"/>
                  <a:pt x="119" y="126"/>
                  <a:pt x="119" y="126"/>
                </a:cubicBezTo>
                <a:cubicBezTo>
                  <a:pt x="107" y="129"/>
                  <a:pt x="98" y="140"/>
                  <a:pt x="98" y="153"/>
                </a:cubicBezTo>
                <a:cubicBezTo>
                  <a:pt x="98" y="168"/>
                  <a:pt x="111" y="180"/>
                  <a:pt x="126" y="180"/>
                </a:cubicBezTo>
                <a:cubicBezTo>
                  <a:pt x="141" y="180"/>
                  <a:pt x="154" y="168"/>
                  <a:pt x="154" y="153"/>
                </a:cubicBezTo>
                <a:cubicBezTo>
                  <a:pt x="154" y="140"/>
                  <a:pt x="145" y="129"/>
                  <a:pt x="133" y="126"/>
                </a:cubicBezTo>
                <a:cubicBezTo>
                  <a:pt x="133" y="94"/>
                  <a:pt x="133" y="94"/>
                  <a:pt x="133" y="94"/>
                </a:cubicBezTo>
                <a:cubicBezTo>
                  <a:pt x="133" y="93"/>
                  <a:pt x="132" y="91"/>
                  <a:pt x="131" y="89"/>
                </a:cubicBezTo>
                <a:cubicBezTo>
                  <a:pt x="77" y="36"/>
                  <a:pt x="77" y="36"/>
                  <a:pt x="77" y="36"/>
                </a:cubicBezTo>
                <a:cubicBezTo>
                  <a:pt x="75" y="34"/>
                  <a:pt x="72" y="33"/>
                  <a:pt x="70" y="34"/>
                </a:cubicBezTo>
                <a:cubicBezTo>
                  <a:pt x="67" y="35"/>
                  <a:pt x="65" y="38"/>
                  <a:pt x="65" y="41"/>
                </a:cubicBezTo>
                <a:cubicBezTo>
                  <a:pt x="65" y="147"/>
                  <a:pt x="65" y="147"/>
                  <a:pt x="65" y="14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5" y="55"/>
                  <a:pt x="35" y="55"/>
                  <a:pt x="35" y="55"/>
                </a:cubicBezTo>
                <a:cubicBezTo>
                  <a:pt x="47" y="51"/>
                  <a:pt x="55" y="40"/>
                  <a:pt x="55" y="28"/>
                </a:cubicBezTo>
                <a:cubicBezTo>
                  <a:pt x="55" y="13"/>
                  <a:pt x="43" y="0"/>
                  <a:pt x="27" y="0"/>
                </a:cubicBezTo>
                <a:cubicBezTo>
                  <a:pt x="12" y="0"/>
                  <a:pt x="0" y="13"/>
                  <a:pt x="0" y="28"/>
                </a:cubicBezTo>
                <a:cubicBezTo>
                  <a:pt x="0" y="40"/>
                  <a:pt x="8" y="51"/>
                  <a:pt x="20" y="55"/>
                </a:cubicBezTo>
                <a:cubicBezTo>
                  <a:pt x="20" y="120"/>
                  <a:pt x="20" y="120"/>
                  <a:pt x="20" y="120"/>
                </a:cubicBezTo>
                <a:cubicBezTo>
                  <a:pt x="20" y="122"/>
                  <a:pt x="21" y="124"/>
                  <a:pt x="22" y="125"/>
                </a:cubicBezTo>
                <a:cubicBezTo>
                  <a:pt x="65" y="168"/>
                  <a:pt x="65" y="168"/>
                  <a:pt x="65" y="168"/>
                </a:cubicBezTo>
                <a:cubicBezTo>
                  <a:pt x="65" y="239"/>
                  <a:pt x="65" y="239"/>
                  <a:pt x="65" y="239"/>
                </a:cubicBezTo>
                <a:cubicBezTo>
                  <a:pt x="65" y="241"/>
                  <a:pt x="66" y="242"/>
                  <a:pt x="67" y="244"/>
                </a:cubicBezTo>
                <a:cubicBezTo>
                  <a:pt x="87" y="264"/>
                  <a:pt x="87" y="264"/>
                  <a:pt x="87" y="264"/>
                </a:cubicBezTo>
                <a:cubicBezTo>
                  <a:pt x="87" y="338"/>
                  <a:pt x="87" y="338"/>
                  <a:pt x="87" y="338"/>
                </a:cubicBezTo>
                <a:cubicBezTo>
                  <a:pt x="87" y="342"/>
                  <a:pt x="90" y="345"/>
                  <a:pt x="94" y="345"/>
                </a:cubicBezTo>
                <a:cubicBezTo>
                  <a:pt x="98" y="345"/>
                  <a:pt x="102" y="342"/>
                  <a:pt x="102" y="338"/>
                </a:cubicBezTo>
                <a:cubicBezTo>
                  <a:pt x="102" y="261"/>
                  <a:pt x="102" y="261"/>
                  <a:pt x="102" y="261"/>
                </a:cubicBezTo>
                <a:cubicBezTo>
                  <a:pt x="102" y="259"/>
                  <a:pt x="101" y="257"/>
                  <a:pt x="99" y="255"/>
                </a:cubicBezTo>
                <a:lnTo>
                  <a:pt x="80" y="236"/>
                </a:lnTo>
                <a:close/>
                <a:moveTo>
                  <a:pt x="133" y="316"/>
                </a:moveTo>
                <a:cubicBezTo>
                  <a:pt x="198" y="251"/>
                  <a:pt x="198" y="251"/>
                  <a:pt x="198" y="251"/>
                </a:cubicBezTo>
                <a:cubicBezTo>
                  <a:pt x="200" y="249"/>
                  <a:pt x="200" y="248"/>
                  <a:pt x="200" y="246"/>
                </a:cubicBezTo>
                <a:cubicBezTo>
                  <a:pt x="200" y="126"/>
                  <a:pt x="200" y="126"/>
                  <a:pt x="200" y="126"/>
                </a:cubicBezTo>
                <a:cubicBezTo>
                  <a:pt x="200" y="124"/>
                  <a:pt x="200" y="122"/>
                  <a:pt x="198" y="121"/>
                </a:cubicBezTo>
                <a:cubicBezTo>
                  <a:pt x="169" y="92"/>
                  <a:pt x="169" y="92"/>
                  <a:pt x="169" y="92"/>
                </a:cubicBezTo>
                <a:cubicBezTo>
                  <a:pt x="169" y="28"/>
                  <a:pt x="169" y="28"/>
                  <a:pt x="169" y="28"/>
                </a:cubicBezTo>
                <a:cubicBezTo>
                  <a:pt x="169" y="24"/>
                  <a:pt x="165" y="21"/>
                  <a:pt x="161" y="21"/>
                </a:cubicBezTo>
                <a:cubicBezTo>
                  <a:pt x="158" y="21"/>
                  <a:pt x="154" y="24"/>
                  <a:pt x="154" y="28"/>
                </a:cubicBezTo>
                <a:cubicBezTo>
                  <a:pt x="154" y="94"/>
                  <a:pt x="154" y="94"/>
                  <a:pt x="154" y="94"/>
                </a:cubicBezTo>
                <a:cubicBezTo>
                  <a:pt x="154" y="96"/>
                  <a:pt x="155" y="98"/>
                  <a:pt x="156" y="100"/>
                </a:cubicBezTo>
                <a:cubicBezTo>
                  <a:pt x="186" y="129"/>
                  <a:pt x="186" y="129"/>
                  <a:pt x="186" y="129"/>
                </a:cubicBezTo>
                <a:cubicBezTo>
                  <a:pt x="186" y="243"/>
                  <a:pt x="186" y="243"/>
                  <a:pt x="186" y="243"/>
                </a:cubicBezTo>
                <a:cubicBezTo>
                  <a:pt x="135" y="293"/>
                  <a:pt x="135" y="293"/>
                  <a:pt x="135" y="293"/>
                </a:cubicBezTo>
                <a:cubicBezTo>
                  <a:pt x="135" y="251"/>
                  <a:pt x="135" y="251"/>
                  <a:pt x="135" y="251"/>
                </a:cubicBezTo>
                <a:cubicBezTo>
                  <a:pt x="146" y="247"/>
                  <a:pt x="154" y="237"/>
                  <a:pt x="154" y="225"/>
                </a:cubicBezTo>
                <a:cubicBezTo>
                  <a:pt x="154" y="210"/>
                  <a:pt x="141" y="198"/>
                  <a:pt x="126" y="198"/>
                </a:cubicBezTo>
                <a:cubicBezTo>
                  <a:pt x="111" y="198"/>
                  <a:pt x="98" y="210"/>
                  <a:pt x="98" y="225"/>
                </a:cubicBezTo>
                <a:cubicBezTo>
                  <a:pt x="98" y="239"/>
                  <a:pt x="108" y="250"/>
                  <a:pt x="121" y="252"/>
                </a:cubicBezTo>
                <a:cubicBezTo>
                  <a:pt x="121" y="311"/>
                  <a:pt x="121" y="311"/>
                  <a:pt x="121" y="311"/>
                </a:cubicBezTo>
                <a:cubicBezTo>
                  <a:pt x="121" y="314"/>
                  <a:pt x="123" y="316"/>
                  <a:pt x="125" y="317"/>
                </a:cubicBezTo>
                <a:cubicBezTo>
                  <a:pt x="126" y="318"/>
                  <a:pt x="127" y="318"/>
                  <a:pt x="128" y="318"/>
                </a:cubicBezTo>
                <a:cubicBezTo>
                  <a:pt x="130" y="318"/>
                  <a:pt x="132" y="317"/>
                  <a:pt x="133" y="316"/>
                </a:cubicBezTo>
                <a:close/>
                <a:moveTo>
                  <a:pt x="55" y="205"/>
                </a:moveTo>
                <a:cubicBezTo>
                  <a:pt x="55" y="190"/>
                  <a:pt x="43" y="177"/>
                  <a:pt x="27" y="177"/>
                </a:cubicBezTo>
                <a:cubicBezTo>
                  <a:pt x="12" y="177"/>
                  <a:pt x="0" y="190"/>
                  <a:pt x="0" y="205"/>
                </a:cubicBezTo>
                <a:cubicBezTo>
                  <a:pt x="0" y="218"/>
                  <a:pt x="8" y="229"/>
                  <a:pt x="20" y="232"/>
                </a:cubicBezTo>
                <a:cubicBezTo>
                  <a:pt x="20" y="279"/>
                  <a:pt x="20" y="279"/>
                  <a:pt x="20" y="279"/>
                </a:cubicBezTo>
                <a:cubicBezTo>
                  <a:pt x="8" y="283"/>
                  <a:pt x="0" y="293"/>
                  <a:pt x="0" y="306"/>
                </a:cubicBezTo>
                <a:cubicBezTo>
                  <a:pt x="0" y="321"/>
                  <a:pt x="12" y="334"/>
                  <a:pt x="27" y="334"/>
                </a:cubicBezTo>
                <a:cubicBezTo>
                  <a:pt x="43" y="334"/>
                  <a:pt x="55" y="321"/>
                  <a:pt x="55" y="306"/>
                </a:cubicBezTo>
                <a:cubicBezTo>
                  <a:pt x="55" y="293"/>
                  <a:pt x="47" y="283"/>
                  <a:pt x="35" y="279"/>
                </a:cubicBezTo>
                <a:cubicBezTo>
                  <a:pt x="35" y="232"/>
                  <a:pt x="35" y="232"/>
                  <a:pt x="35" y="232"/>
                </a:cubicBezTo>
                <a:cubicBezTo>
                  <a:pt x="47" y="229"/>
                  <a:pt x="55" y="218"/>
                  <a:pt x="55" y="205"/>
                </a:cubicBezTo>
                <a:close/>
              </a:path>
            </a:pathLst>
          </a:custGeom>
          <a:solidFill>
            <a:srgbClr val="ED9D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/>
              <a:ea typeface="나눔스퀘어"/>
              <a:cs typeface="Arial"/>
            </a:endParaRPr>
          </a:p>
        </p:txBody>
      </p:sp>
      <p:sp>
        <p:nvSpPr>
          <p:cNvPr id="36" name="직사각형 13">
            <a:extLst>
              <a:ext uri="{FF2B5EF4-FFF2-40B4-BE49-F238E27FC236}">
                <a16:creationId xmlns:a16="http://schemas.microsoft.com/office/drawing/2014/main" id="{01A8DF64-E36F-0E2E-65DF-D762A56F1EBE}"/>
              </a:ext>
            </a:extLst>
          </p:cNvPr>
          <p:cNvSpPr/>
          <p:nvPr/>
        </p:nvSpPr>
        <p:spPr>
          <a:xfrm>
            <a:off x="1922718" y="5502105"/>
            <a:ext cx="2655258" cy="74237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모델 학습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성능 평가</a:t>
            </a:r>
            <a:r>
              <a:rPr lang="en-US" altLang="ko-KR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검증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144000" indent="-144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탐지 모델 적용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직사각형 13">
            <a:extLst>
              <a:ext uri="{FF2B5EF4-FFF2-40B4-BE49-F238E27FC236}">
                <a16:creationId xmlns:a16="http://schemas.microsoft.com/office/drawing/2014/main" id="{EDFB31CB-4884-70AC-42B4-B0B05221F597}"/>
              </a:ext>
            </a:extLst>
          </p:cNvPr>
          <p:cNvSpPr/>
          <p:nvPr/>
        </p:nvSpPr>
        <p:spPr>
          <a:xfrm>
            <a:off x="3248785" y="2078334"/>
            <a:ext cx="995324" cy="2367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rgbClr val="D81921"/>
                </a:solidFill>
                <a:latin typeface="+mn-ea"/>
              </a:rPr>
              <a:t>이상 거래 데이터</a:t>
            </a:r>
            <a:endParaRPr lang="en-US" altLang="ko-KR" sz="1000" b="1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rgbClr val="D81921"/>
              </a:solidFill>
              <a:latin typeface="+mn-ea"/>
            </a:endParaRPr>
          </a:p>
        </p:txBody>
      </p:sp>
      <p:sp>
        <p:nvSpPr>
          <p:cNvPr id="38" name="직사각형 13">
            <a:extLst>
              <a:ext uri="{FF2B5EF4-FFF2-40B4-BE49-F238E27FC236}">
                <a16:creationId xmlns:a16="http://schemas.microsoft.com/office/drawing/2014/main" id="{A1AB2FEC-5F54-043A-2DC7-79775BA2693E}"/>
              </a:ext>
            </a:extLst>
          </p:cNvPr>
          <p:cNvSpPr/>
          <p:nvPr/>
        </p:nvSpPr>
        <p:spPr>
          <a:xfrm>
            <a:off x="3297748" y="2280331"/>
            <a:ext cx="1487198" cy="66915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850" dirty="0" err="1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해외이상송금점검내역</a:t>
            </a:r>
            <a:endParaRPr lang="en-US" altLang="ko-KR" sz="85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850" dirty="0" err="1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해외이상송금거래내역</a:t>
            </a:r>
            <a:endParaRPr lang="en-US" altLang="ko-KR" sz="85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85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외화송금제어등록</a:t>
            </a:r>
            <a:endParaRPr lang="en-US" altLang="ko-KR" sz="85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en-US" altLang="ko-KR" sz="85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FISS</a:t>
            </a:r>
            <a:r>
              <a:rPr lang="ko-KR" altLang="en-US" sz="85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해외송금계좌기본</a:t>
            </a:r>
            <a:endParaRPr lang="en-US" altLang="ko-KR" sz="85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직사각형 13">
            <a:extLst>
              <a:ext uri="{FF2B5EF4-FFF2-40B4-BE49-F238E27FC236}">
                <a16:creationId xmlns:a16="http://schemas.microsoft.com/office/drawing/2014/main" id="{699D4110-4685-AF81-C063-08F0A7ED34F9}"/>
              </a:ext>
            </a:extLst>
          </p:cNvPr>
          <p:cNvSpPr/>
          <p:nvPr/>
        </p:nvSpPr>
        <p:spPr>
          <a:xfrm>
            <a:off x="1608518" y="2299930"/>
            <a:ext cx="1001987" cy="33058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고객실적내역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100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고객거래내역</a:t>
            </a:r>
            <a:endParaRPr lang="en-US" altLang="ko-KR" sz="100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직사각형 13">
            <a:extLst>
              <a:ext uri="{FF2B5EF4-FFF2-40B4-BE49-F238E27FC236}">
                <a16:creationId xmlns:a16="http://schemas.microsoft.com/office/drawing/2014/main" id="{901C468A-5977-9FEF-F095-ECC1DAFD8ABF}"/>
              </a:ext>
            </a:extLst>
          </p:cNvPr>
          <p:cNvSpPr/>
          <p:nvPr/>
        </p:nvSpPr>
        <p:spPr>
          <a:xfrm>
            <a:off x="1545056" y="2057040"/>
            <a:ext cx="1019457" cy="2200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정상 거래 데이터</a:t>
            </a:r>
            <a:endParaRPr lang="en-US" altLang="ko-KR" sz="1000" b="1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1" name="그래픽 40" descr="데이터베이스 단색으로 채워진">
            <a:extLst>
              <a:ext uri="{FF2B5EF4-FFF2-40B4-BE49-F238E27FC236}">
                <a16:creationId xmlns:a16="http://schemas.microsoft.com/office/drawing/2014/main" id="{28513EC7-2348-7198-AD48-8265064C5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4650" y="2240825"/>
            <a:ext cx="495248" cy="456902"/>
          </a:xfrm>
          <a:prstGeom prst="rect">
            <a:avLst/>
          </a:prstGeom>
        </p:spPr>
      </p:pic>
      <p:grpSp>
        <p:nvGrpSpPr>
          <p:cNvPr id="42" name="Group 19">
            <a:extLst>
              <a:ext uri="{FF2B5EF4-FFF2-40B4-BE49-F238E27FC236}">
                <a16:creationId xmlns:a16="http://schemas.microsoft.com/office/drawing/2014/main" id="{CAE4006B-966A-7AD3-6856-958CD3A4DBD8}"/>
              </a:ext>
            </a:extLst>
          </p:cNvPr>
          <p:cNvGrpSpPr>
            <a:grpSpLocks noChangeAspect="1"/>
          </p:cNvGrpSpPr>
          <p:nvPr/>
        </p:nvGrpSpPr>
        <p:grpSpPr>
          <a:xfrm>
            <a:off x="1387258" y="2093736"/>
            <a:ext cx="155087" cy="155086"/>
            <a:chOff x="982662" y="3868738"/>
            <a:chExt cx="269875" cy="269875"/>
          </a:xfrm>
        </p:grpSpPr>
        <p:sp>
          <p:nvSpPr>
            <p:cNvPr id="43" name="Oval 16">
              <a:extLst>
                <a:ext uri="{FF2B5EF4-FFF2-40B4-BE49-F238E27FC236}">
                  <a16:creationId xmlns:a16="http://schemas.microsoft.com/office/drawing/2014/main" id="{24FFF812-16DF-D4D2-E14F-9C8B94E85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" y="3868738"/>
              <a:ext cx="269875" cy="269875"/>
            </a:xfrm>
            <a:prstGeom prst="ellipse">
              <a:avLst/>
            </a:prstGeom>
            <a:solidFill>
              <a:srgbClr val="ED9D9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카이겐고딕 KR Medium"/>
              </a:endParaRPr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70184233-5CAB-8828-CC3C-8E44AB51A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918" y="3938588"/>
              <a:ext cx="133349" cy="128586"/>
            </a:xfrm>
            <a:custGeom>
              <a:avLst/>
              <a:gdLst>
                <a:gd name="T0" fmla="*/ 36 w 84"/>
                <a:gd name="T1" fmla="*/ 67 h 81"/>
                <a:gd name="T2" fmla="*/ 7 w 84"/>
                <a:gd name="T3" fmla="*/ 39 h 81"/>
                <a:gd name="T4" fmla="*/ 0 w 84"/>
                <a:gd name="T5" fmla="*/ 45 h 81"/>
                <a:gd name="T6" fmla="*/ 38 w 84"/>
                <a:gd name="T7" fmla="*/ 81 h 81"/>
                <a:gd name="T8" fmla="*/ 84 w 84"/>
                <a:gd name="T9" fmla="*/ 4 h 81"/>
                <a:gd name="T10" fmla="*/ 76 w 84"/>
                <a:gd name="T11" fmla="*/ 0 h 81"/>
                <a:gd name="T12" fmla="*/ 36 w 84"/>
                <a:gd name="T13" fmla="*/ 67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81">
                  <a:moveTo>
                    <a:pt x="36" y="67"/>
                  </a:moveTo>
                  <a:lnTo>
                    <a:pt x="7" y="39"/>
                  </a:lnTo>
                  <a:lnTo>
                    <a:pt x="0" y="45"/>
                  </a:lnTo>
                  <a:lnTo>
                    <a:pt x="38" y="81"/>
                  </a:lnTo>
                  <a:lnTo>
                    <a:pt x="84" y="4"/>
                  </a:lnTo>
                  <a:lnTo>
                    <a:pt x="76" y="0"/>
                  </a:lnTo>
                  <a:lnTo>
                    <a:pt x="36" y="67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/>
                <a:ea typeface="카이겐고딕 KR Medium"/>
              </a:endParaRPr>
            </a:p>
          </p:txBody>
        </p:sp>
      </p:grpSp>
      <p:pic>
        <p:nvPicPr>
          <p:cNvPr id="45" name="그림 44">
            <a:extLst>
              <a:ext uri="{FF2B5EF4-FFF2-40B4-BE49-F238E27FC236}">
                <a16:creationId xmlns:a16="http://schemas.microsoft.com/office/drawing/2014/main" id="{42462C0B-9CCE-BC94-2A74-C74C5FD792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036806" y="2087250"/>
            <a:ext cx="233948" cy="212680"/>
          </a:xfrm>
          <a:prstGeom prst="rect">
            <a:avLst/>
          </a:prstGeom>
        </p:spPr>
      </p:pic>
      <p:sp>
        <p:nvSpPr>
          <p:cNvPr id="46" name="직사각형 13">
            <a:extLst>
              <a:ext uri="{FF2B5EF4-FFF2-40B4-BE49-F238E27FC236}">
                <a16:creationId xmlns:a16="http://schemas.microsoft.com/office/drawing/2014/main" id="{AD97D00A-F393-0344-9BF2-145BE10DEAE2}"/>
              </a:ext>
            </a:extLst>
          </p:cNvPr>
          <p:cNvSpPr/>
          <p:nvPr/>
        </p:nvSpPr>
        <p:spPr>
          <a:xfrm>
            <a:off x="1159119" y="2610243"/>
            <a:ext cx="1594996" cy="22888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>
              <a:lnSpc>
                <a:spcPct val="120000"/>
              </a:lnSpc>
            </a:pPr>
            <a:r>
              <a:rPr lang="ko-KR" altLang="en-US" sz="1000" b="1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비지도학습 및 지도학습 활용</a:t>
            </a:r>
            <a:endParaRPr lang="en-US" altLang="ko-KR" sz="1000" b="1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직사각형 13">
            <a:extLst>
              <a:ext uri="{FF2B5EF4-FFF2-40B4-BE49-F238E27FC236}">
                <a16:creationId xmlns:a16="http://schemas.microsoft.com/office/drawing/2014/main" id="{51D68773-882B-4389-B4BF-7C22C0BAC12D}"/>
              </a:ext>
            </a:extLst>
          </p:cNvPr>
          <p:cNvSpPr/>
          <p:nvPr/>
        </p:nvSpPr>
        <p:spPr>
          <a:xfrm>
            <a:off x="4463892" y="2055920"/>
            <a:ext cx="1593374" cy="67555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85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최종 </a:t>
            </a:r>
            <a:r>
              <a:rPr lang="ko-KR" altLang="en-US" sz="850" err="1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이상거거래</a:t>
            </a:r>
            <a:r>
              <a:rPr lang="ko-KR" altLang="en-US" sz="85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판정</a:t>
            </a:r>
            <a:r>
              <a:rPr lang="en-US" altLang="ko-KR" sz="850" dirty="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(Label)  </a:t>
            </a:r>
            <a:r>
              <a:rPr lang="ko-KR" altLang="en-US" sz="85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데이터 확보</a:t>
            </a:r>
            <a:endParaRPr lang="en-US" altLang="ko-KR" sz="85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 marL="72000" indent="-72000">
              <a:buFont typeface="Arial" panose="020B0604020202020204" pitchFamily="34" charset="0"/>
              <a:buChar char="•"/>
            </a:pPr>
            <a:r>
              <a:rPr lang="ko-KR" altLang="en-US" sz="850">
                <a:ln>
                  <a:solidFill>
                    <a:schemeClr val="tx1">
                      <a:lumMod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지도학습 활용</a:t>
            </a:r>
            <a:endParaRPr lang="en-US" altLang="ko-KR" sz="850" dirty="0">
              <a:ln>
                <a:solidFill>
                  <a:schemeClr val="tx1">
                    <a:lumMod val="50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7EEA787-E321-4698-D64D-D6021D1F7FE5}"/>
              </a:ext>
            </a:extLst>
          </p:cNvPr>
          <p:cNvCxnSpPr>
            <a:cxnSpLocks/>
          </p:cNvCxnSpPr>
          <p:nvPr/>
        </p:nvCxnSpPr>
        <p:spPr>
          <a:xfrm rot="16200000">
            <a:off x="2510390" y="2444575"/>
            <a:ext cx="685446" cy="0"/>
          </a:xfrm>
          <a:prstGeom prst="line">
            <a:avLst/>
          </a:prstGeom>
          <a:ln w="9525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그래픽 48" descr="데이터베이스 단색으로 채워진">
            <a:extLst>
              <a:ext uri="{FF2B5EF4-FFF2-40B4-BE49-F238E27FC236}">
                <a16:creationId xmlns:a16="http://schemas.microsoft.com/office/drawing/2014/main" id="{DABF008A-0038-4C6B-6761-792CB5081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10119" y="2297858"/>
            <a:ext cx="495248" cy="456902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38DF12F3-DEFE-E9B0-E205-DA5CE0984C42}"/>
              </a:ext>
            </a:extLst>
          </p:cNvPr>
          <p:cNvSpPr/>
          <p:nvPr/>
        </p:nvSpPr>
        <p:spPr>
          <a:xfrm>
            <a:off x="297155" y="1650376"/>
            <a:ext cx="5616055" cy="321173"/>
          </a:xfrm>
          <a:prstGeom prst="rect">
            <a:avLst/>
          </a:prstGeom>
          <a:solidFill>
            <a:srgbClr val="D81921"/>
          </a:solidFill>
          <a:ln w="9525" cap="flat" cmpd="sng" algn="ctr">
            <a:solidFill>
              <a:srgbClr val="ED9D9B"/>
            </a:solidFill>
            <a:prstDash val="solid"/>
          </a:ln>
          <a:effectLst/>
        </p:spPr>
        <p:txBody>
          <a:bodyPr wrap="square" lIns="72000" tIns="0" rIns="72000" bIns="0" rtlCol="0" anchor="ctr" anchorCtr="0"/>
          <a:lstStyle/>
          <a:p>
            <a:pPr algn="ctr"/>
            <a:r>
              <a:rPr lang="ko-KR" altLang="en-US" sz="1200" b="1" kern="0" dirty="0">
                <a:latin typeface="+mn-ea"/>
              </a:rPr>
              <a:t>당행 </a:t>
            </a:r>
            <a:r>
              <a:rPr lang="en-US" altLang="ko-KR" sz="1200" b="1" kern="0" dirty="0">
                <a:latin typeface="+mn-ea"/>
              </a:rPr>
              <a:t>AI</a:t>
            </a:r>
            <a:r>
              <a:rPr lang="ko-KR" altLang="en-US" sz="1200" b="1" kern="0" dirty="0">
                <a:latin typeface="+mn-ea"/>
              </a:rPr>
              <a:t>부서 또는 </a:t>
            </a:r>
            <a:r>
              <a:rPr lang="en-US" altLang="ko-KR" sz="1200" b="1" kern="0" dirty="0">
                <a:latin typeface="+mn-ea"/>
              </a:rPr>
              <a:t>AI </a:t>
            </a:r>
            <a:r>
              <a:rPr lang="ko-KR" altLang="en-US" sz="1200" b="1" kern="0" dirty="0">
                <a:latin typeface="+mn-ea"/>
              </a:rPr>
              <a:t>전문업체와 협업 필요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5239BC95-BC67-9D18-1817-41784FAFBD83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>
            <a:off x="1207537" y="1588983"/>
            <a:ext cx="529474" cy="46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6155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NK Master">
  <a:themeElements>
    <a:clrScheme name="BNK">
      <a:dk1>
        <a:srgbClr val="FFFFFF"/>
      </a:dk1>
      <a:lt1>
        <a:srgbClr val="000000"/>
      </a:lt1>
      <a:dk2>
        <a:srgbClr val="7F7F7F"/>
      </a:dk2>
      <a:lt2>
        <a:srgbClr val="C4C4CD"/>
      </a:lt2>
      <a:accent1>
        <a:srgbClr val="D81921"/>
      </a:accent1>
      <a:accent2>
        <a:srgbClr val="F08085"/>
      </a:accent2>
      <a:accent3>
        <a:srgbClr val="F7B7BA"/>
      </a:accent3>
      <a:accent4>
        <a:srgbClr val="8A6D4B"/>
      </a:accent4>
      <a:accent5>
        <a:srgbClr val="C7B299"/>
      </a:accent5>
      <a:accent6>
        <a:srgbClr val="E8DFD4"/>
      </a:accent6>
      <a:hlink>
        <a:srgbClr val="0000FF"/>
      </a:hlink>
      <a:folHlink>
        <a:srgbClr val="7030A0"/>
      </a:folHlink>
    </a:clrScheme>
    <a:fontScheme name="사용자 지정 1">
      <a:majorFont>
        <a:latin typeface="나눔스퀘어 ExtraBold"/>
        <a:ea typeface="나눔스퀘어 ExtraBold"/>
        <a:cs typeface="Arial"/>
      </a:majorFont>
      <a:minorFont>
        <a:latin typeface="나눔스퀘어"/>
        <a:ea typeface="나눔스퀘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</a:ln>
        <a:effectLst/>
      </a:spPr>
      <a:bodyPr wrap="square" lIns="72000" tIns="0" rIns="72000" bIns="0" rtlCol="0" anchor="ctr" anchorCtr="0"/>
      <a:lstStyle>
        <a:defPPr algn="ctr">
          <a:defRPr sz="1100" dirty="0" err="1" smtClean="0">
            <a:solidFill>
              <a:schemeClr val="bg1"/>
            </a:solidFill>
          </a:defRPr>
        </a:defPPr>
      </a:lstStyle>
    </a:spDef>
    <a:lnDef>
      <a:spPr>
        <a:ln w="9525">
          <a:solidFill>
            <a:schemeClr val="tx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ctr">
        <a:noAutofit/>
      </a:bodyPr>
      <a:lstStyle>
        <a:defPPr algn="ctr">
          <a:spcBef>
            <a:spcPts val="300"/>
          </a:spcBef>
          <a:defRPr sz="1200" b="1" dirty="0" err="1" smtClean="0">
            <a:solidFill>
              <a:schemeClr val="bg1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프레젠테이션5" id="{AE68AC6B-805C-48A0-825B-603A8E16B212}" vid="{C89FDF58-E05A-4D96-BF9C-BEDEE513E96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NK고딕 Regular" panose="020F0302020204030204"/>
        <a:ea typeface=""/>
        <a:cs typeface=""/>
        <a:font script="Jpan" typeface="游ゴシック Light"/>
        <a:font script="Hang" typeface="BNK고딕 Regular"/>
        <a:font script="Hans" typeface="等线 Light"/>
        <a:font script="Hant" typeface="新細明體"/>
        <a:font script="Arab" typeface="BNK고딕 Regular"/>
        <a:font script="Hebr" typeface="BNK고딕 Regula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NK고딕 Regular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NK고딕 Regular" panose="020F0502020204030204"/>
        <a:ea typeface=""/>
        <a:cs typeface=""/>
        <a:font script="Jpan" typeface="游ゴシック"/>
        <a:font script="Hang" typeface="BNK고딕 Regula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NK고딕 Regular" panose="020F0302020204030204"/>
        <a:ea typeface=""/>
        <a:cs typeface=""/>
        <a:font script="Jpan" typeface="游ゴシック Light"/>
        <a:font script="Hang" typeface="BNK고딕 Regular"/>
        <a:font script="Hans" typeface="等线 Light"/>
        <a:font script="Hant" typeface="新細明體"/>
        <a:font script="Arab" typeface="BNK고딕 Regular"/>
        <a:font script="Hebr" typeface="BNK고딕 Regula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BNK고딕 Regular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NK고딕 Regular" panose="020F0502020204030204"/>
        <a:ea typeface=""/>
        <a:cs typeface=""/>
        <a:font script="Jpan" typeface="游ゴシック"/>
        <a:font script="Hang" typeface="BNK고딕 Regula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16F4EA-A09B-4EBE-96A5-F7E53EC21F44}">
  <we:reference id="c3b3159f-c9fe-4860-a4cb-a5d5f254c545" version="9.5.6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a51386-2dbe-4b70-af6c-9216ddbc5c41" xsi:nil="true"/>
    <lcf76f155ced4ddcb4097134ff3c332f xmlns="afa6187d-55e3-422d-bd2d-efca39e194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12B1BB2F9CB9428AF415EB0269A2DD" ma:contentTypeVersion="11" ma:contentTypeDescription="Create a new document." ma:contentTypeScope="" ma:versionID="f6ecee68ea7207a97ff4e5b08368b6d5">
  <xsd:schema xmlns:xsd="http://www.w3.org/2001/XMLSchema" xmlns:xs="http://www.w3.org/2001/XMLSchema" xmlns:p="http://schemas.microsoft.com/office/2006/metadata/properties" xmlns:ns2="afa6187d-55e3-422d-bd2d-efca39e1948b" xmlns:ns3="36a51386-2dbe-4b70-af6c-9216ddbc5c41" targetNamespace="http://schemas.microsoft.com/office/2006/metadata/properties" ma:root="true" ma:fieldsID="9c9c5d96bed43b20f110b1fed3f6b268" ns2:_="" ns3:_="">
    <xsd:import namespace="afa6187d-55e3-422d-bd2d-efca39e1948b"/>
    <xsd:import namespace="36a51386-2dbe-4b70-af6c-9216ddbc5c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a6187d-55e3-422d-bd2d-efca39e194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51386-2dbe-4b70-af6c-9216ddbc5c4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61d03dc-be61-4f2e-86bf-38bc0610f9ee}" ma:internalName="TaxCatchAll" ma:showField="CatchAllData" ma:web="36a51386-2dbe-4b70-af6c-9216ddbc5c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D352DA-696C-4FAD-B8B5-794135C441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D39E0B-C733-4C96-A07B-E76389464A99}">
  <ds:schemaRefs>
    <ds:schemaRef ds:uri="36a51386-2dbe-4b70-af6c-9216ddbc5c41"/>
    <ds:schemaRef ds:uri="afa6187d-55e3-422d-bd2d-efca39e194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65B083-34C7-465E-8E5E-D1D6653609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a6187d-55e3-422d-bd2d-efca39e1948b"/>
    <ds:schemaRef ds:uri="36a51386-2dbe-4b70-af6c-9216ddbc5c4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7036</TotalTime>
  <Words>496</Words>
  <Application>Microsoft Office PowerPoint</Application>
  <PresentationFormat>A4 용지(210x297mm)</PresentationFormat>
  <Paragraphs>102</Paragraphs>
  <Slides>2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Trebuchet MS</vt:lpstr>
      <vt:lpstr>나눔스퀘어 Bold</vt:lpstr>
      <vt:lpstr>나눔스퀘어 ExtraBold</vt:lpstr>
      <vt:lpstr>나눔스퀘어</vt:lpstr>
      <vt:lpstr>맑은 고딕</vt:lpstr>
      <vt:lpstr>Wingdings</vt:lpstr>
      <vt:lpstr>Arial</vt:lpstr>
      <vt:lpstr>BNK Master</vt:lpstr>
      <vt:lpstr>think-cell Slide</vt:lpstr>
      <vt:lpstr>외환이상거래 탐지체계 고도화</vt:lpstr>
      <vt:lpstr>솔루션을 연계하여 AI 이상거래 탐지 시스템 구축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황동현</dc:creator>
  <cp:lastModifiedBy>gwangbeom77@gmail.com</cp:lastModifiedBy>
  <cp:revision>142</cp:revision>
  <cp:lastPrinted>2025-01-21T09:16:47Z</cp:lastPrinted>
  <dcterms:created xsi:type="dcterms:W3CDTF">2024-06-02T23:45:14Z</dcterms:created>
  <dcterms:modified xsi:type="dcterms:W3CDTF">2026-07-20T08:10:35Z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0x010100D412B1BB2F9CB9428AF415EB0269A2DD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  <property fmtid="{D5CDD505-2E9C-101B-9397-08002B2CF9AE}" pid="10" name="Order">
    <vt:r8>4700</vt:r8>
  </property>
</Properties>
</file>