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371600" cy="28575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DB8D6"/>
                </a:solidFill>
                <a:latin typeface="맑은 고딕"/>
                <a:ea typeface="맑은 고딕"/>
              </a:rPr>
              <a:t>CUPIA AI 연구 과제 2026 수행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e-PASS AI 모델 상품화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EWACS 복합 AI Agent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6E6"/>
                </a:solidFill>
                <a:latin typeface="맑은 고딕"/>
                <a:ea typeface="맑은 고딕"/>
              </a:rPr>
              <a:t>OCR+vLLM 신고서 검증 시스템의 상용 v1 완성과 룰 기반 모니터링의 AI Agent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120640"/>
            <a:ext cx="10424160" cy="9525"/>
          </a:xfrm>
          <a:prstGeom prst="rect">
            <a:avLst/>
          </a:prstGeom>
          <a:solidFill>
            <a:srgbClr val="2B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9DB8D6"/>
                </a:solidFill>
                <a:latin typeface="맑은 고딕"/>
                <a:ea typeface="맑은 고딕"/>
              </a:rPr>
              <a:t>제출 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(주)시커스랩  SeekersLab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9DB8D6"/>
                </a:solidFill>
                <a:latin typeface="맑은 고딕"/>
                <a:ea typeface="맑은 고딕"/>
              </a:rPr>
              <a:t>수신  </a:t>
            </a: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전자통관국제협력재단(CUPIA)  AI연구개발본부</a:t>
            </a:r>
          </a:p>
          <a:p>
            <a:pPr algn="l"/>
            <a:r>
              <a:rPr sz="1200" b="0">
                <a:solidFill>
                  <a:srgbClr val="9DB8D6"/>
                </a:solidFill>
                <a:latin typeface="맑은 고딕"/>
                <a:ea typeface="맑은 고딕"/>
              </a:rPr>
              <a:t>문서  </a:t>
            </a: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CUPIA-AI-2026-SOW-001 기반  ·  초안 v0.2  ·  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사업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과업 구성과 수행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81328"/>
          <a:ext cx="50292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과업명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CUPIA AI 연구 과제 2026</a:t>
                      </a:r>
                    </a:p>
                  </a:txBody>
                  <a:tcPr anchor="ctr" marL="127000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과업 성격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연구 과제 (공동 연구)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과업 기간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2026년 4월 ~ 12월  (9개월)</a:t>
                      </a:r>
                    </a:p>
                  </a:txBody>
                  <a:tcPr anchor="ctr" marL="127000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총 투입규모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31 M/M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발주기관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전자통관국제협력재단(CUPIA) AI연구개발본부</a:t>
                      </a:r>
                    </a:p>
                  </a:txBody>
                  <a:tcPr anchor="ctr" marL="127000"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수행업체</a:t>
                      </a:r>
                    </a:p>
                  </a:txBody>
                  <a:tcPr anchor="ctr" marL="127000"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(주)시커스랩 SeekersLab</a:t>
                      </a:r>
                    </a:p>
                  </a:txBody>
                  <a:tcPr anchor="ctr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43600" y="1481328"/>
            <a:ext cx="569671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481328"/>
            <a:ext cx="5696712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682496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2A4E"/>
                </a:solidFill>
                <a:latin typeface="맑은 고딕"/>
                <a:ea typeface="맑은 고딕"/>
              </a:rPr>
              <a:t>과제 1  ·  e-PASS AI 모델 상품화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0482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</a:rPr>
              <a:t>2026. 4 ~ 7월   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9 M/M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340864"/>
            <a:ext cx="5257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OCR+vLLM 신고서 검증 시스템(RAG Codex)의 기술 검증·프롬프트 고도화·성능 최적화·패키징을 거쳐 해외 세관 배포 가능한 상용 v1 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664208"/>
            <a:ext cx="155448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v1 런칭  2026. 7월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355847"/>
            <a:ext cx="569671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355847"/>
            <a:ext cx="5696712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3557015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2A4E"/>
                </a:solidFill>
                <a:latin typeface="맑은 고딕"/>
                <a:ea typeface="맑은 고딕"/>
              </a:rPr>
              <a:t>과제 2  ·  EWACS 복합 AI Agent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92277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DB3"/>
                </a:solidFill>
                <a:latin typeface="맑은 고딕"/>
                <a:ea typeface="맑은 고딕"/>
              </a:rPr>
              <a:t>2026. 4 ~ 12월   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22 M/M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4215383"/>
            <a:ext cx="5257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고정 임계치 룰 엔진 기반 업무 모니터링을 동적 임계치 학습·예측 알림·자동 원인 분석·LLM 보고서의 지능형 체계로 전환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3538727"/>
            <a:ext cx="1554480" cy="310896"/>
          </a:xfrm>
          <a:prstGeom prst="round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운영 전환  2026. 12월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계약·비용  </a:t>
            </a:r>
            <a:r>
              <a:rPr sz="1150" b="0">
                <a:solidFill>
                  <a:srgbClr val="222832"/>
                </a:solidFill>
                <a:latin typeface="맑은 고딕"/>
                <a:ea typeface="맑은 고딕"/>
              </a:rPr>
              <a:t>계약 형태(M/M 기반 ↔ 모듈별 정액)는 CUPIA 예산 확인 후 확정 · 과제 1 안정화 기간(8~12월) 유지보수는 별도 협의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사업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두 시스템의 현재 지점과 본 과업이 메우는 간극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40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5440680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824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2A4E"/>
                </a:solidFill>
                <a:latin typeface="맑은 고딕"/>
                <a:ea typeface="맑은 고딕"/>
              </a:rPr>
              <a:t>e-PASS AI — PoC 완료, 상용화 직전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21408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검증된 것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앙상블 OCR + 좌표 임베딩 + vLLM으로 신고서·상업서류 교차검증 (VIN 추출 10/10, 차량 위장신고 적발)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남은 것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성능 사양 체계 부재 — 최소/목표 사양 미정의, 프롬프트 버전관리 없음, 배포 자동화 없음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PoC의 결론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vLLM 의존도가 속도와 정확도를 동시에 지배 — 서빙 최적화가 상품화의 관건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481328"/>
            <a:ext cx="5440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481328"/>
            <a:ext cx="5440680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824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2A4E"/>
                </a:solidFill>
                <a:latin typeface="맑은 고딕"/>
                <a:ea typeface="맑은 고딕"/>
              </a:rPr>
              <a:t>EWACS — 룰 엔진의 구조적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21408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고정 임계치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시간대·요일·계절 변동을 반영하지 못해 오탐과 미탐이 상존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사후 대응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임계치 초과 후 통보 — 병목이 이미 발생한 뒤에 담당자가 수동 분석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100" b="1">
                <a:solidFill>
                  <a:srgbClr val="222832"/>
                </a:solidFill>
                <a:latin typeface="맑은 고딕"/>
                <a:ea typeface="맑은 고딕"/>
              </a:rPr>
              <a:t>전환 방향</a:t>
            </a: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  데이터 파이프라인 위에 예측·진단·보고·추천을 수행하는 복합 AI Agent 구축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6460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맑은 고딕"/>
                <a:ea typeface="맑은 고딕"/>
              </a:rPr>
              <a:t>RAG Codex v2.0 실측 지표 (2025. 11)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57216"/>
            <a:ext cx="2651760" cy="96926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87%</a:t>
            </a:r>
          </a:p>
          <a:p>
            <a:pPr algn="ctr"/>
            <a:r>
              <a:rPr sz="1000" b="0">
                <a:solidFill>
                  <a:srgbClr val="ADC2DB"/>
                </a:solidFill>
                <a:latin typeface="맑은 고딕"/>
                <a:ea typeface="맑은 고딕"/>
              </a:rPr>
              <a:t>OCR 신뢰도 (앙상블)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2858" y="5157216"/>
            <a:ext cx="2651760" cy="96926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92%</a:t>
            </a:r>
          </a:p>
          <a:p>
            <a:pPr algn="ctr"/>
            <a:r>
              <a:rPr sz="1000" b="0">
                <a:solidFill>
                  <a:srgbClr val="ADC2DB"/>
                </a:solidFill>
                <a:latin typeface="맑은 고딕"/>
                <a:ea typeface="맑은 고딕"/>
              </a:rPr>
              <a:t>텍스트 복구율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076" y="5157216"/>
            <a:ext cx="2651760" cy="96926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15초</a:t>
            </a:r>
          </a:p>
          <a:p>
            <a:pPr algn="ctr"/>
            <a:r>
              <a:rPr sz="1000" b="0">
                <a:solidFill>
                  <a:srgbClr val="ADC2DB"/>
                </a:solidFill>
                <a:latin typeface="맑은 고딕"/>
                <a:ea typeface="맑은 고딕"/>
              </a:rPr>
              <a:t>5페이지 문서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1295" y="5157216"/>
            <a:ext cx="2651760" cy="96926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100%</a:t>
            </a:r>
          </a:p>
          <a:p>
            <a:pPr algn="ctr"/>
            <a:r>
              <a:rPr sz="1000" b="0">
                <a:solidFill>
                  <a:srgbClr val="ADC2DB"/>
                </a:solidFill>
                <a:latin typeface="맑은 고딕"/>
                <a:ea typeface="맑은 고딕"/>
              </a:rPr>
              <a:t>온프레미스 · 폐쇄망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과제 1 추진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e-PASS AI 모델 상품화 — 진단에서 v1 런칭까지 4개월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Chevron 9"/>
          <p:cNvSpPr/>
          <p:nvPr/>
        </p:nvSpPr>
        <p:spPr>
          <a:xfrm>
            <a:off x="548640" y="1517904"/>
            <a:ext cx="2121408" cy="45720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4월  서비스 수준 진단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39696"/>
            <a:ext cx="21214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18653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OCR 인식률·vLLM 정확도·지연/처리량 실측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67328"/>
            <a:ext cx="2121408" cy="96926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877056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222832"/>
                </a:solidFill>
                <a:latin typeface="맑은 고딕"/>
                <a:ea typeface="맑은 고딕"/>
              </a:rPr>
              <a:t>진단 보고서
최소/목표 사양 정의서</a:t>
            </a:r>
          </a:p>
        </p:txBody>
      </p:sp>
      <p:sp>
        <p:nvSpPr>
          <p:cNvPr id="15" name="Chevron 14"/>
          <p:cNvSpPr/>
          <p:nvPr/>
        </p:nvSpPr>
        <p:spPr>
          <a:xfrm>
            <a:off x="2791891" y="1517904"/>
            <a:ext cx="2121408" cy="45720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4~5월  프롬프트 고도화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1891" y="2139696"/>
            <a:ext cx="21214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9907" y="2286000"/>
            <a:ext cx="18653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Hallucination 억제, 유형별 프롬프트, 버전관리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1891" y="3767328"/>
            <a:ext cx="2121408" cy="96926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9907" y="3877056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222832"/>
                </a:solidFill>
                <a:latin typeface="맑은 고딕"/>
                <a:ea typeface="맑은 고딕"/>
              </a:rPr>
              <a:t>개선 보고서(전후 비교)
프롬프트 가이드라인</a:t>
            </a:r>
          </a:p>
        </p:txBody>
      </p:sp>
      <p:sp>
        <p:nvSpPr>
          <p:cNvPr id="20" name="Chevron 19"/>
          <p:cNvSpPr/>
          <p:nvPr/>
        </p:nvSpPr>
        <p:spPr>
          <a:xfrm>
            <a:off x="5035143" y="1517904"/>
            <a:ext cx="2121408" cy="45720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5~6월  성능 최적화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5143" y="2139696"/>
            <a:ext cx="21214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3159" y="2286000"/>
            <a:ext cx="18653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배치 추론·양자화·Continuous Batching·멀티 GPU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5143" y="3767328"/>
            <a:ext cx="2121408" cy="96926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159" y="3877056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222832"/>
                </a:solidFill>
                <a:latin typeface="맑은 고딕"/>
                <a:ea typeface="맑은 고딕"/>
              </a:rPr>
              <a:t>성능 최적화 보고서</a:t>
            </a:r>
          </a:p>
        </p:txBody>
      </p:sp>
      <p:sp>
        <p:nvSpPr>
          <p:cNvPr id="25" name="Chevron 24"/>
          <p:cNvSpPr/>
          <p:nvPr/>
        </p:nvSpPr>
        <p:spPr>
          <a:xfrm>
            <a:off x="7278395" y="1517904"/>
            <a:ext cx="2121408" cy="45720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6월  시스템 패키징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8395" y="2139696"/>
            <a:ext cx="21214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411" y="2286000"/>
            <a:ext cx="18653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REST API·Docker/K8s·모델 버전관리·운영 문서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395" y="3767328"/>
            <a:ext cx="2121408" cy="96926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411" y="3877056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222832"/>
                </a:solidFill>
                <a:latin typeface="맑은 고딕"/>
                <a:ea typeface="맑은 고딕"/>
              </a:rPr>
              <a:t>배포 패키지
API 문서·운영 매뉴얼</a:t>
            </a:r>
          </a:p>
        </p:txBody>
      </p:sp>
      <p:sp>
        <p:nvSpPr>
          <p:cNvPr id="30" name="Chevron 29"/>
          <p:cNvSpPr/>
          <p:nvPr/>
        </p:nvSpPr>
        <p:spPr>
          <a:xfrm>
            <a:off x="9521647" y="1517904"/>
            <a:ext cx="2121408" cy="457200"/>
          </a:xfrm>
          <a:prstGeom prst="chevron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7월  v1 런칭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1647" y="2139696"/>
            <a:ext cx="212140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9663" y="2286000"/>
            <a:ext cx="18653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통합·부하 테스트, 파일럿 실데이터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1647" y="3767328"/>
            <a:ext cx="2121408" cy="96926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9663" y="3877056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222832"/>
                </a:solidFill>
                <a:latin typeface="맑은 고딕"/>
                <a:ea typeface="맑은 고딕"/>
              </a:rPr>
              <a:t>v1 릴리즈
사양 달성 보고서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29200"/>
            <a:ext cx="1109441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029200"/>
            <a:ext cx="64008" cy="11704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17550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42A4E"/>
                </a:solidFill>
                <a:latin typeface="맑은 고딕"/>
                <a:ea typeface="맑은 고딕"/>
              </a:rPr>
              <a:t>인수 기준 (SOW 10.2)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최소 사양 충족을 검증 데이터로 입증  ·  프롬프트 개선 전후 비교 문서화  ·  API 정상 동작과 Docker/K8s 배포 가능 상태  ·  운영 문서·API 명세·프롬프트 가이드라인 완비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과제 1 기술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검증 대상 시스템(RAG Codex)의 계층과 상품화 개입 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17904"/>
            <a:ext cx="1600200" cy="749808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UI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517904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OpenWebUI  ·  Customs Viewer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517904"/>
            <a:ext cx="173736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운영 콘솔·검증 결과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14016"/>
            <a:ext cx="1600200" cy="749808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API 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414016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FastAPI Gateway  ·  RAG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414016"/>
            <a:ext cx="173736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전자통관시스템과 REST/JSON 연계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10128"/>
            <a:ext cx="1600200" cy="749808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AI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310128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vLLM(GPT-OSS-120B)  ·  Tesseract  ·  PaddleOCR/PP-Structure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310128"/>
            <a:ext cx="173736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앙상블 OCR·좌표 임베딩·추론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600200" cy="749808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Data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206240"/>
            <a:ext cx="4160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PostgreSQL  ·  pgvector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206240"/>
            <a:ext cx="173736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Two-Track RAG (TAPAS+BGE-M3) 하이브리드 검색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517904"/>
            <a:ext cx="3090672" cy="3529584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517904"/>
            <a:ext cx="3090672" cy="6400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171907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2A4E"/>
                </a:solidFill>
                <a:latin typeface="맑은 고딕"/>
                <a:ea typeface="맑은 고딕"/>
              </a:rPr>
              <a:t>상품화 개입 지점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103120"/>
            <a:ext cx="2724912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1">
                <a:solidFill>
                  <a:srgbClr val="0C7BC0"/>
                </a:solidFill>
                <a:latin typeface="맑은 고딕"/>
                <a:ea typeface="맑은 고딕"/>
              </a:rPr>
              <a:t>▪  </a:t>
            </a:r>
            <a:r>
              <a:rPr sz="1000" b="1">
                <a:solidFill>
                  <a:srgbClr val="222832"/>
                </a:solidFill>
                <a:latin typeface="맑은 고딕"/>
                <a:ea typeface="맑은 고딕"/>
              </a:rPr>
              <a:t>서빙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  배치 추론 · KV Cache · Continuous Batching · 멀티 GPU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1">
                <a:solidFill>
                  <a:srgbClr val="0C7BC0"/>
                </a:solidFill>
                <a:latin typeface="맑은 고딕"/>
                <a:ea typeface="맑은 고딕"/>
              </a:rPr>
              <a:t>▪  </a:t>
            </a:r>
            <a:r>
              <a:rPr sz="1000" b="1">
                <a:solidFill>
                  <a:srgbClr val="222832"/>
                </a:solidFill>
                <a:latin typeface="맑은 고딕"/>
                <a:ea typeface="맑은 고딕"/>
              </a:rPr>
              <a:t>정확도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  유형별 프롬프트 · Few-shot/CoT 비교 · 버전관리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1">
                <a:solidFill>
                  <a:srgbClr val="0C7BC0"/>
                </a:solidFill>
                <a:latin typeface="맑은 고딕"/>
                <a:ea typeface="맑은 고딕"/>
              </a:rPr>
              <a:t>▪  </a:t>
            </a:r>
            <a:r>
              <a:rPr sz="1000" b="1">
                <a:solidFill>
                  <a:srgbClr val="222832"/>
                </a:solidFill>
                <a:latin typeface="맑은 고딕"/>
                <a:ea typeface="맑은 고딕"/>
              </a:rPr>
              <a:t>배포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  Helm/Compose 자동화 · GPU 노드 명세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1">
                <a:solidFill>
                  <a:srgbClr val="0C7BC0"/>
                </a:solidFill>
                <a:latin typeface="맑은 고딕"/>
                <a:ea typeface="맑은 고딕"/>
              </a:rPr>
              <a:t>▪  </a:t>
            </a:r>
            <a:r>
              <a:rPr sz="1000" b="1">
                <a:solidFill>
                  <a:srgbClr val="222832"/>
                </a:solidFill>
                <a:latin typeface="맑은 고딕"/>
                <a:ea typeface="맑은 고딕"/>
              </a:rPr>
              <a:t>운영</a:t>
            </a: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  모니터링 · 장애 대응 · OpenAPI 명세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833A"/>
                </a:solidFill>
                <a:latin typeface="맑은 고딕"/>
                <a:ea typeface="맑은 고딕"/>
              </a:rPr>
              <a:t>설계 제약   </a:t>
            </a:r>
            <a:r>
              <a:rPr sz="1100" b="0">
                <a:solidFill>
                  <a:srgbClr val="222832"/>
                </a:solidFill>
                <a:latin typeface="맑은 고딕"/>
                <a:ea typeface="맑은 고딕"/>
              </a:rPr>
              <a:t>폐쇄망 온프레미스(외부 API 호출 불가) · GPU는 H200/RTX 5090 기준 · 처리량은 vLLM 병렬 처리 능력이 상한 — 실시간 선별은 신고건수가 적은 국가에, 주력은 사후검증 단계에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과제 2 추진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EWACS — 룰 기반에서 복합 AI Agent로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1417320" cy="402336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481328"/>
            <a:ext cx="4206240" cy="40233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현재 (룰 기반)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81328"/>
            <a:ext cx="5193792" cy="402336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전환 후 (AI Agent)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56816"/>
            <a:ext cx="1417320" cy="47548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임계치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956816"/>
            <a:ext cx="4206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고정 임계치, 초과 시 단순 알림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53328" y="2075688"/>
            <a:ext cx="292608" cy="23774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956816"/>
            <a:ext cx="5193792" cy="47548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시간대·요일·계절 자동 학습 동적 임계치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05456"/>
            <a:ext cx="1417320" cy="47548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알림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505456"/>
            <a:ext cx="4206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초과 후 사후 통보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3328" y="2624328"/>
            <a:ext cx="292608" cy="23774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505456"/>
            <a:ext cx="5193792" cy="47548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추세 예측 기반 사전 경고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54096"/>
            <a:ext cx="1417320" cy="47548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원인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054096"/>
            <a:ext cx="4206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담당자 수동 확인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53328" y="3172968"/>
            <a:ext cx="292608" cy="23774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3054096"/>
            <a:ext cx="5193792" cy="47548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병목 업무 AI 자동 진단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보고서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3602736"/>
            <a:ext cx="4206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템플릿 수동 작성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053328" y="3721608"/>
            <a:ext cx="292608" cy="23774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602736"/>
            <a:ext cx="5193792" cy="47548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LLM 자연어 인사이트 보고서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51376"/>
            <a:ext cx="1417320" cy="47548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4151376"/>
            <a:ext cx="4206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수동 판단·조치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53328" y="4270248"/>
            <a:ext cx="292608" cy="237744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151376"/>
            <a:ext cx="5193792" cy="47548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050" b="1">
                <a:solidFill>
                  <a:srgbClr val="222832"/>
                </a:solidFill>
                <a:latin typeface="맑은 고딕"/>
                <a:ea typeface="맑은 고딕"/>
              </a:rPr>
              <a:t>인력 재배치·업무 분배 자동 추천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5604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맑은 고딕"/>
                <a:ea typeface="맑은 고딕"/>
              </a:rPr>
              <a:t>수행 단계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248656"/>
            <a:ext cx="1755648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요건 설계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4~5월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16393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16393" y="5248656"/>
            <a:ext cx="1755648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7833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아키텍처 설계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5월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84146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84146" y="5248656"/>
            <a:ext cx="1755648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5586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모듈 개발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6~8월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1900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1900" y="5248656"/>
            <a:ext cx="1755648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3340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알림 모듈화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8~9월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653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19653" y="5248656"/>
            <a:ext cx="1755648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1093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통합 테스트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9~10월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87407" y="5248656"/>
            <a:ext cx="17556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87407" y="5248656"/>
            <a:ext cx="1755648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78847" y="5394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2A4E"/>
                </a:solidFill>
                <a:latin typeface="맑은 고딕"/>
                <a:ea typeface="맑은 고딕"/>
              </a:rPr>
              <a:t>안정화·운영 전환</a:t>
            </a:r>
          </a:p>
          <a:p>
            <a:pPr algn="ct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11~12월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과제 2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데이터 파이프라인에서 출력 채널까지 — 5개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17904"/>
            <a:ext cx="2084831" cy="42062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데이터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EWACS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79776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Customs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Work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33088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HR /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9744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External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79191" y="3017520"/>
            <a:ext cx="76125" cy="201168"/>
          </a:xfrm>
          <a:prstGeom prst="rightArrow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036" y="1517904"/>
            <a:ext cx="2084831" cy="42062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Data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1036" y="2103120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ETL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1036" y="2779776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Streaming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1036" y="3456432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Feature Store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1587" y="3017520"/>
            <a:ext cx="76125" cy="201168"/>
          </a:xfrm>
          <a:prstGeom prst="rightArrow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3432" y="1517904"/>
            <a:ext cx="2084831" cy="42062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AI Agent 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3432" y="2103120"/>
            <a:ext cx="2084831" cy="56692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1">
                <a:solidFill>
                  <a:srgbClr val="222832"/>
                </a:solidFill>
                <a:latin typeface="맑은 고딕"/>
                <a:ea typeface="맑은 고딕"/>
              </a:rPr>
              <a:t>Prediction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3432" y="2779776"/>
            <a:ext cx="2084831" cy="56692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1">
                <a:solidFill>
                  <a:srgbClr val="222832"/>
                </a:solidFill>
                <a:latin typeface="맑은 고딕"/>
                <a:ea typeface="맑은 고딕"/>
              </a:rPr>
              <a:t>Dynamic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3432" y="3456432"/>
            <a:ext cx="2084831" cy="56692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1">
                <a:solidFill>
                  <a:srgbClr val="222832"/>
                </a:solidFill>
                <a:latin typeface="맑은 고딕"/>
                <a:ea typeface="맑은 고딕"/>
              </a:rPr>
              <a:t>Root Cause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53432" y="4133088"/>
            <a:ext cx="2084831" cy="566928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1">
                <a:solidFill>
                  <a:srgbClr val="222832"/>
                </a:solidFill>
                <a:latin typeface="맑은 고딕"/>
                <a:ea typeface="맑은 고딕"/>
              </a:rPr>
              <a:t>LLM Insight Engine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83983" y="3017520"/>
            <a:ext cx="76125" cy="201168"/>
          </a:xfrm>
          <a:prstGeom prst="rightArrow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5828" y="1517904"/>
            <a:ext cx="2084831" cy="42062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실행 계층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5828" y="2103120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Alert Module ▸ 독립 박스화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5828" y="2779776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Response Recommendation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5828" y="3456432"/>
            <a:ext cx="2084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Agent Orchestrator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36379" y="3017520"/>
            <a:ext cx="76125" cy="201168"/>
          </a:xfrm>
          <a:prstGeom prst="rightArrow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8224" y="1517904"/>
            <a:ext cx="2084831" cy="420624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연동·출력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8224" y="2103120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REST API · Event Bus · Webhook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8224" y="2779776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Dashboard / Alert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58224" y="3456432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Insight Report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8224" y="4133088"/>
            <a:ext cx="2084831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0">
                <a:solidFill>
                  <a:srgbClr val="222832"/>
                </a:solidFill>
                <a:latin typeface="맑은 고딕"/>
                <a:ea typeface="맑은 고딕"/>
              </a:rPr>
              <a:t>Admin Console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486400"/>
            <a:ext cx="64008" cy="713232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59612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2A4E"/>
                </a:solidFill>
                <a:latin typeface="맑은 고딕"/>
                <a:ea typeface="맑은 고딕"/>
              </a:rPr>
              <a:t>알림 모듈 표준화   </a:t>
            </a:r>
            <a:r>
              <a:rPr sz="1100" b="0">
                <a:solidFill>
                  <a:srgbClr val="222832"/>
                </a:solidFill>
                <a:latin typeface="맑은 고딕"/>
                <a:ea typeface="맑은 고딕"/>
              </a:rPr>
              <a:t>임계치·예측 알림 모듈은 독립 배포 가능한 박스(Box)로 패키징하고 인터페이스를 표준화 — CUPIA의 타 시스템에서 재사용 (8~9월)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추진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2026년 4월 ~ 12월 · 마일스톤 2회(7월 v1 런칭 · 12월 운영 전환)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3352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2065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0778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7월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9491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8월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8203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9월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6916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85629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11월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4342" y="1463040"/>
            <a:ext cx="978712" cy="347472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12월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874520"/>
            <a:ext cx="219456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2A4E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988820"/>
            <a:ext cx="8808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212848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서비스 수준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17627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3352" y="217627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92065" y="217627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70778" y="217627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49491" y="217627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8203" y="217627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06916" y="217627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85629" y="217627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4342" y="217627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62072" y="2226564"/>
            <a:ext cx="923848" cy="1828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542032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프롬프트 고도화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50545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3352" y="250545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92065" y="250545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70778" y="250545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9491" y="250545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8203" y="250545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06916" y="250545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85629" y="250545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64342" y="250545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2072" y="2555748"/>
            <a:ext cx="1902561" cy="1828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2871216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성능 최적화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83464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13352" y="283464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92065" y="283464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70778" y="283464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49491" y="283464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28203" y="283464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06916" y="283464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85629" y="283464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4342" y="283464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840784" y="2884932"/>
            <a:ext cx="1902561" cy="1828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200400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패키징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316382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13352" y="316382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92065" y="316382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70778" y="316382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49491" y="316382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28203" y="316382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06916" y="316382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85629" y="316382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64342" y="316382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819497" y="3214116"/>
            <a:ext cx="923848" cy="1828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3529584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v1 런칭 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349300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13352" y="349300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92065" y="349300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70778" y="349300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49491" y="349300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28203" y="349300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06916" y="349300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85629" y="349300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64342" y="349300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798210" y="3543300"/>
            <a:ext cx="923848" cy="182880"/>
          </a:xfrm>
          <a:prstGeom prst="round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3849624"/>
            <a:ext cx="219456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2A4E"/>
                </a:solidFill>
                <a:latin typeface="맑은 고딕"/>
                <a:ea typeface="맑은 고딕"/>
              </a:rPr>
              <a:t>과제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40" y="3963924"/>
            <a:ext cx="8808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4187952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요건·아키텍처 설계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415137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13352" y="415137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792065" y="415137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770778" y="415137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49491" y="415137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28203" y="415137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706916" y="415137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685629" y="4151376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64342" y="4151376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862072" y="4201668"/>
            <a:ext cx="1902561" cy="182880"/>
          </a:xfrm>
          <a:prstGeom prst="round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4517136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모듈 개발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640" y="448056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813352" y="448056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92065" y="448056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70778" y="448056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749491" y="448056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28203" y="448056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706916" y="448056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685629" y="4480560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64342" y="4480560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819497" y="4530852"/>
            <a:ext cx="2881274" cy="182880"/>
          </a:xfrm>
          <a:prstGeom prst="round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1520" y="4846320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알림 모듈화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34640" y="480974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13352" y="480974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792065" y="480974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770778" y="480974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749491" y="480974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728203" y="480974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706916" y="480974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685629" y="4809744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664342" y="4809744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776923" y="4860036"/>
            <a:ext cx="1902561" cy="182880"/>
          </a:xfrm>
          <a:prstGeom prst="round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5175504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통합 테스트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34640" y="513892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813352" y="513892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792065" y="513892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70778" y="513892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749491" y="513892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728203" y="513892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706916" y="513892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685629" y="5138928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664342" y="5138928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755635" y="5189220"/>
            <a:ext cx="1902561" cy="182880"/>
          </a:xfrm>
          <a:prstGeom prst="round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1520" y="5504688"/>
            <a:ext cx="20574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832"/>
                </a:solidFill>
                <a:latin typeface="맑은 고딕"/>
                <a:ea typeface="맑은 고딕"/>
              </a:rPr>
              <a:t>안정화·운영 전환 ★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40" y="546811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13352" y="546811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792065" y="546811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70778" y="546811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749491" y="546811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728203" y="546811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06916" y="546811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85629" y="5468112"/>
            <a:ext cx="978712" cy="283464"/>
          </a:xfrm>
          <a:prstGeom prst="rect">
            <a:avLst/>
          </a:prstGeom>
          <a:solidFill>
            <a:srgbClr val="FAFBFC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664342" y="5468112"/>
            <a:ext cx="978712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713061" y="5518404"/>
            <a:ext cx="1902561" cy="182880"/>
          </a:xfrm>
          <a:prstGeom prst="round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8640" y="5870448"/>
            <a:ext cx="11094415" cy="457200"/>
          </a:xfrm>
          <a:prstGeom prst="rect">
            <a:avLst/>
          </a:prstGeom>
          <a:solidFill>
            <a:srgbClr val="E8F1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보고·검수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주간 보고 · 월 1회 정기 회의  |  착수 보고 4월 · 중간 검수 7월(v1)·10월(통합 테스트) · 최종 검수 12월 → 하자보수 12개월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투입 인력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총 31 M/M — 과제별 전담 구성, 변경 시 사전 협의·동등 이상 자격 교체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A4E"/>
                </a:solidFill>
                <a:latin typeface="맑은 고딕"/>
                <a:ea typeface="맑은 고딕"/>
              </a:rPr>
              <a:t>과제 1  (9 M/M)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65376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73736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투입 기간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M/M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AI 엔지니어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특급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4~7월 (4개월)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백엔드 개발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고급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5~7월 (3개월)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PM / QA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고급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6~7월 (2개월)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148132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A4E"/>
                </a:solidFill>
                <a:latin typeface="맑은 고딕"/>
                <a:ea typeface="맑은 고딕"/>
              </a:rPr>
              <a:t>과제 2  (22 M/M)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865376"/>
          <a:ext cx="53949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73736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2F6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anchor="ctr">
                    <a:solidFill>
                      <a:srgbClr val="2F6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투입 기간</a:t>
                      </a:r>
                    </a:p>
                  </a:txBody>
                  <a:tcPr anchor="ctr">
                    <a:solidFill>
                      <a:srgbClr val="2F6D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M/M</a:t>
                      </a:r>
                    </a:p>
                  </a:txBody>
                  <a:tcPr anchor="ctr">
                    <a:solidFill>
                      <a:srgbClr val="2F6DB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AI 엔지니어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특급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4~10월 (7개월)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백엔드 개발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고급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5~10월 (6개월)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프론트엔드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중급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7~10월 (4개월)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PM / QA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고급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9~11월 (3개월)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101600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안정화 지원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고급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11~12월 (2개월)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832"/>
                          </a:solidFill>
                          <a:latin typeface="맑은 고딕"/>
                          <a:ea typeface="맑은 고딕"/>
                        </a:rPr>
                        <a:t>22</a:t>
                      </a:r>
                    </a:p>
                  </a:txBody>
                  <a:tcPr anchor="ctr" marL="10160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산출물과 검수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단계별 산출물 제출 → 10영업일 검수 → 5영업일 보완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4406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5440680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642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2A4E"/>
                </a:solidFill>
                <a:latin typeface="맑은 고딕"/>
                <a:ea typeface="맑은 고딕"/>
              </a:rPr>
              <a:t>과제 1 산출물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48256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진단 보고서 · 상품화 요건 정의서 (최소/목표 사양)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프롬프트 개선 보고서(전후 비교) · 가이드라인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성능 최적화 보고서 (병목 분석·사양 달성 현황)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배포 패키지 · API 문서 · 운영 매뉴얼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E8B57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v1 릴리즈 노트 · 테스트 결과 · 사양 달성 보고서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481328"/>
            <a:ext cx="54406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481328"/>
            <a:ext cx="5440680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642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2A4E"/>
                </a:solidFill>
                <a:latin typeface="맑은 고딕"/>
                <a:ea typeface="맑은 고딕"/>
              </a:rPr>
              <a:t>과제 2 산출물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048256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요건 정의서 · 시스템 설계서 · 파이프라인/인터페이스 정의서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개발 모듈 (소스코드·단위 테스트 결과)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알림 모듈 (독립 배포 패키지·표준 인터페이스)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통합 테스트 결과 보고서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2F6DB3"/>
                </a:solidFill>
                <a:latin typeface="맑은 고딕"/>
                <a:ea typeface="맑은 고딕"/>
              </a:rPr>
              <a:t>▪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운영 가이드 · 교육 자료 · 인수인계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검수 절차 (SOW 10조)</a:t>
            </a:r>
          </a:p>
        </p:txBody>
      </p:sp>
      <p:sp>
        <p:nvSpPr>
          <p:cNvPr id="19" name="Chevron 18"/>
          <p:cNvSpPr/>
          <p:nvPr/>
        </p:nvSpPr>
        <p:spPr>
          <a:xfrm>
            <a:off x="548640" y="4462272"/>
            <a:ext cx="2057400" cy="603504"/>
          </a:xfrm>
          <a:prstGeom prst="chevron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산출물 제출</a:t>
            </a:r>
          </a:p>
        </p:txBody>
      </p:sp>
      <p:sp>
        <p:nvSpPr>
          <p:cNvPr id="20" name="Chevron 19"/>
          <p:cNvSpPr/>
          <p:nvPr/>
        </p:nvSpPr>
        <p:spPr>
          <a:xfrm>
            <a:off x="2807893" y="4462272"/>
            <a:ext cx="2057400" cy="603504"/>
          </a:xfrm>
          <a:prstGeom prst="chevron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검수 요청</a:t>
            </a:r>
          </a:p>
        </p:txBody>
      </p:sp>
      <p:sp>
        <p:nvSpPr>
          <p:cNvPr id="21" name="Chevron 20"/>
          <p:cNvSpPr/>
          <p:nvPr/>
        </p:nvSpPr>
        <p:spPr>
          <a:xfrm>
            <a:off x="5067147" y="4462272"/>
            <a:ext cx="2057400" cy="603504"/>
          </a:xfrm>
          <a:prstGeom prst="chevron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발주자 검수  ·  10영업일</a:t>
            </a:r>
          </a:p>
        </p:txBody>
      </p:sp>
      <p:sp>
        <p:nvSpPr>
          <p:cNvPr id="22" name="Chevron 21"/>
          <p:cNvSpPr/>
          <p:nvPr/>
        </p:nvSpPr>
        <p:spPr>
          <a:xfrm>
            <a:off x="7326401" y="4462272"/>
            <a:ext cx="2057400" cy="603504"/>
          </a:xfrm>
          <a:prstGeom prst="chevron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보완 요청 시  ·  5영업일 내 재검수</a:t>
            </a:r>
          </a:p>
        </p:txBody>
      </p:sp>
      <p:sp>
        <p:nvSpPr>
          <p:cNvPr id="23" name="Chevron 22"/>
          <p:cNvSpPr/>
          <p:nvPr/>
        </p:nvSpPr>
        <p:spPr>
          <a:xfrm>
            <a:off x="9585655" y="4462272"/>
            <a:ext cx="2057400" cy="603504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인수 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4415" cy="841248"/>
          </a:xfrm>
          <a:prstGeom prst="rect">
            <a:avLst/>
          </a:prstGeom>
          <a:solidFill>
            <a:srgbClr val="F5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486400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공통 산출물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착수·중간·최종 보고서, 주간/월간 진행 보고, 소스코드 일체(Git)</a:t>
            </a:r>
          </a:p>
          <a:p>
            <a:pPr algn="l"/>
            <a:r>
              <a:rPr sz="1050" b="1">
                <a:solidFill>
                  <a:srgbClr val="142A4E"/>
                </a:solidFill>
                <a:latin typeface="맑은 고딕"/>
                <a:ea typeface="맑은 고딕"/>
              </a:rPr>
              <a:t>지식재산권  </a:t>
            </a:r>
            <a:r>
              <a:rPr sz="1050" b="0">
                <a:solidFill>
                  <a:srgbClr val="222832"/>
                </a:solidFill>
                <a:latin typeface="맑은 고딕"/>
                <a:ea typeface="맑은 고딕"/>
              </a:rPr>
              <a:t>산출물 IP는 공동 소유(범위 별도 협의) · 기존 기술은 수행사 귀속, 산출물 포함 시 발주자에 사용 라이선스 부여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475488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A4E"/>
                </a:solidFill>
                <a:latin typeface="맑은 고딕"/>
                <a:ea typeface="맑은 고딕"/>
              </a:rPr>
              <a:t>착수 전 확정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4124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SOW 별첨 — 착수 회의에서 합의하고 착수 보고서에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4415" cy="9525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CUPIA AI 연구 과제 2026  |  (주)시커스랩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2881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17904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792224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64208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과제 성격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75104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연구 과제 ↔ 개발 과제 — 산출물 수준·완성도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1664208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517904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4224" y="1792224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64208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계약 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75104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M/M 기반 ↔ 모듈별 정액 — CUPIA 예산 확인 후 확정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71048" y="1664208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88336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2962656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2834640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착수 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145536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4월 착수 가능 여부 · 계약 일정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0056" y="2834640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688336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2962656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834640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데이터 접근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45536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신고서 샘플·학습/검증 데이터 범위와 익명화 수준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71048" y="2834640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과제 1·2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4133088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4005072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GPU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315968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vLLM 서빙용 개발/테스트/운영 GPU 확보 방안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0056" y="4005072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858768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64224" y="4133088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005072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시스템 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15968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OCR+vLLM 코드·프롬프트·모델 정보 공유 범위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71048" y="4005072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29200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3232" y="5303520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9888" y="5175504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EWACS 현황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9888" y="5486400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현행 문서 공유 · 접근 권한 · 담당자 지정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0056" y="5175504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과제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5029200"/>
            <a:ext cx="5440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64224" y="5303520"/>
            <a:ext cx="475488" cy="475488"/>
          </a:xfrm>
          <a:prstGeom prst="ellipse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175504"/>
            <a:ext cx="3520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A4E"/>
                </a:solidFill>
                <a:latin typeface="맑은 고딕"/>
                <a:ea typeface="맑은 고딕"/>
              </a:rPr>
              <a:t>유지보수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486400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과제 1 안정화 기간(8~12월) 방식과 비용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71048" y="5175504"/>
            <a:ext cx="822960" cy="274320"/>
          </a:xfrm>
          <a:prstGeom prst="round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850" b="1">
                <a:solidFill>
                  <a:srgbClr val="0C7BC0"/>
                </a:solidFill>
                <a:latin typeface="맑은 고딕"/>
                <a:ea typeface="맑은 고딕"/>
              </a:rPr>
              <a:t>과제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C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검증된 기술을 상품으로,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룰을 지능으로.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94760"/>
            <a:ext cx="1371600" cy="28575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(주)시커스랩  SeekersLab</a:t>
            </a:r>
          </a:p>
          <a:p>
            <a:pPr algn="l"/>
            <a:r>
              <a:rPr sz="1100" b="0">
                <a:solidFill>
                  <a:srgbClr val="9DB8D6"/>
                </a:solidFill>
                <a:latin typeface="맑은 고딕"/>
                <a:ea typeface="맑은 고딕"/>
              </a:rPr>
              <a:t>CUPIA AI 연구 과제 2026  ·  본 문서는 협의용 초안이며 계약 확정 전 내용이 변경될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