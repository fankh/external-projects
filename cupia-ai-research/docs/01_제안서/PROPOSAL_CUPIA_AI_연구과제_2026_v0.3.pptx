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11535" cy="285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6B5D"/>
                </a:solidFill>
                <a:latin typeface="맑은 고딕"/>
                <a:ea typeface="맑은 고딕"/>
              </a:rPr>
              <a:t>수행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2A2E35"/>
                </a:solidFill>
                <a:latin typeface="맑은 고딕"/>
                <a:ea typeface="맑은 고딕"/>
              </a:rPr>
              <a:t>CUPIA AI 연구 과제 2026</a:t>
            </a:r>
          </a:p>
          <a:p>
            <a:pPr algn="l"/>
            <a:r>
              <a:rPr sz="2000" b="0">
                <a:solidFill>
                  <a:srgbClr val="7A818C"/>
                </a:solidFill>
                <a:latin typeface="맑은 고딕"/>
                <a:ea typeface="맑은 고딕"/>
              </a:rPr>
              <a:t>e-PASS AI 모델 상품화 · EWACS 복합 AI Agent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926080" cy="19050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160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A2E35"/>
                </a:solidFill>
                <a:latin typeface="맑은 고딕"/>
                <a:ea typeface="맑은 고딕"/>
              </a:rPr>
              <a:t>(주)씨커스  Seekers Inc.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9704"/>
            <a:ext cx="7498079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811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수신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58114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전자통관국제협력재단(CUPIA)  AI연구개발본부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10328"/>
            <a:ext cx="7498079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017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근거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00176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CUPIA-AI-2026-SOW-001 (과업지시서 v3)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30952"/>
            <a:ext cx="7498079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22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4223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2026. 7  ·  초안 v0.3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51576"/>
            <a:ext cx="7498079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본 문서는 협의용 초안으로 계약 확정 전 내용이 변경될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사업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과업 구성 및 수행 규모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818C"/>
                </a:solidFill>
                <a:latin typeface="맑은 고딕"/>
                <a:ea typeface="맑은 고딕"/>
              </a:rPr>
              <a:t>과업명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8308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CUPIA AI 연구 과제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50292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58568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818C"/>
                </a:solidFill>
                <a:latin typeface="맑은 고딕"/>
                <a:ea typeface="맑은 고딕"/>
              </a:rPr>
              <a:t>과업 성격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25856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연구 과제 (공동 연구)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24328"/>
            <a:ext cx="50292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34056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818C"/>
                </a:solidFill>
                <a:latin typeface="맑은 고딕"/>
                <a:ea typeface="맑은 고딕"/>
              </a:rPr>
              <a:t>과업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34056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2026년 4월 ~ 12월 (9개월)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9816"/>
            <a:ext cx="50292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09544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818C"/>
                </a:solidFill>
                <a:latin typeface="맑은 고딕"/>
                <a:ea typeface="맑은 고딕"/>
              </a:rPr>
              <a:t>총 투입규모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209544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31 M/M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75304"/>
            <a:ext cx="50292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85032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818C"/>
                </a:solidFill>
                <a:latin typeface="맑은 고딕"/>
                <a:ea typeface="맑은 고딕"/>
              </a:rPr>
              <a:t>발주기관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685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전자통관국제협력재단(CUPIA) AI연구개발본부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50792"/>
            <a:ext cx="50292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818C"/>
                </a:solidFill>
                <a:latin typeface="맑은 고딕"/>
                <a:ea typeface="맑은 고딕"/>
              </a:rPr>
              <a:t>수행업체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16052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A2E35"/>
                </a:solidFill>
                <a:latin typeface="맑은 고딕"/>
                <a:ea typeface="맑은 고딕"/>
              </a:rPr>
              <a:t>(주)씨커스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26280"/>
            <a:ext cx="50292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783080"/>
            <a:ext cx="9525" cy="420624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783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6B5D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57400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E35"/>
                </a:solidFill>
                <a:latin typeface="맑은 고딕"/>
                <a:ea typeface="맑은 고딕"/>
              </a:rPr>
              <a:t>e-PASS AI 모델 상품화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44144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2026. 4 ~ 7월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·   9 M/M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34056"/>
            <a:ext cx="4983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OCR과 vLLM을 결합한 신고서 검증 시스템의 기술 검증, 프롬프트 개선, 성능 최적화, 배포 패키징을 수행하여 해외 세관 e-PASS에 배포 가능한 v1을 완성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57A1E"/>
                </a:solidFill>
                <a:latin typeface="맑은 고딕"/>
                <a:ea typeface="맑은 고딕"/>
              </a:rPr>
              <a:t>●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v1 런칭 — 2026년 7월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9776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5A7C"/>
                </a:solidFill>
                <a:latin typeface="맑은 고딕"/>
                <a:ea typeface="맑은 고딕"/>
              </a:rPr>
              <a:t>과제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251960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E35"/>
                </a:solidFill>
                <a:latin typeface="맑은 고딕"/>
                <a:ea typeface="맑은 고딕"/>
              </a:rPr>
              <a:t>EWACS 복합 AI Agent 구축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3600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2026. 4 ~ 12월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·   22 M/M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928616"/>
            <a:ext cx="4983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고정 임계치 룰 엔진 기반의 업무 모니터링 시스템을 동적 임계치 학습, 예측 알림, 자동 원인 분석, LLM 보고서 생성 기능을 갖춘 AI Agent 체계로 전환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71500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57A1E"/>
                </a:solidFill>
                <a:latin typeface="맑은 고딕"/>
                <a:ea typeface="맑은 고딕"/>
              </a:rPr>
              <a:t>●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운영 전환 — 2026년 12월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B6B5D"/>
                </a:solidFill>
                <a:latin typeface="맑은 고딕"/>
                <a:ea typeface="맑은 고딕"/>
              </a:rPr>
              <a:t>※ 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계약 형태(M/M 기반 또는 모듈별 정액)는 CUPIA 예산 확인 후 확정하며, 과제 1 안정화 기간(8~12월)의 유지보수는 별도 협의합니다.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사업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현행 시스템 진단과 과업의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57800" cy="19050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E35"/>
                </a:solidFill>
                <a:latin typeface="맑은 고딕"/>
                <a:ea typeface="맑은 고딕"/>
              </a:rPr>
              <a:t>e-PASS AI — PoC 완료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5257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검증 완료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앙상블 OCR, 좌표 임베딩, vLLM 조합으로 신고서와 상업서류의 교차검증 가능성을 확인 (차대번호 추출 10/10 성공)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보완 필요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성능 사양 기준 미정의, 프롬프트 버전 관리 부재, 배포 자동화 부재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PoC 확인 사항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vLLM 처리 능력이 속도와 정확도를 좌우하므로 서빙 최적화가 상용화의 핵심 과제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783080"/>
            <a:ext cx="5257800" cy="19050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38528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E35"/>
                </a:solidFill>
                <a:latin typeface="맑은 고딕"/>
                <a:ea typeface="맑은 고딕"/>
              </a:rPr>
              <a:t>EWACS — 룰 엔진 운영의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377440"/>
            <a:ext cx="5257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고정 임계치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시간대, 요일, 계절에 따른 업무량 변동을 반영하지 못해 오탐과 미탐이 발생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사후 대응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임계치 초과 후에 통보되어 병목 발생 후 담당자가 수동으로 원인을 분석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전환 방향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   데이터 파이프라인 기반의 예측, 진단, 보고, 추천 기능을 갖춘 AI Agent 구축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RAG Codex v2.0 측정 지표 (2025. 11 기준)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1091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30368"/>
            <a:ext cx="2545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6B5D"/>
                </a:solidFill>
                <a:latin typeface="맑은 고딕"/>
                <a:ea typeface="맑은 고딕"/>
              </a:rPr>
              <a:t>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97296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OCR 신뢰도 (앙상블 적용)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7963" y="5230368"/>
            <a:ext cx="2545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6B5D"/>
                </a:solidFill>
                <a:latin typeface="맑은 고딕"/>
                <a:ea typeface="맑은 고딕"/>
              </a:rPr>
              <a:t>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7963" y="5797296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텍스트 복구율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39363" y="5230368"/>
            <a:ext cx="9525" cy="77724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5847" y="5230368"/>
            <a:ext cx="2545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6B5D"/>
                </a:solidFill>
                <a:latin typeface="맑은 고딕"/>
                <a:ea typeface="맑은 고딕"/>
              </a:rPr>
              <a:t>15초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5797296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5페이지 문서 처리 시간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247" y="5230368"/>
            <a:ext cx="9525" cy="77724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731" y="5230368"/>
            <a:ext cx="25450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6B5D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731" y="5797296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온프레미스 · 폐쇄망 운영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131" y="5230368"/>
            <a:ext cx="9525" cy="77724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과제 1 추진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e-PASS AI 모델 상품화 — 2026년 4월 착수, 7월 v1 런칭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6B5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4월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4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E35"/>
                </a:solidFill>
                <a:latin typeface="맑은 고딕"/>
                <a:ea typeface="맑은 고딕"/>
              </a:rPr>
              <a:t>서비스 수준 진단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79776"/>
            <a:ext cx="2057400" cy="15875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07792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OCR 인식률, vLLM 정확도, 지연·처리량을 실측하고 최소/목표 사양을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2452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A818C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7A818C"/>
                </a:solidFill>
                <a:latin typeface="맑은 고딕"/>
                <a:ea typeface="맑은 고딕"/>
              </a:rPr>
              <a:t>진단 보고서 · 사양 정의서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5546" y="1920240"/>
            <a:ext cx="9525" cy="274320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3613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6B5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3613" y="2176272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4~5월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3613" y="2432304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E35"/>
                </a:solidFill>
                <a:latin typeface="맑은 고딕"/>
                <a:ea typeface="맑은 고딕"/>
              </a:rPr>
              <a:t>프롬프트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3613" y="2779776"/>
            <a:ext cx="2057400" cy="15875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3613" y="2907792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Hallucination 억제, 신고서 유형별 프롬프트 설계, 버전 관리 체계 수립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3613" y="422452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A818C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7A818C"/>
                </a:solidFill>
                <a:latin typeface="맑은 고딕"/>
                <a:ea typeface="맑은 고딕"/>
              </a:rPr>
              <a:t>개선 보고서 · 가이드라인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9080" y="1920240"/>
            <a:ext cx="9525" cy="274320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147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6B5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7147" y="2176272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5~6월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7147" y="2432304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E35"/>
                </a:solidFill>
                <a:latin typeface="맑은 고딕"/>
                <a:ea typeface="맑은 고딕"/>
              </a:rPr>
              <a:t>성능 최적화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7147" y="2779776"/>
            <a:ext cx="2057400" cy="15875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7147" y="2907792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배치 추론, 양자화 검토, Continuous Batching, 멀티 GPU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7147" y="422452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A818C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7A818C"/>
                </a:solidFill>
                <a:latin typeface="맑은 고딕"/>
                <a:ea typeface="맑은 고딕"/>
              </a:rPr>
              <a:t>성능 최적화 보고서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2614" y="1920240"/>
            <a:ext cx="9525" cy="274320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0681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6B5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0681" y="2176272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6월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0681" y="2432304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E35"/>
                </a:solidFill>
                <a:latin typeface="맑은 고딕"/>
                <a:ea typeface="맑은 고딕"/>
              </a:rPr>
              <a:t>시스템 패키징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80681" y="2779776"/>
            <a:ext cx="2057400" cy="15875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0681" y="2907792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REST API 서비스화, Docker/K8s 배포 자동화, 운영 문서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0681" y="422452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A818C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7A818C"/>
                </a:solidFill>
                <a:latin typeface="맑은 고딕"/>
                <a:ea typeface="맑은 고딕"/>
              </a:rPr>
              <a:t>배포 패키지 · 운영 매뉴얼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6148" y="1920240"/>
            <a:ext cx="9525" cy="274320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4215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57A1E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4215" y="2176272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7월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4215" y="2432304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E35"/>
                </a:solidFill>
                <a:latin typeface="맑은 고딕"/>
                <a:ea typeface="맑은 고딕"/>
              </a:rPr>
              <a:t>v1 런칭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94215" y="2779776"/>
            <a:ext cx="2057400" cy="15875"/>
          </a:xfrm>
          <a:prstGeom prst="rect">
            <a:avLst/>
          </a:prstGeom>
          <a:solidFill>
            <a:srgbClr val="B5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4215" y="2907792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통합·부하 테스트와 파일럿 실데이터 검증을 거쳐 릴리즈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4215" y="422452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A818C"/>
                </a:solidFill>
                <a:latin typeface="맑은 고딕"/>
                <a:ea typeface="맑은 고딕"/>
              </a:rPr>
              <a:t>산출물</a:t>
            </a:r>
          </a:p>
          <a:p>
            <a:pPr algn="l">
              <a:lnSpc>
                <a:spcPct val="120000"/>
              </a:lnSpc>
            </a:pPr>
            <a:r>
              <a:rPr sz="930" b="0">
                <a:solidFill>
                  <a:srgbClr val="7A818C"/>
                </a:solidFill>
                <a:latin typeface="맑은 고딕"/>
                <a:ea typeface="맑은 고딕"/>
              </a:rPr>
              <a:t>v1 릴리즈 · 사양 달성 보고서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28523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인수 기준 (과업지시서 10.2항)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최소 사양 충족을 검증 데이터로 입증  ·  프롬프트 개선 전후 비교 문서화  ·  API 정상 동작 및 Docker/K8s 배포 가능 상태  ·  운영 문서, API 명세, 프롬프트 가이드라인 완비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과제 1 기술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검증 대상 시스템(RAG Codex)의 계층 구조와 본 과업의 개선 지점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5D"/>
                </a:solidFill>
                <a:latin typeface="맑은 고딕"/>
                <a:ea typeface="맑은 고딕"/>
              </a:rPr>
              <a:t>UI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28800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OpenWebUI · Customs 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828800"/>
            <a:ext cx="1691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운영 콘솔, 검증 결과 조회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32304"/>
            <a:ext cx="786384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151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5D"/>
                </a:solidFill>
                <a:latin typeface="맑은 고딕"/>
                <a:ea typeface="맑은 고딕"/>
              </a:rP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15184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FastAPI Gateway · RAG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15184"/>
            <a:ext cx="1691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전자통관시스템과 REST/JSON 연계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18688"/>
            <a:ext cx="786384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015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5D"/>
                </a:solidFill>
                <a:latin typeface="맑은 고딕"/>
                <a:ea typeface="맑은 고딕"/>
              </a:rPr>
              <a:t>AI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01568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vLLM(GPT-OSS-120B) · Tesseract · PaddleOCR / PP-Structure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01568"/>
            <a:ext cx="1691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앙상블 OCR, 좌표 임베딩, 추론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05072"/>
            <a:ext cx="786384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8795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5D"/>
                </a:solidFill>
                <a:latin typeface="맑은 고딕"/>
                <a:ea typeface="맑은 고딕"/>
              </a:rPr>
              <a:t>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87952"/>
            <a:ext cx="4206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PostgreSQL · pgvector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187952"/>
            <a:ext cx="16916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Two-Track RAG 하이브리드 검색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91456"/>
            <a:ext cx="786384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95360" y="1828800"/>
            <a:ext cx="9525" cy="29260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182880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E35"/>
                </a:solidFill>
                <a:latin typeface="맑은 고딕"/>
                <a:ea typeface="맑은 고딕"/>
              </a:rPr>
              <a:t>본 과업의 개선 지점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240280"/>
            <a:ext cx="2743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00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00" b="1">
                <a:solidFill>
                  <a:srgbClr val="2A2E35"/>
                </a:solidFill>
                <a:latin typeface="맑은 고딕"/>
                <a:ea typeface="맑은 고딕"/>
              </a:rPr>
              <a:t>서빙</a:t>
            </a: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   배치 추론, KV Cache, Continuous Batching, 멀티 GPU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00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00" b="1">
                <a:solidFill>
                  <a:srgbClr val="2A2E35"/>
                </a:solidFill>
                <a:latin typeface="맑은 고딕"/>
                <a:ea typeface="맑은 고딕"/>
              </a:rPr>
              <a:t>정확도</a:t>
            </a: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   유형별 프롬프트, Few-shot/CoT 비교, 버전 관리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00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00" b="1">
                <a:solidFill>
                  <a:srgbClr val="2A2E35"/>
                </a:solidFill>
                <a:latin typeface="맑은 고딕"/>
                <a:ea typeface="맑은 고딕"/>
              </a:rPr>
              <a:t>배포</a:t>
            </a: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   Helm/Compose 자동화, GPU 노드 명세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00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00" b="1">
                <a:solidFill>
                  <a:srgbClr val="2A2E35"/>
                </a:solidFill>
                <a:latin typeface="맑은 고딕"/>
                <a:ea typeface="맑은 고딕"/>
              </a:rPr>
              <a:t>운영</a:t>
            </a: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   모니터링, 장애 대응, OpenAPI 명세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1324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운영 환경 제약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폐쇄망 온프레미스로 외부 API 호출이 불가하며 GPU는 H200/RTX 5090 기준입니다. 처리량은 vLLM 병렬 처리 능력이 상한이므로, 실시간 선별은 신고건수가 적은 국가에 적용하고 주력은 사후검증 단계로 설정합니다.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과제 2 추진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EWACS 모니터링 체계의 기능별 전환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A818C"/>
                </a:solidFill>
                <a:latin typeface="맑은 고딕"/>
                <a:ea typeface="맑은 고딕"/>
              </a:rPr>
              <a:t>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373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A818C"/>
                </a:solidFill>
                <a:latin typeface="맑은 고딕"/>
                <a:ea typeface="맑은 고딕"/>
              </a:rPr>
              <a:t>현재 — 룰 기반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445A7C"/>
                </a:solidFill>
                <a:latin typeface="맑은 고딕"/>
                <a:ea typeface="맑은 고딕"/>
              </a:rPr>
              <a:t>전환 후 — AI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29968"/>
            <a:ext cx="10911535" cy="12700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임계치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49424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고정 임계치, 초과 시 단순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4942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49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시간대·요일·계절 패턴을 학습하는 동적 임계치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96896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7432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초과 후 사후 통보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432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743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추세 예측에 따른 사전 경고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09067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369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원인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236976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담당자 수동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369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369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병목 업무 자동 진단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584448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307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보고서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73075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템플릿 기반 수동 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7307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7307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LLM 자연어 요약 보고서 자동 생성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78224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224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22452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수동 판단 및 조치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224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2245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인력 재배치, 업무 분배 추천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572000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수행 단계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193792"/>
            <a:ext cx="1681429" cy="15875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303520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요건 설계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596128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4~5월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58669" y="5193792"/>
            <a:ext cx="1681429" cy="15875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8669" y="5303520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아키텍처 설계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8669" y="5596128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5월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7258" y="5193792"/>
            <a:ext cx="1681429" cy="15875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7258" y="5303520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모듈 개발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7258" y="5596128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6~8월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5847" y="5193792"/>
            <a:ext cx="1681429" cy="15875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5847" y="5303520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알림 모듈화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5847" y="5596128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8~9월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14436" y="5193792"/>
            <a:ext cx="1681429" cy="15875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14436" y="5303520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통합 테스트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4436" y="5596128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9~10월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33025" y="5193792"/>
            <a:ext cx="1681429" cy="15875"/>
          </a:xfrm>
          <a:prstGeom prst="rect">
            <a:avLst/>
          </a:prstGeom>
          <a:solidFill>
            <a:srgbClr val="B5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3025" y="5303520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안정화·운영 전환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3025" y="5596128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18C"/>
                </a:solidFill>
                <a:latin typeface="맑은 고딕"/>
                <a:ea typeface="맑은 고딕"/>
              </a:rPr>
              <a:t>11~12월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과제 2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데이터 수집부터 출력 채널까지 5개 계층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A2E35"/>
                </a:solidFill>
                <a:latin typeface="맑은 고딕"/>
                <a:ea typeface="맑은 고딕"/>
              </a:rPr>
              <a:t>데이터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84831"/>
            <a:ext cx="210312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31136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EWACS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52928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Customs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Work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96512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HR / Schedule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18304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External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63240"/>
            <a:ext cx="98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45A7C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2183" y="17830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A2E35"/>
                </a:solidFill>
                <a:latin typeface="맑은 고딕"/>
                <a:ea typeface="맑은 고딕"/>
              </a:rPr>
              <a:t>Data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42183" y="2084831"/>
            <a:ext cx="210312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42183" y="2231136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ETL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2183" y="2852928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Streaming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42183" y="3474720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Feature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3591" y="3063240"/>
            <a:ext cx="98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45A7C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4287" y="17830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A2E35"/>
                </a:solidFill>
                <a:latin typeface="맑은 고딕"/>
                <a:ea typeface="맑은 고딕"/>
              </a:rPr>
              <a:t>AI Agent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4287" y="2084831"/>
            <a:ext cx="2103120" cy="15875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44287" y="2231136"/>
            <a:ext cx="2103120" cy="512064"/>
          </a:xfrm>
          <a:prstGeom prst="rect">
            <a:avLst/>
          </a:prstGeom>
          <a:solidFill>
            <a:srgbClr val="F6F7F8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1">
                <a:solidFill>
                  <a:srgbClr val="2A2E35"/>
                </a:solidFill>
                <a:latin typeface="맑은 고딕"/>
                <a:ea typeface="맑은 고딕"/>
              </a:rPr>
              <a:t>Prediction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44287" y="2852928"/>
            <a:ext cx="2103120" cy="512064"/>
          </a:xfrm>
          <a:prstGeom prst="rect">
            <a:avLst/>
          </a:prstGeom>
          <a:solidFill>
            <a:srgbClr val="F6F7F8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1">
                <a:solidFill>
                  <a:srgbClr val="2A2E35"/>
                </a:solidFill>
                <a:latin typeface="맑은 고딕"/>
                <a:ea typeface="맑은 고딕"/>
              </a:rPr>
              <a:t>Dynamic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4287" y="3474720"/>
            <a:ext cx="2103120" cy="512064"/>
          </a:xfrm>
          <a:prstGeom prst="rect">
            <a:avLst/>
          </a:prstGeom>
          <a:solidFill>
            <a:srgbClr val="F6F7F8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1">
                <a:solidFill>
                  <a:srgbClr val="2A2E35"/>
                </a:solidFill>
                <a:latin typeface="맑은 고딕"/>
                <a:ea typeface="맑은 고딕"/>
              </a:rPr>
              <a:t>Root Cause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4287" y="4096512"/>
            <a:ext cx="2103120" cy="512064"/>
          </a:xfrm>
          <a:prstGeom prst="rect">
            <a:avLst/>
          </a:prstGeom>
          <a:solidFill>
            <a:srgbClr val="F6F7F8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1">
                <a:solidFill>
                  <a:srgbClr val="2A2E35"/>
                </a:solidFill>
                <a:latin typeface="맑은 고딕"/>
                <a:ea typeface="맑은 고딕"/>
              </a:rPr>
              <a:t>LLM Insight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5695" y="3063240"/>
            <a:ext cx="98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45A7C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6391" y="17830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A2E35"/>
                </a:solidFill>
                <a:latin typeface="맑은 고딕"/>
                <a:ea typeface="맑은 고딕"/>
              </a:rPr>
              <a:t>실행 계층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46391" y="2084831"/>
            <a:ext cx="210312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46391" y="2231136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Alert Module (독립 박스화)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6391" y="2852928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Response Recommendation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6391" y="3474720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Agent Orchestrator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7799" y="3063240"/>
            <a:ext cx="98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45A7C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17830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A2E35"/>
                </a:solidFill>
                <a:latin typeface="맑은 고딕"/>
                <a:ea typeface="맑은 고딕"/>
              </a:rPr>
              <a:t>연동·출력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48495" y="2084831"/>
            <a:ext cx="210312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48495" y="2231136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REST API · Event Bus · Webhook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8495" y="2852928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Dashboard / Alert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48495" y="3474720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Insight Report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48495" y="4096512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80" b="0">
                <a:solidFill>
                  <a:srgbClr val="2A2E35"/>
                </a:solidFill>
                <a:latin typeface="맑은 고딕"/>
                <a:ea typeface="맑은 고딕"/>
              </a:rPr>
              <a:t>Admin Console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614416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알림 모듈 표준화   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임계치·예측 알림 모듈은 독립 배포 가능한 형태로 패키징하고 인터페이스를 표준화하여 CUPIA의 타 시스템에서 재사용할 수 있도록 합니다 (8~9월).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추진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2026년 4월 ~ 12월 · 중간 검수 7월, 10월 · 최종 검수 12월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4월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192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5월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745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6월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0298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7월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8851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8월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7403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9월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5956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10월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4509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11월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3062" y="1755648"/>
            <a:ext cx="968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12월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048256"/>
            <a:ext cx="8716975" cy="12700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128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542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서비스 수준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80720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4640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03192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71745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298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8851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77403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5956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14509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83062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51615" y="24963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71216" y="2551176"/>
            <a:ext cx="895400" cy="201168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8620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프롬프트 개선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12724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34640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03192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71745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40298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08851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77403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45956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14509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83062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51615" y="28163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71216" y="2871216"/>
            <a:ext cx="1863953" cy="201168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31821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성능 최적화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344728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34640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03192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71745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40298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08851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77403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45956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14509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583062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551615" y="31363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39768" y="3191256"/>
            <a:ext cx="1863953" cy="201168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35021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시스템 패키징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4640" y="376732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34640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03192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71745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40298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708851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677403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45956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14509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83062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551615" y="34564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808321" y="3511296"/>
            <a:ext cx="895400" cy="201168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" y="38221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v1 런칭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34640" y="408736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834640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03192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71745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40298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08851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77403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645956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14509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83062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551615" y="37764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776874" y="3831336"/>
            <a:ext cx="895400" cy="201168"/>
          </a:xfrm>
          <a:prstGeom prst="rect">
            <a:avLst/>
          </a:prstGeom>
          <a:solidFill>
            <a:srgbClr val="B5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41330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2E35"/>
                </a:solidFill>
                <a:latin typeface="맑은 고딕"/>
                <a:ea typeface="맑은 고딕"/>
              </a:rPr>
              <a:t>과제 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44622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요건·아키텍처 설계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34640" y="472744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34640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03192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71745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40298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08851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677403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645956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14509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83062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551615" y="441655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871216" y="4471416"/>
            <a:ext cx="1863953" cy="201168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2960" y="47823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모듈 개발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34640" y="504748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834640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803192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771745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740298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08851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677403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645956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14509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583062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551615" y="473659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808321" y="4791456"/>
            <a:ext cx="2832506" cy="201168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2960" y="51023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알림 모듈화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834640" y="536752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834640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803192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771745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740298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708851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677403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45956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614509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583062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551615" y="505663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745427" y="5111496"/>
            <a:ext cx="1863953" cy="201168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22960" y="54223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통합 테스트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834640" y="568756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834640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803192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771745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740298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708851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677403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645956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614509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583062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551615" y="537667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713979" y="5431536"/>
            <a:ext cx="1863953" cy="201168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22960" y="57424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안정화·운영 전환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834640" y="6007608"/>
            <a:ext cx="871697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834640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803192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771745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740298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708851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677403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645956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14509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583062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551615" y="5696712"/>
            <a:ext cx="9525" cy="32918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651085" y="5751576"/>
            <a:ext cx="1863953" cy="201168"/>
          </a:xfrm>
          <a:prstGeom prst="rect">
            <a:avLst/>
          </a:prstGeom>
          <a:solidFill>
            <a:srgbClr val="B5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보고 체계   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주간 진행 보고, 월 1회 정기 회의  ·  착수 보고 4월, 중간 보고 7월, 최종 보고 12월  ·  최종 검수 후 하자보수 12개월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투입 인력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총 31 M/M · 인력 변경 시 사전 협의 후 동등 이상 자격으로 교체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57800" cy="19050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E35"/>
                </a:solidFill>
                <a:latin typeface="맑은 고딕"/>
                <a:ea typeface="맑은 고딕"/>
              </a:rPr>
              <a:t>과제 1  (9 M/M)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등급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투입 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M/M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15184"/>
            <a:ext cx="5257800" cy="12700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AI 엔지니어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특급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4~7월 (4개월)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54096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백엔드 개발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고급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5~7월 (3개월)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PM /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고급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6~7월 (2개월)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895344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867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6B5D"/>
                </a:solidFill>
                <a:latin typeface="맑은 고딕"/>
                <a:ea typeface="맑은 고딕"/>
              </a:rPr>
              <a:t>합계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98678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6B5D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783080"/>
            <a:ext cx="5257800" cy="19050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92024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E35"/>
                </a:solidFill>
                <a:latin typeface="맑은 고딕"/>
                <a:ea typeface="맑은 고딕"/>
              </a:rPr>
              <a:t>과제 2  (22 M/M)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등급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투입 기간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233172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7A818C"/>
                </a:solidFill>
                <a:latin typeface="맑은 고딕"/>
                <a:ea typeface="맑은 고딕"/>
              </a:rPr>
              <a:t>M/M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615184"/>
            <a:ext cx="5257800" cy="12700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AI 엔지니어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특급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4~10월 (7개월)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27249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054096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백엔드 개발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고급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5~10월 (6개월)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31455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474720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프론트엔드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중급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7~10월 (4개월)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3566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895344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398678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PM / QA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98678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고급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398678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9~11월 (3개월)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398678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315968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40740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안정화 지원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40740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고급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0" y="440740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11~12월 (2개월)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440740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4736592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48280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5A7C"/>
                </a:solidFill>
                <a:latin typeface="맑은 고딕"/>
                <a:ea typeface="맑은 고딕"/>
              </a:rPr>
              <a:t>합계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482803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5A7C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산출물 및 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단계별 산출물 제출 후 10영업일 이내 검수, 보완 시 5영업일 이내 재검수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57800" cy="19050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E35"/>
                </a:solidFill>
                <a:latin typeface="맑은 고딕"/>
                <a:ea typeface="맑은 고딕"/>
              </a:rPr>
              <a:t>과제 1 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257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진단 보고서, 상품화 요건 정의서 (최소/목표 사양)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프롬프트 개선 보고서 (전후 비교), 프롬프트 가이드라인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성능 최적화 보고서 (병목 분석, 사양 달성 현황)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배포 패키지, API 문서, 운영 매뉴얼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v1 릴리즈 노트, 테스트 결과, 사양 달성 보고서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783080"/>
            <a:ext cx="5257800" cy="19050"/>
          </a:xfrm>
          <a:prstGeom prst="rect">
            <a:avLst/>
          </a:prstGeom>
          <a:solidFill>
            <a:srgbClr val="44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2024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E35"/>
                </a:solidFill>
                <a:latin typeface="맑은 고딕"/>
                <a:ea typeface="맑은 고딕"/>
              </a:rPr>
              <a:t>과제 2 산출물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331720"/>
            <a:ext cx="5257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요건 정의서, 시스템 설계서, 파이프라인·인터페이스 정의서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개발 모듈 (소스코드, 단위 테스트 결과)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알림 모듈 (독립 배포 패키지, 표준 인터페이스)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통합 테스트 결과 보고서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0B6B5D"/>
                </a:solidFill>
                <a:latin typeface="맑은 고딕"/>
                <a:ea typeface="맑은 고딕"/>
              </a:rPr>
              <a:t>—  </a:t>
            </a:r>
            <a:r>
              <a:rPr sz="1050" b="0">
                <a:solidFill>
                  <a:srgbClr val="2A2E35"/>
                </a:solidFill>
                <a:latin typeface="맑은 고딕"/>
                <a:ea typeface="맑은 고딕"/>
              </a:rPr>
              <a:t>운영 가이드, 교육 자료, 인수인계 문서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18C"/>
                </a:solidFill>
                <a:latin typeface="맑은 고딕"/>
                <a:ea typeface="맑은 고딕"/>
              </a:rPr>
              <a:t>검수 절차 (과업지시서 10항)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산출물 제출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75488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검수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754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발주자 검수 (10영업일)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754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보완 시 재검수 (5영업일)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54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7A1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75488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인수 확정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023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349240"/>
            <a:ext cx="10911535" cy="9144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공통 산출물   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착수·중간·최종 보고서, 주간/월간 진행 보고, 소스코드 일체 (Git)</a:t>
            </a:r>
          </a:p>
          <a:p>
            <a:pPr algn="l"/>
            <a:r>
              <a:rPr sz="1050" b="1">
                <a:solidFill>
                  <a:srgbClr val="2A2E35"/>
                </a:solidFill>
                <a:latin typeface="맑은 고딕"/>
                <a:ea typeface="맑은 고딕"/>
              </a:rPr>
              <a:t>지식재산권   </a:t>
            </a:r>
            <a:r>
              <a:rPr sz="1050" b="0">
                <a:solidFill>
                  <a:srgbClr val="7A818C"/>
                </a:solidFill>
                <a:latin typeface="맑은 고딕"/>
                <a:ea typeface="맑은 고딕"/>
              </a:rPr>
              <a:t>산출물의 지식재산권은 공동 소유하며 범위는 별도 협의합니다. 수행사 기존 기술은 수행사에 귀속되며, 산출물에 포함 시 발주자에게 사용 라이선스를 부여합니다.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5D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8686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E35"/>
                </a:solidFill>
                <a:latin typeface="맑은 고딕"/>
                <a:ea typeface="맑은 고딕"/>
              </a:rPr>
              <a:t>착수 전 협의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과업지시서 별첨 — 착수 회의에서 합의 후 착수 보고서에 반영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5875"/>
          </a:xfrm>
          <a:prstGeom prst="rect">
            <a:avLst/>
          </a:prstGeom>
          <a:solidFill>
            <a:srgbClr val="2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(주)씨커스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18C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과제 성격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84708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39696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연구 과제와 개발 과제 중 산출물 수준과 완성도 기준 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24912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810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계약 형태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4472" y="184708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139696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M/M 기반 또는 모듈별 정액 — CUPIA 예산 확인 후 확정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2724912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9443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착수 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962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255264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4월 착수 가능 여부와 계약 일정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40480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926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29443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데이터 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2962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과제 1·2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255264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신고서 샘플과 학습/검증 데이터의 제공 범위, 익명화 수준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3840480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416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0599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GPU 인프라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078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70832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vLLM 서빙용 개발/테스트/운영 GPU 확보 방안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56048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40416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40599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시스템 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34472" y="4078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4370832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OCR+vLLM 코드, 프롬프트, 모델 정보의 공유 범위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4956048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5721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1755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EWACS 현황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519379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과제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548640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현행 시스템 문서 공유, 접근 권한, 담당자 지정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071616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515721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6B5D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51755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E35"/>
                </a:solidFill>
                <a:latin typeface="맑은 고딕"/>
                <a:ea typeface="맑은 고딕"/>
              </a:rPr>
              <a:t>유지보수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472" y="519379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7A818C"/>
                </a:solidFill>
                <a:latin typeface="맑은 고딕"/>
                <a:ea typeface="맑은 고딕"/>
              </a:rPr>
              <a:t>과제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6872" y="548640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과제 1 안정화 기간(8~12월)의 지원 방식과 비용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6071616"/>
            <a:ext cx="5257800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2926080" cy="19050"/>
          </a:xfrm>
          <a:prstGeom prst="rect">
            <a:avLst/>
          </a:prstGeom>
          <a:solidFill>
            <a:srgbClr val="0B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A2E35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A2E35"/>
                </a:solidFill>
                <a:latin typeface="맑은 고딕"/>
                <a:ea typeface="맑은 고딕"/>
              </a:rPr>
              <a:t>(주)씨커스  Seekers Inc.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7A818C"/>
                </a:solidFill>
                <a:latin typeface="맑은 고딕"/>
                <a:ea typeface="맑은 고딕"/>
              </a:rPr>
              <a:t>CUPIA AI 연구 과제 2026 수행 제안서  ·  초안 v0.3  ·  2026. 7</a:t>
            </a:r>
          </a:p>
          <a:p>
            <a:pPr algn="l"/>
            <a:r>
              <a:rPr sz="1000" b="0">
                <a:solidFill>
                  <a:srgbClr val="7A818C"/>
                </a:solidFill>
                <a:latin typeface="맑은 고딕"/>
                <a:ea typeface="맑은 고딕"/>
              </a:rPr>
              <a:t>본 문서는 협의용 초안으로 계약 확정 전 내용이 변경될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09360"/>
            <a:ext cx="10911535" cy="9525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