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A1A40"/>
                </a:solidFill>
              </a:defRPr>
            </a:pPr>
            <a:r>
              <a:t>CUPIA AI 연구 과제 2026 제안서 (초안 v0.1)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e-PASS AI 모델 상품화 + EWACS 복합 AI Agent 구축</a:t>
            </a:r>
          </a:p>
          <a:p>
            <a:r>
              <a:t>(주)시커스랩 SeekersLab  |  2026.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1A40"/>
                </a:solidFill>
              </a:defRPr>
            </a:pPr>
            <a:r>
              <a:t>사업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1A1A40"/>
                </a:solidFill>
              </a:defRPr>
            </a:pPr>
            <a:r>
              <a:t>과업명</a:t>
            </a:r>
          </a:p>
          <a:p>
            <a:pPr lvl="1">
              <a:defRPr sz="1600"/>
            </a:pPr>
            <a:r>
              <a:t>CUPIA AI 연구 과제 2026 (e-PASS AI 상품화 + EWACS AI Agent 구축)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기간 / 규모</a:t>
            </a:r>
          </a:p>
          <a:p>
            <a:pPr lvl="1">
              <a:defRPr sz="1600"/>
            </a:pPr>
            <a:r>
              <a:t>2026년 4월 ~ 12월 (9개월), 총 31 M/M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구성</a:t>
            </a:r>
          </a:p>
          <a:p>
            <a:pPr lvl="1">
              <a:defRPr sz="1600"/>
            </a:pPr>
            <a:r>
              <a:t>과제 1: e-PASS AI 모델 상품화 — OCR+vLLM 신고서 검증 v1 (4~7월, 9 M/M)</a:t>
            </a:r>
          </a:p>
          <a:p>
            <a:pPr lvl="1">
              <a:defRPr sz="1600"/>
            </a:pPr>
            <a:r>
              <a:t>과제 2: EWACS 복합 AI Agent 구축 — 룰 기반 → AI Agent 전환 (4~12월, 22 M/M)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1A40"/>
                </a:solidFill>
              </a:defRPr>
            </a:pPr>
            <a:r>
              <a:t>사업 이해 및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1A1A40"/>
                </a:solidFill>
              </a:defRPr>
            </a:pPr>
            <a:r>
              <a:t>e-PASS AI (RAG Codex v2.0, CUPIA PoC 완료)</a:t>
            </a:r>
          </a:p>
          <a:p>
            <a:pPr lvl="1">
              <a:defRPr sz="1600"/>
            </a:pPr>
            <a:r>
              <a:t>신고서 ↔ 상업서류(Invoice·B/L·AWB·CO) 교차검증 — 5~10% 샘플링 → 100% 전수 사전심사</a:t>
            </a:r>
          </a:p>
          <a:p>
            <a:pPr lvl="1">
              <a:defRPr sz="1600"/>
            </a:pPr>
            <a:r>
              <a:t>앙상블 OCR(Tesseract+Paddle) + PP-Structure 좌표 임베딩 + vLLM(GPT-OSS-120B), 100% 온프레미스</a:t>
            </a:r>
          </a:p>
          <a:p>
            <a:pPr lvl="1">
              <a:defRPr sz="1600"/>
            </a:pPr>
            <a:r>
              <a:t>PoC 판단: 사후검증 단계 충분히 활용 가능 — 상용화 위해 성능·프롬프트·패키징 고도화 필요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EWACS</a:t>
            </a:r>
          </a:p>
          <a:p>
            <a:pPr lvl="1">
              <a:defRPr sz="1600"/>
            </a:pPr>
            <a:r>
              <a:t>고정 임계치 룰 엔진의 한계: 사후 알림, 수동 원인 분석, 템플릿 보고서</a:t>
            </a:r>
          </a:p>
          <a:p>
            <a:pPr lvl="1">
              <a:defRPr sz="1600"/>
            </a:pPr>
            <a:r>
              <a:t>SeekersLab의 AI Agent 전문성으로 예측·자율 진단형 지능형 모니터링 전환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1A40"/>
                </a:solidFill>
              </a:defRPr>
            </a:pPr>
            <a:r>
              <a:t>과제 1 추진 방안 — e-PASS AI 모델 상품화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1A1A40"/>
                </a:solidFill>
              </a:defRPr>
            </a:pPr>
            <a:r>
              <a:t>1) 서비스 수준 진단·요건 도출 (4월)</a:t>
            </a:r>
          </a:p>
          <a:p>
            <a:pPr lvl="1">
              <a:defRPr sz="1600"/>
            </a:pPr>
            <a:r>
              <a:t>OCR 인식률·vLLM 정확도·Latency/Throughput 측정 → 최소/목표 사양 정의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2) 프롬프트 엔지니어링 고도화 (4~5월)</a:t>
            </a:r>
          </a:p>
          <a:p>
            <a:pPr lvl="1">
              <a:defRPr sz="1600"/>
            </a:pPr>
            <a:r>
              <a:t>Hallucination 억제, Few-shot/CoT, 신고서 유형별 프롬프트, 버전 관리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3) 파이프라인 성능 최적화 (5~6월)</a:t>
            </a:r>
          </a:p>
          <a:p>
            <a:pPr lvl="1">
              <a:defRPr sz="1600"/>
            </a:pPr>
            <a:r>
              <a:t>배치 추론, 양자화 검토, Continuous Batching, 멀티 GPU 구성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4) 패키징·v1 런칭 (6~7월)</a:t>
            </a:r>
          </a:p>
          <a:p>
            <a:pPr lvl="1">
              <a:defRPr sz="1600"/>
            </a:pPr>
            <a:r>
              <a:t>REST API, Docker/K8s(Helm), 운영 문서 → 해외 세관 e-PASS 배포 가능 v1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1A40"/>
                </a:solidFill>
              </a:defRPr>
            </a:pPr>
            <a:r>
              <a:t>과제 2 추진 방안 — EWACS 복합 AI Agent (Before → After)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1A1A40"/>
                </a:solidFill>
              </a:defRPr>
            </a:pPr>
            <a:r>
              <a:t>임계치: 고정 임계치 단순 알림 → 시간대/요일/계절 자동 학습 동적 임계치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알림: 초과 후 사후 통보 → 추세 예측 기반 사전 경고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원인 분석: 담당자 수동 확인 → 병목 업무 AI 자동 진단(RCA)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보고서: 템플릿 수동 작성 → LLM 자연어 인사이트 보고서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대응: 수동 판단 → 인력 재배치·업무 분배 자동 추천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아키텍처</a:t>
            </a:r>
          </a:p>
          <a:p>
            <a:pPr lvl="1">
              <a:defRPr sz="1600"/>
            </a:pPr>
            <a:r>
              <a:t>Data Pipeline → AI Agent Core → Alert/Recommendation → Orchestrator → Integration Layer(REST/Event Bus/Webhook)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1A40"/>
                </a:solidFill>
              </a:defRPr>
            </a:pPr>
            <a:r>
              <a:t>추진 일정 및 마일스톤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1A1A40"/>
                </a:solidFill>
              </a:defRPr>
            </a:pPr>
            <a:r>
              <a:t>과제 1 (4~7월)</a:t>
            </a:r>
          </a:p>
          <a:p>
            <a:pPr lvl="1">
              <a:defRPr sz="1600"/>
            </a:pPr>
            <a:r>
              <a:t>진단(4) → 프롬프트(4~5) → 최적화(5~6) → 패키징(6) → ★ v1 런칭(7월)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과제 2 (4~12월)</a:t>
            </a:r>
          </a:p>
          <a:p>
            <a:pPr lvl="1">
              <a:defRPr sz="1600"/>
            </a:pPr>
            <a:r>
              <a:t>요건(4~5) → 설계(5) → 모듈 개발(6~8) → 알림 모듈화(8~9) → 통합 테스트(9~10) → ★ 운영 전환(11~12월)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보고 체계</a:t>
            </a:r>
          </a:p>
          <a:p>
            <a:pPr lvl="1">
              <a:defRPr sz="1600"/>
            </a:pPr>
            <a:r>
              <a:t>착수 보고(4월) / 중간 보고(7월, v1 런칭) / 최종 보고(12월) / 주간·월간 보고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1A40"/>
                </a:solidFill>
              </a:defRPr>
            </a:pPr>
            <a:r>
              <a:t>투입 인력 (총 31 M/M)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1A1A40"/>
                </a:solidFill>
              </a:defRPr>
            </a:pPr>
            <a:r>
              <a:t>과제 1 — 9 M/M</a:t>
            </a:r>
          </a:p>
          <a:p>
            <a:pPr lvl="1">
              <a:defRPr sz="1600"/>
            </a:pPr>
            <a:r>
              <a:t>AI 엔지니어(특급) 4 M/M, 백엔드(고급) 3 M/M, PM/QA(고급) 2 M/M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과제 2 — 22 M/M</a:t>
            </a:r>
          </a:p>
          <a:p>
            <a:pPr lvl="1">
              <a:defRPr sz="1600"/>
            </a:pPr>
            <a:r>
              <a:t>AI 엔지니어(특급) 7 M/M, 백엔드(고급) 6 M/M, 프론트엔드(중급) 4 M/M</a:t>
            </a:r>
          </a:p>
          <a:p>
            <a:pPr lvl="1">
              <a:defRPr sz="1600"/>
            </a:pPr>
            <a:r>
              <a:t>PM/QA(고급) 3 M/M, 안정화 지원(고급) 2 M/M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인력 변경 시 발주자 사전 협의, 동등 이상 자격으로 교체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1A40"/>
                </a:solidFill>
              </a:defRPr>
            </a:pPr>
            <a:r>
              <a:t>산출물 및 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1A1A40"/>
                </a:solidFill>
              </a:defRPr>
            </a:pPr>
            <a:r>
              <a:t>과제 1: 진단 보고서, 프롬프트 가이드라인, 성능 최적화 보고서, 배포 패키지, v1 릴리즈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과제 2: 요건 정의서, 설계서, 개발 모듈, 알림 모듈, 테스트 결과, 운영 가이드·교육 자료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공통: 착수/중간/최종 보고서, 주간·월간 보고, 소스코드 일체(Git)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검수: 요청 후 10영업일 내 검수, 보완 5영업일 / 중간 검수 7월·10월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하자보수 12개월 (긴급 4시간·일반 3영업일 내 착수)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1A40"/>
                </a:solidFill>
              </a:defRPr>
            </a:pPr>
            <a:r>
              <a:t>착수 전 협의 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1A1A40"/>
                </a:solidFill>
              </a:defRPr>
            </a:pPr>
            <a:r>
              <a:t>과제 성격: 연구 과제 vs 개발 과제 — 산출물 완성도 기준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계약 형태: M/M 기반 vs 모듈별 정액 (CUPIA 예산 확인 후 확정)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착수 시점: 4월 착수 가능 여부, 계약 일정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데이터·인프라: 샘플 데이터 범위·익명화 수준, GPU 자원 확보 방안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정보 공유: OCR+vLLM 코드·프롬프트 공유 범위, EWACS 현행 문서·접근 권한</a:t>
            </a:r>
          </a:p>
          <a:p>
            <a:pPr>
              <a:defRPr sz="2000" b="1">
                <a:solidFill>
                  <a:srgbClr val="1A1A40"/>
                </a:solidFill>
              </a:defRPr>
            </a:pPr>
            <a:r>
              <a:t>유지보수: 과제 1 안정화 기간(8~12월) 방식·비용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